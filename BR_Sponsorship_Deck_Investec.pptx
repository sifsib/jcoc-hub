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822960" y="1371600"/>
            <a:ext cx="10058400" cy="365760"/>
          </a:xfrm>
          <a:prstGeom prst="rect">
            <a:avLst/>
          </a:prstGeom>
          <a:noFill/>
          <a:ln/>
        </p:spPr>
        <p:txBody>
          <a:bodyPr wrap="square" lIns="0" tIns="0" rIns="0" bIns="0" rtlCol="0" anchor="ctr"/>
          <a:lstStyle/>
          <a:p>
            <a:pPr indent="0" marL="0">
              <a:buNone/>
            </a:pPr>
            <a:r>
              <a:rPr lang="en-US" sz="1400" b="1" spc="500" kern="0" dirty="0">
                <a:solidFill>
                  <a:srgbClr val="C9922A"/>
                </a:solidFill>
                <a:latin typeface="Calibri" pitchFamily="34" charset="0"/>
                <a:ea typeface="Calibri" pitchFamily="34" charset="-122"/>
                <a:cs typeface="Calibri" pitchFamily="34" charset="-120"/>
              </a:rPr>
              <a:t>SPONSORSHIP PROPOSAL</a:t>
            </a:r>
            <a:endParaRPr lang="en-US" sz="1400" dirty="0"/>
          </a:p>
        </p:txBody>
      </p:sp>
      <p:sp>
        <p:nvSpPr>
          <p:cNvPr id="3" name="Text 1"/>
          <p:cNvSpPr/>
          <p:nvPr/>
        </p:nvSpPr>
        <p:spPr>
          <a:xfrm>
            <a:off x="777240" y="1828800"/>
            <a:ext cx="10607040" cy="1737360"/>
          </a:xfrm>
          <a:prstGeom prst="rect">
            <a:avLst/>
          </a:prstGeom>
          <a:noFill/>
          <a:ln/>
        </p:spPr>
        <p:txBody>
          <a:bodyPr wrap="square" lIns="0" tIns="0" rIns="0" bIns="0" rtlCol="0" anchor="ctr"/>
          <a:lstStyle/>
          <a:p>
            <a:pPr indent="0" marL="0">
              <a:lnSpc>
                <a:spcPts val="5000"/>
              </a:lnSpc>
              <a:buNone/>
            </a:pPr>
            <a:r>
              <a:rPr lang="en-US" sz="4800" b="1" dirty="0">
                <a:solidFill>
                  <a:srgbClr val="FFFFFF"/>
                </a:solidFill>
                <a:latin typeface="Cambria" pitchFamily="34" charset="0"/>
                <a:ea typeface="Cambria" pitchFamily="34" charset="-122"/>
                <a:cs typeface="Cambria" pitchFamily="34" charset="-120"/>
              </a:rPr>
              <a:t>Building Resilience</a:t>
            </a:r>
            <a:endParaRPr lang="en-US" sz="4800" dirty="0"/>
          </a:p>
          <a:p>
            <a:pPr indent="0" marL="0">
              <a:lnSpc>
                <a:spcPts val="5000"/>
              </a:lnSpc>
              <a:buNone/>
            </a:pPr>
            <a:r>
              <a:rPr lang="en-US" sz="4800" b="1" dirty="0">
                <a:solidFill>
                  <a:srgbClr val="FFFFFF"/>
                </a:solidFill>
                <a:latin typeface="Cambria" pitchFamily="34" charset="0"/>
                <a:ea typeface="Cambria" pitchFamily="34" charset="-122"/>
                <a:cs typeface="Cambria" pitchFamily="34" charset="-120"/>
              </a:rPr>
              <a:t>Annual Conference 2026</a:t>
            </a:r>
            <a:endParaRPr lang="en-US" sz="4800" dirty="0"/>
          </a:p>
        </p:txBody>
      </p:sp>
      <p:sp>
        <p:nvSpPr>
          <p:cNvPr id="4" name="Text 2"/>
          <p:cNvSpPr/>
          <p:nvPr/>
        </p:nvSpPr>
        <p:spPr>
          <a:xfrm>
            <a:off x="822960" y="3611880"/>
            <a:ext cx="10058400" cy="457200"/>
          </a:xfrm>
          <a:prstGeom prst="rect">
            <a:avLst/>
          </a:prstGeom>
          <a:noFill/>
          <a:ln/>
        </p:spPr>
        <p:txBody>
          <a:bodyPr wrap="square" lIns="0" tIns="0" rIns="0" bIns="0" rtlCol="0" anchor="ctr"/>
          <a:lstStyle/>
          <a:p>
            <a:pPr indent="0" marL="0">
              <a:buNone/>
            </a:pPr>
            <a:r>
              <a:rPr lang="en-US" sz="2200" dirty="0">
                <a:solidFill>
                  <a:srgbClr val="F4F1EA"/>
                </a:solidFill>
                <a:latin typeface="Cambria" pitchFamily="34" charset="0"/>
                <a:ea typeface="Cambria" pitchFamily="34" charset="-122"/>
                <a:cs typeface="Cambria" pitchFamily="34" charset="-120"/>
              </a:rPr>
              <a:t>A Title sponsorship, prepared for Investec.</a:t>
            </a:r>
            <a:endParaRPr lang="en-US" sz="2200" dirty="0"/>
          </a:p>
        </p:txBody>
      </p:sp>
      <p:sp>
        <p:nvSpPr>
          <p:cNvPr id="5" name="Shape 3"/>
          <p:cNvSpPr/>
          <p:nvPr/>
        </p:nvSpPr>
        <p:spPr>
          <a:xfrm>
            <a:off x="822960" y="4343400"/>
            <a:ext cx="3108960" cy="0"/>
          </a:xfrm>
          <a:prstGeom prst="line">
            <a:avLst/>
          </a:prstGeom>
          <a:noFill/>
          <a:ln w="25400">
            <a:solidFill>
              <a:srgbClr val="C9922A"/>
            </a:solidFill>
            <a:prstDash val="solid"/>
          </a:ln>
        </p:spPr>
      </p:sp>
      <p:sp>
        <p:nvSpPr>
          <p:cNvPr id="6" name="Text 4"/>
          <p:cNvSpPr/>
          <p:nvPr/>
        </p:nvSpPr>
        <p:spPr>
          <a:xfrm>
            <a:off x="822960" y="4526280"/>
            <a:ext cx="100584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Thursday, 29 October 2026</a:t>
            </a:r>
            <a:pPr indent="0" marL="0">
              <a:buNone/>
            </a:pPr>
            <a:r>
              <a:rPr lang="en-US" sz="1500" dirty="0">
                <a:solidFill>
                  <a:srgbClr val="8A8A95"/>
                </a:solidFill>
                <a:latin typeface="Calibri" pitchFamily="34" charset="0"/>
                <a:ea typeface="Calibri" pitchFamily="34" charset="-122"/>
                <a:cs typeface="Calibri" pitchFamily="34" charset="-120"/>
              </a:rPr>
              <a:t>   ·   full day   ·   in-person</a:t>
            </a:r>
            <a:endParaRPr lang="en-US" sz="1500" dirty="0"/>
          </a:p>
        </p:txBody>
      </p:sp>
      <p:sp>
        <p:nvSpPr>
          <p:cNvPr id="7" name="Text 5"/>
          <p:cNvSpPr/>
          <p:nvPr/>
        </p:nvSpPr>
        <p:spPr>
          <a:xfrm>
            <a:off x="822960" y="4892040"/>
            <a:ext cx="10058400" cy="320040"/>
          </a:xfrm>
          <a:prstGeom prst="rect">
            <a:avLst/>
          </a:prstGeom>
          <a:noFill/>
          <a:ln/>
        </p:spPr>
        <p:txBody>
          <a:bodyPr wrap="square" lIns="0" tIns="0" rIns="0" bIns="0" rtlCol="0" anchor="ctr"/>
          <a:lstStyle/>
          <a:p>
            <a:pPr indent="0" marL="0">
              <a:buNone/>
            </a:pPr>
            <a:r>
              <a:rPr lang="en-US" sz="1500" dirty="0">
                <a:solidFill>
                  <a:srgbClr val="8A8A95"/>
                </a:solidFill>
                <a:latin typeface="Calibri" pitchFamily="34" charset="0"/>
                <a:ea typeface="Calibri" pitchFamily="34" charset="-122"/>
                <a:cs typeface="Calibri" pitchFamily="34" charset="-120"/>
              </a:rPr>
              <a:t>Wits Theatre, Braamfontein, Gauteng (target venue)</a:t>
            </a:r>
            <a:endParaRPr lang="en-US" sz="1500" dirty="0"/>
          </a:p>
        </p:txBody>
      </p:sp>
      <p:sp>
        <p:nvSpPr>
          <p:cNvPr id="8" name="Text 6"/>
          <p:cNvSpPr/>
          <p:nvPr/>
        </p:nvSpPr>
        <p:spPr>
          <a:xfrm>
            <a:off x="822960" y="5852160"/>
            <a:ext cx="10058400" cy="365760"/>
          </a:xfrm>
          <a:prstGeom prst="rect">
            <a:avLst/>
          </a:prstGeom>
          <a:noFill/>
          <a:ln/>
        </p:spPr>
        <p:txBody>
          <a:bodyPr wrap="square" lIns="0" tIns="0" rIns="0" bIns="0" rtlCol="0" anchor="ctr"/>
          <a:lstStyle/>
          <a:p>
            <a:pPr indent="0" marL="0">
              <a:buNone/>
            </a:pPr>
            <a:r>
              <a:rPr lang="en-US" sz="1700" dirty="0">
                <a:solidFill>
                  <a:srgbClr val="E4B44C"/>
                </a:solidFill>
                <a:latin typeface="Cambria" pitchFamily="34" charset="0"/>
                <a:ea typeface="Cambria" pitchFamily="34" charset="-122"/>
                <a:cs typeface="Cambria" pitchFamily="34" charset="-120"/>
              </a:rPr>
              <a:t>“Where leaders come to sharpen each other.”</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9144000" cy="274320"/>
          </a:xfrm>
          <a:prstGeom prst="rect">
            <a:avLst/>
          </a:prstGeom>
          <a:noFill/>
          <a:ln/>
        </p:spPr>
        <p:txBody>
          <a:bodyPr wrap="square" lIns="0" tIns="0" rIns="0" bIns="0" rtlCol="0" anchor="ctr"/>
          <a:lstStyle/>
          <a:p>
            <a:pPr indent="0" marL="0">
              <a:buNone/>
            </a:pPr>
            <a:r>
              <a:rPr lang="en-US" sz="1100" b="1" spc="300" kern="0" dirty="0">
                <a:solidFill>
                  <a:srgbClr val="C9922A"/>
                </a:solidFill>
                <a:latin typeface="Calibri" pitchFamily="34" charset="0"/>
                <a:ea typeface="Calibri" pitchFamily="34" charset="-122"/>
                <a:cs typeface="Calibri" pitchFamily="34" charset="-120"/>
              </a:rPr>
              <a:t>THE SHORT VERSION</a:t>
            </a:r>
            <a:endParaRPr lang="en-US" sz="1100" dirty="0"/>
          </a:p>
        </p:txBody>
      </p:sp>
      <p:sp>
        <p:nvSpPr>
          <p:cNvPr id="3" name="Text 1"/>
          <p:cNvSpPr/>
          <p:nvPr/>
        </p:nvSpPr>
        <p:spPr>
          <a:xfrm>
            <a:off x="822960" y="960120"/>
            <a:ext cx="10515600" cy="822960"/>
          </a:xfrm>
          <a:prstGeom prst="rect">
            <a:avLst/>
          </a:prstGeom>
          <a:noFill/>
          <a:ln/>
        </p:spPr>
        <p:txBody>
          <a:bodyPr wrap="square" lIns="0" tIns="0" rIns="0" bIns="0" rtlCol="0" anchor="t"/>
          <a:lstStyle/>
          <a:p>
            <a:pPr indent="0" marL="0">
              <a:buNone/>
            </a:pPr>
            <a:r>
              <a:rPr lang="en-US" sz="3000" b="1" dirty="0">
                <a:solidFill>
                  <a:srgbClr val="1A1A24"/>
                </a:solidFill>
                <a:latin typeface="Cambria" pitchFamily="34" charset="0"/>
                <a:ea typeface="Cambria" pitchFamily="34" charset="-122"/>
                <a:cs typeface="Cambria" pitchFamily="34" charset="-120"/>
              </a:rPr>
              <a:t>A premium brand for a premium room</a:t>
            </a:r>
            <a:endParaRPr lang="en-US" sz="3000" dirty="0"/>
          </a:p>
        </p:txBody>
      </p:sp>
      <p:sp>
        <p:nvSpPr>
          <p:cNvPr id="4" name="Text 2"/>
          <p:cNvSpPr/>
          <p:nvPr/>
        </p:nvSpPr>
        <p:spPr>
          <a:xfrm>
            <a:off x="822960" y="1691640"/>
            <a:ext cx="10515600" cy="457200"/>
          </a:xfrm>
          <a:prstGeom prst="rect">
            <a:avLst/>
          </a:prstGeom>
          <a:noFill/>
          <a:ln/>
        </p:spPr>
        <p:txBody>
          <a:bodyPr wrap="square" lIns="0" tIns="0" rIns="0" bIns="0" rtlCol="0" anchor="ctr"/>
          <a:lstStyle/>
          <a:p>
            <a:pPr indent="0" marL="0">
              <a:buNone/>
            </a:pPr>
            <a:r>
              <a:rPr lang="en-US" sz="2000" dirty="0">
                <a:solidFill>
                  <a:srgbClr val="C9922A"/>
                </a:solidFill>
                <a:latin typeface="Cambria" pitchFamily="34" charset="0"/>
                <a:ea typeface="Cambria" pitchFamily="34" charset="-122"/>
                <a:cs typeface="Cambria" pitchFamily="34" charset="-120"/>
              </a:rPr>
              <a:t>The venue holds one day. The name on it carries for months.</a:t>
            </a:r>
            <a:endParaRPr lang="en-US" sz="2000" dirty="0"/>
          </a:p>
        </p:txBody>
      </p:sp>
      <p:sp>
        <p:nvSpPr>
          <p:cNvPr id="5" name="Text 3"/>
          <p:cNvSpPr/>
          <p:nvPr/>
        </p:nvSpPr>
        <p:spPr>
          <a:xfrm>
            <a:off x="822960" y="2286000"/>
            <a:ext cx="10515600" cy="2011680"/>
          </a:xfrm>
          <a:prstGeom prst="rect">
            <a:avLst/>
          </a:prstGeom>
          <a:noFill/>
          <a:ln/>
        </p:spPr>
        <p:txBody>
          <a:bodyPr wrap="square" lIns="0" tIns="0" rIns="0" bIns="0" rtlCol="0" anchor="t"/>
          <a:lstStyle/>
          <a:p>
            <a:pPr indent="0" marL="0">
              <a:lnSpc>
                <a:spcPts val="2200"/>
              </a:lnSpc>
              <a:buNone/>
            </a:pPr>
            <a:r>
              <a:rPr lang="en-US" sz="1500" dirty="0">
                <a:solidFill>
                  <a:srgbClr val="23232E"/>
                </a:solidFill>
                <a:latin typeface="Calibri" pitchFamily="34" charset="0"/>
                <a:ea typeface="Calibri" pitchFamily="34" charset="-122"/>
                <a:cs typeface="Calibri" pitchFamily="34" charset="-120"/>
              </a:rPr>
              <a:t>Build Resilience invites Investec to take the Title sponsorship of the Building Resilience Annual Conference 2026, a full-day gathering on Thursday 29 October 2026 at the Wits Theatre in Braamfontein. That is the headline. The rest is about why Investec, of all the names we could approach, is the right one to sit above it.</a:t>
            </a:r>
            <a:endParaRPr lang="en-US" sz="1500" dirty="0"/>
          </a:p>
          <a:p>
            <a:pPr indent="0" marL="0">
              <a:lnSpc>
                <a:spcPts val="2200"/>
              </a:lnSpc>
              <a:buNone/>
            </a:pPr>
            <a:endParaRPr lang="en-US" sz="1500" dirty="0"/>
          </a:p>
          <a:p>
            <a:pPr indent="0" marL="0">
              <a:lnSpc>
                <a:spcPts val="2200"/>
              </a:lnSpc>
              <a:buNone/>
            </a:pPr>
            <a:r>
              <a:rPr lang="en-US" sz="1500" dirty="0">
                <a:solidFill>
                  <a:srgbClr val="23232E"/>
                </a:solidFill>
                <a:latin typeface="Calibri" pitchFamily="34" charset="0"/>
                <a:ea typeface="Calibri" pitchFamily="34" charset="-122"/>
                <a:cs typeface="Calibri" pitchFamily="34" charset="-120"/>
              </a:rPr>
              <a:t>The room holds 300 to 400 senior delegates: founders and CEOs of growth-stage businesses, senior operators, investors, advisors and board members. More or less the people Investec already builds its private and business banking around. We are not selling footfall. We are offering a fit.</a:t>
            </a:r>
            <a:endParaRPr lang="en-US" sz="1500" dirty="0"/>
          </a:p>
        </p:txBody>
      </p:sp>
      <p:sp>
        <p:nvSpPr>
          <p:cNvPr id="6" name="Shape 4"/>
          <p:cNvSpPr/>
          <p:nvPr/>
        </p:nvSpPr>
        <p:spPr>
          <a:xfrm>
            <a:off x="822960" y="5074920"/>
            <a:ext cx="3429000" cy="1234440"/>
          </a:xfrm>
          <a:prstGeom prst="rect">
            <a:avLst/>
          </a:prstGeom>
          <a:solidFill>
            <a:srgbClr val="1A1A24"/>
          </a:solidFill>
          <a:ln/>
        </p:spPr>
      </p:sp>
      <p:sp>
        <p:nvSpPr>
          <p:cNvPr id="7" name="Text 5"/>
          <p:cNvSpPr/>
          <p:nvPr/>
        </p:nvSpPr>
        <p:spPr>
          <a:xfrm>
            <a:off x="822960" y="5212080"/>
            <a:ext cx="3429000" cy="548640"/>
          </a:xfrm>
          <a:prstGeom prst="rect">
            <a:avLst/>
          </a:prstGeom>
          <a:noFill/>
          <a:ln/>
        </p:spPr>
        <p:txBody>
          <a:bodyPr wrap="square" lIns="0" tIns="0" rIns="0" bIns="0" rtlCol="0" anchor="ctr"/>
          <a:lstStyle/>
          <a:p>
            <a:pPr algn="ctr" indent="0" marL="0">
              <a:buNone/>
            </a:pPr>
            <a:r>
              <a:rPr lang="en-US" sz="3000" b="1" dirty="0">
                <a:solidFill>
                  <a:srgbClr val="C9922A"/>
                </a:solidFill>
                <a:latin typeface="Cambria" pitchFamily="34" charset="0"/>
                <a:ea typeface="Cambria" pitchFamily="34" charset="-122"/>
                <a:cs typeface="Cambria" pitchFamily="34" charset="-120"/>
              </a:rPr>
              <a:t>300–400</a:t>
            </a:r>
            <a:endParaRPr lang="en-US" sz="3000" dirty="0"/>
          </a:p>
        </p:txBody>
      </p:sp>
      <p:sp>
        <p:nvSpPr>
          <p:cNvPr id="8" name="Text 6"/>
          <p:cNvSpPr/>
          <p:nvPr/>
        </p:nvSpPr>
        <p:spPr>
          <a:xfrm>
            <a:off x="960120" y="5806440"/>
            <a:ext cx="3154680" cy="411480"/>
          </a:xfrm>
          <a:prstGeom prst="rect">
            <a:avLst/>
          </a:prstGeom>
          <a:noFill/>
          <a:ln/>
        </p:spPr>
        <p:txBody>
          <a:bodyPr wrap="square" lIns="0" tIns="0" rIns="0" bIns="0" rtlCol="0" anchor="ctr"/>
          <a:lstStyle/>
          <a:p>
            <a:pPr algn="ctr" indent="0" marL="0">
              <a:buNone/>
            </a:pPr>
            <a:r>
              <a:rPr lang="en-US" sz="1150" dirty="0">
                <a:solidFill>
                  <a:srgbClr val="F4F1EA"/>
                </a:solidFill>
                <a:latin typeface="Calibri" pitchFamily="34" charset="0"/>
                <a:ea typeface="Calibri" pitchFamily="34" charset="-122"/>
                <a:cs typeface="Calibri" pitchFamily="34" charset="-120"/>
              </a:rPr>
              <a:t>senior delegates in the room</a:t>
            </a:r>
            <a:endParaRPr lang="en-US" sz="1150" dirty="0"/>
          </a:p>
        </p:txBody>
      </p:sp>
      <p:sp>
        <p:nvSpPr>
          <p:cNvPr id="9" name="Shape 7"/>
          <p:cNvSpPr/>
          <p:nvPr/>
        </p:nvSpPr>
        <p:spPr>
          <a:xfrm>
            <a:off x="4434840" y="5074920"/>
            <a:ext cx="3429000" cy="1234440"/>
          </a:xfrm>
          <a:prstGeom prst="rect">
            <a:avLst/>
          </a:prstGeom>
          <a:solidFill>
            <a:srgbClr val="1A1A24"/>
          </a:solidFill>
          <a:ln/>
        </p:spPr>
      </p:sp>
      <p:sp>
        <p:nvSpPr>
          <p:cNvPr id="10" name="Text 8"/>
          <p:cNvSpPr/>
          <p:nvPr/>
        </p:nvSpPr>
        <p:spPr>
          <a:xfrm>
            <a:off x="4434840" y="5212080"/>
            <a:ext cx="3429000" cy="548640"/>
          </a:xfrm>
          <a:prstGeom prst="rect">
            <a:avLst/>
          </a:prstGeom>
          <a:noFill/>
          <a:ln/>
        </p:spPr>
        <p:txBody>
          <a:bodyPr wrap="square" lIns="0" tIns="0" rIns="0" bIns="0" rtlCol="0" anchor="ctr"/>
          <a:lstStyle/>
          <a:p>
            <a:pPr algn="ctr" indent="0" marL="0">
              <a:buNone/>
            </a:pPr>
            <a:r>
              <a:rPr lang="en-US" sz="3000" b="1" dirty="0">
                <a:solidFill>
                  <a:srgbClr val="C9922A"/>
                </a:solidFill>
                <a:latin typeface="Cambria" pitchFamily="34" charset="0"/>
                <a:ea typeface="Cambria" pitchFamily="34" charset="-122"/>
                <a:cs typeface="Cambria" pitchFamily="34" charset="-120"/>
              </a:rPr>
              <a:t>10</a:t>
            </a:r>
            <a:endParaRPr lang="en-US" sz="3000" dirty="0"/>
          </a:p>
        </p:txBody>
      </p:sp>
      <p:sp>
        <p:nvSpPr>
          <p:cNvPr id="11" name="Text 9"/>
          <p:cNvSpPr/>
          <p:nvPr/>
        </p:nvSpPr>
        <p:spPr>
          <a:xfrm>
            <a:off x="4572000" y="5806440"/>
            <a:ext cx="3154680" cy="411480"/>
          </a:xfrm>
          <a:prstGeom prst="rect">
            <a:avLst/>
          </a:prstGeom>
          <a:noFill/>
          <a:ln/>
        </p:spPr>
        <p:txBody>
          <a:bodyPr wrap="square" lIns="0" tIns="0" rIns="0" bIns="0" rtlCol="0" anchor="ctr"/>
          <a:lstStyle/>
          <a:p>
            <a:pPr algn="ctr" indent="0" marL="0">
              <a:buNone/>
            </a:pPr>
            <a:r>
              <a:rPr lang="en-US" sz="1150" dirty="0">
                <a:solidFill>
                  <a:srgbClr val="F4F1EA"/>
                </a:solidFill>
                <a:latin typeface="Calibri" pitchFamily="34" charset="0"/>
                <a:ea typeface="Calibri" pitchFamily="34" charset="-122"/>
                <a:cs typeface="Calibri" pitchFamily="34" charset="-120"/>
              </a:rPr>
              <a:t>curated speakers, one full day</a:t>
            </a:r>
            <a:endParaRPr lang="en-US" sz="1150" dirty="0"/>
          </a:p>
        </p:txBody>
      </p:sp>
      <p:sp>
        <p:nvSpPr>
          <p:cNvPr id="12" name="Shape 10"/>
          <p:cNvSpPr/>
          <p:nvPr/>
        </p:nvSpPr>
        <p:spPr>
          <a:xfrm>
            <a:off x="8046720" y="5074920"/>
            <a:ext cx="3429000" cy="1234440"/>
          </a:xfrm>
          <a:prstGeom prst="rect">
            <a:avLst/>
          </a:prstGeom>
          <a:solidFill>
            <a:srgbClr val="1A1A24"/>
          </a:solidFill>
          <a:ln/>
        </p:spPr>
      </p:sp>
      <p:sp>
        <p:nvSpPr>
          <p:cNvPr id="13" name="Text 11"/>
          <p:cNvSpPr/>
          <p:nvPr/>
        </p:nvSpPr>
        <p:spPr>
          <a:xfrm>
            <a:off x="8046720" y="5212080"/>
            <a:ext cx="3429000" cy="548640"/>
          </a:xfrm>
          <a:prstGeom prst="rect">
            <a:avLst/>
          </a:prstGeom>
          <a:noFill/>
          <a:ln/>
        </p:spPr>
        <p:txBody>
          <a:bodyPr wrap="square" lIns="0" tIns="0" rIns="0" bIns="0" rtlCol="0" anchor="ctr"/>
          <a:lstStyle/>
          <a:p>
            <a:pPr algn="ctr" indent="0" marL="0">
              <a:buNone/>
            </a:pPr>
            <a:r>
              <a:rPr lang="en-US" sz="3000" b="1" dirty="0">
                <a:solidFill>
                  <a:srgbClr val="C9922A"/>
                </a:solidFill>
                <a:latin typeface="Cambria" pitchFamily="34" charset="0"/>
                <a:ea typeface="Cambria" pitchFamily="34" charset="-122"/>
                <a:cs typeface="Cambria" pitchFamily="34" charset="-120"/>
              </a:rPr>
              <a:t>3</a:t>
            </a:r>
            <a:endParaRPr lang="en-US" sz="3000" dirty="0"/>
          </a:p>
        </p:txBody>
      </p:sp>
      <p:sp>
        <p:nvSpPr>
          <p:cNvPr id="14" name="Text 12"/>
          <p:cNvSpPr/>
          <p:nvPr/>
        </p:nvSpPr>
        <p:spPr>
          <a:xfrm>
            <a:off x="8183880" y="5806440"/>
            <a:ext cx="3154680" cy="411480"/>
          </a:xfrm>
          <a:prstGeom prst="rect">
            <a:avLst/>
          </a:prstGeom>
          <a:noFill/>
          <a:ln/>
        </p:spPr>
        <p:txBody>
          <a:bodyPr wrap="square" lIns="0" tIns="0" rIns="0" bIns="0" rtlCol="0" anchor="ctr"/>
          <a:lstStyle/>
          <a:p>
            <a:pPr algn="ctr" indent="0" marL="0">
              <a:buNone/>
            </a:pPr>
            <a:r>
              <a:rPr lang="en-US" sz="1150" dirty="0">
                <a:solidFill>
                  <a:srgbClr val="F4F1EA"/>
                </a:solidFill>
                <a:latin typeface="Calibri" pitchFamily="34" charset="0"/>
                <a:ea typeface="Calibri" pitchFamily="34" charset="-122"/>
                <a:cs typeface="Calibri" pitchFamily="34" charset="-120"/>
              </a:rPr>
              <a:t>pillars: Strength · Structure · Growth</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9144000" cy="274320"/>
          </a:xfrm>
          <a:prstGeom prst="rect">
            <a:avLst/>
          </a:prstGeom>
          <a:noFill/>
          <a:ln/>
        </p:spPr>
        <p:txBody>
          <a:bodyPr wrap="square" lIns="0" tIns="0" rIns="0" bIns="0" rtlCol="0" anchor="ctr"/>
          <a:lstStyle/>
          <a:p>
            <a:pPr indent="0" marL="0">
              <a:buNone/>
            </a:pPr>
            <a:r>
              <a:rPr lang="en-US" sz="1100" b="1" spc="300" kern="0" dirty="0">
                <a:solidFill>
                  <a:srgbClr val="C9922A"/>
                </a:solidFill>
                <a:latin typeface="Calibri" pitchFamily="34" charset="0"/>
                <a:ea typeface="Calibri" pitchFamily="34" charset="-122"/>
                <a:cs typeface="Calibri" pitchFamily="34" charset="-120"/>
              </a:rPr>
              <a:t>WHY WE LEAD WITH FIT, NOT FOOTFALL</a:t>
            </a:r>
            <a:endParaRPr lang="en-US" sz="1100" dirty="0"/>
          </a:p>
        </p:txBody>
      </p:sp>
      <p:sp>
        <p:nvSpPr>
          <p:cNvPr id="3" name="Text 1"/>
          <p:cNvSpPr/>
          <p:nvPr/>
        </p:nvSpPr>
        <p:spPr>
          <a:xfrm>
            <a:off x="822960" y="960120"/>
            <a:ext cx="10515600" cy="822960"/>
          </a:xfrm>
          <a:prstGeom prst="rect">
            <a:avLst/>
          </a:prstGeom>
          <a:noFill/>
          <a:ln/>
        </p:spPr>
        <p:txBody>
          <a:bodyPr wrap="square" lIns="0" tIns="0" rIns="0" bIns="0" rtlCol="0" anchor="t"/>
          <a:lstStyle/>
          <a:p>
            <a:pPr indent="0" marL="0">
              <a:buNone/>
            </a:pPr>
            <a:r>
              <a:rPr lang="en-US" sz="3000" b="1" dirty="0">
                <a:solidFill>
                  <a:srgbClr val="1A1A24"/>
                </a:solidFill>
                <a:latin typeface="Cambria" pitchFamily="34" charset="0"/>
                <a:ea typeface="Cambria" pitchFamily="34" charset="-122"/>
                <a:cs typeface="Cambria" pitchFamily="34" charset="-120"/>
              </a:rPr>
              <a:t>A different kind of proposal</a:t>
            </a:r>
            <a:endParaRPr lang="en-US" sz="3000" dirty="0"/>
          </a:p>
        </p:txBody>
      </p:sp>
      <p:sp>
        <p:nvSpPr>
          <p:cNvPr id="4" name="Shape 2"/>
          <p:cNvSpPr/>
          <p:nvPr/>
        </p:nvSpPr>
        <p:spPr>
          <a:xfrm>
            <a:off x="822960" y="2057400"/>
            <a:ext cx="82296" cy="1051560"/>
          </a:xfrm>
          <a:prstGeom prst="rect">
            <a:avLst/>
          </a:prstGeom>
          <a:solidFill>
            <a:srgbClr val="C9922A"/>
          </a:solidFill>
          <a:ln/>
        </p:spPr>
      </p:sp>
      <p:sp>
        <p:nvSpPr>
          <p:cNvPr id="5" name="Text 3"/>
          <p:cNvSpPr/>
          <p:nvPr/>
        </p:nvSpPr>
        <p:spPr>
          <a:xfrm>
            <a:off x="1097280" y="2011680"/>
            <a:ext cx="10241280" cy="365760"/>
          </a:xfrm>
          <a:prstGeom prst="rect">
            <a:avLst/>
          </a:prstGeom>
          <a:noFill/>
          <a:ln/>
        </p:spPr>
        <p:txBody>
          <a:bodyPr wrap="square" lIns="0" tIns="0" rIns="0" bIns="0" rtlCol="0" anchor="ctr"/>
          <a:lstStyle/>
          <a:p>
            <a:pPr indent="0" marL="0">
              <a:buNone/>
            </a:pPr>
            <a:r>
              <a:rPr lang="en-US" sz="1800" b="1" dirty="0">
                <a:solidFill>
                  <a:srgbClr val="1A1A24"/>
                </a:solidFill>
                <a:latin typeface="Cambria" pitchFamily="34" charset="0"/>
                <a:ea typeface="Cambria" pitchFamily="34" charset="-122"/>
                <a:cs typeface="Cambria" pitchFamily="34" charset="-120"/>
              </a:rPr>
              <a:t>Most proposals sell access.</a:t>
            </a:r>
            <a:endParaRPr lang="en-US" sz="1800" dirty="0"/>
          </a:p>
        </p:txBody>
      </p:sp>
      <p:sp>
        <p:nvSpPr>
          <p:cNvPr id="6" name="Text 4"/>
          <p:cNvSpPr/>
          <p:nvPr/>
        </p:nvSpPr>
        <p:spPr>
          <a:xfrm>
            <a:off x="1097280" y="2423160"/>
            <a:ext cx="10241280" cy="731520"/>
          </a:xfrm>
          <a:prstGeom prst="rect">
            <a:avLst/>
          </a:prstGeom>
          <a:noFill/>
          <a:ln/>
        </p:spPr>
        <p:txBody>
          <a:bodyPr wrap="square" lIns="0" tIns="0" rIns="0" bIns="0" rtlCol="0" anchor="ctr"/>
          <a:lstStyle/>
          <a:p>
            <a:pPr indent="0" marL="0">
              <a:lnSpc>
                <a:spcPts val="1900"/>
              </a:lnSpc>
              <a:buNone/>
            </a:pPr>
            <a:r>
              <a:rPr lang="en-US" sz="1400" dirty="0">
                <a:solidFill>
                  <a:srgbClr val="23232E"/>
                </a:solidFill>
                <a:latin typeface="Calibri" pitchFamily="34" charset="0"/>
                <a:ea typeface="Calibri" pitchFamily="34" charset="-122"/>
                <a:cs typeface="Calibri" pitchFamily="34" charset="-120"/>
              </a:rPr>
              <a:t>They open by promising a room full of leads. We could do that, and the room would deliver it. It just felt like the wrong opening for a conversation with Investec.</a:t>
            </a:r>
            <a:endParaRPr lang="en-US" sz="1400" dirty="0"/>
          </a:p>
        </p:txBody>
      </p:sp>
      <p:sp>
        <p:nvSpPr>
          <p:cNvPr id="7" name="Shape 5"/>
          <p:cNvSpPr/>
          <p:nvPr/>
        </p:nvSpPr>
        <p:spPr>
          <a:xfrm>
            <a:off x="822960" y="3474720"/>
            <a:ext cx="82296" cy="1051560"/>
          </a:xfrm>
          <a:prstGeom prst="rect">
            <a:avLst/>
          </a:prstGeom>
          <a:solidFill>
            <a:srgbClr val="C9922A"/>
          </a:solidFill>
          <a:ln/>
        </p:spPr>
      </p:sp>
      <p:sp>
        <p:nvSpPr>
          <p:cNvPr id="8" name="Text 6"/>
          <p:cNvSpPr/>
          <p:nvPr/>
        </p:nvSpPr>
        <p:spPr>
          <a:xfrm>
            <a:off x="1097280" y="3429000"/>
            <a:ext cx="10241280" cy="365760"/>
          </a:xfrm>
          <a:prstGeom prst="rect">
            <a:avLst/>
          </a:prstGeom>
          <a:noFill/>
          <a:ln/>
        </p:spPr>
        <p:txBody>
          <a:bodyPr wrap="square" lIns="0" tIns="0" rIns="0" bIns="0" rtlCol="0" anchor="ctr"/>
          <a:lstStyle/>
          <a:p>
            <a:pPr indent="0" marL="0">
              <a:buNone/>
            </a:pPr>
            <a:r>
              <a:rPr lang="en-US" sz="1800" b="1" dirty="0">
                <a:solidFill>
                  <a:srgbClr val="1A1A24"/>
                </a:solidFill>
                <a:latin typeface="Cambria" pitchFamily="34" charset="0"/>
                <a:ea typeface="Cambria" pitchFamily="34" charset="-122"/>
                <a:cs typeface="Cambria" pitchFamily="34" charset="-120"/>
              </a:rPr>
              <a:t>“Out of the Ordinary” is not a mass-market line.</a:t>
            </a:r>
            <a:endParaRPr lang="en-US" sz="1800" dirty="0"/>
          </a:p>
        </p:txBody>
      </p:sp>
      <p:sp>
        <p:nvSpPr>
          <p:cNvPr id="9" name="Text 7"/>
          <p:cNvSpPr/>
          <p:nvPr/>
        </p:nvSpPr>
        <p:spPr>
          <a:xfrm>
            <a:off x="1097280" y="3840480"/>
            <a:ext cx="10241280" cy="731520"/>
          </a:xfrm>
          <a:prstGeom prst="rect">
            <a:avLst/>
          </a:prstGeom>
          <a:noFill/>
          <a:ln/>
        </p:spPr>
        <p:txBody>
          <a:bodyPr wrap="square" lIns="0" tIns="0" rIns="0" bIns="0" rtlCol="0" anchor="ctr"/>
          <a:lstStyle/>
          <a:p>
            <a:pPr indent="0" marL="0">
              <a:lnSpc>
                <a:spcPts val="1900"/>
              </a:lnSpc>
              <a:buNone/>
            </a:pPr>
            <a:r>
              <a:rPr lang="en-US" sz="1400" dirty="0">
                <a:solidFill>
                  <a:srgbClr val="23232E"/>
                </a:solidFill>
                <a:latin typeface="Calibri" pitchFamily="34" charset="0"/>
                <a:ea typeface="Calibri" pitchFamily="34" charset="-122"/>
                <a:cs typeface="Calibri" pitchFamily="34" charset="-120"/>
              </a:rPr>
              <a:t>Investec has spent years building a brand that means something to founders and operators. So rather than count heads, we would rather talk about the company the name would keep for a day.</a:t>
            </a:r>
            <a:endParaRPr lang="en-US" sz="1400" dirty="0"/>
          </a:p>
        </p:txBody>
      </p:sp>
      <p:sp>
        <p:nvSpPr>
          <p:cNvPr id="10" name="Shape 8"/>
          <p:cNvSpPr/>
          <p:nvPr/>
        </p:nvSpPr>
        <p:spPr>
          <a:xfrm>
            <a:off x="822960" y="4892040"/>
            <a:ext cx="82296" cy="1051560"/>
          </a:xfrm>
          <a:prstGeom prst="rect">
            <a:avLst/>
          </a:prstGeom>
          <a:solidFill>
            <a:srgbClr val="C9922A"/>
          </a:solidFill>
          <a:ln/>
        </p:spPr>
      </p:sp>
      <p:sp>
        <p:nvSpPr>
          <p:cNvPr id="11" name="Text 9"/>
          <p:cNvSpPr/>
          <p:nvPr/>
        </p:nvSpPr>
        <p:spPr>
          <a:xfrm>
            <a:off x="1097280" y="4846320"/>
            <a:ext cx="10241280" cy="365760"/>
          </a:xfrm>
          <a:prstGeom prst="rect">
            <a:avLst/>
          </a:prstGeom>
          <a:noFill/>
          <a:ln/>
        </p:spPr>
        <p:txBody>
          <a:bodyPr wrap="square" lIns="0" tIns="0" rIns="0" bIns="0" rtlCol="0" anchor="ctr"/>
          <a:lstStyle/>
          <a:p>
            <a:pPr indent="0" marL="0">
              <a:buNone/>
            </a:pPr>
            <a:r>
              <a:rPr lang="en-US" sz="1800" b="1" dirty="0">
                <a:solidFill>
                  <a:srgbClr val="1A1A24"/>
                </a:solidFill>
                <a:latin typeface="Cambria" pitchFamily="34" charset="0"/>
                <a:ea typeface="Cambria" pitchFamily="34" charset="-122"/>
                <a:cs typeface="Cambria" pitchFamily="34" charset="-120"/>
              </a:rPr>
              <a:t>The commercial recognition is all here.</a:t>
            </a:r>
            <a:endParaRPr lang="en-US" sz="1800" dirty="0"/>
          </a:p>
        </p:txBody>
      </p:sp>
      <p:sp>
        <p:nvSpPr>
          <p:cNvPr id="12" name="Text 10"/>
          <p:cNvSpPr/>
          <p:nvPr/>
        </p:nvSpPr>
        <p:spPr>
          <a:xfrm>
            <a:off x="1097280" y="5257800"/>
            <a:ext cx="10241280" cy="731520"/>
          </a:xfrm>
          <a:prstGeom prst="rect">
            <a:avLst/>
          </a:prstGeom>
          <a:noFill/>
          <a:ln/>
        </p:spPr>
        <p:txBody>
          <a:bodyPr wrap="square" lIns="0" tIns="0" rIns="0" bIns="0" rtlCol="0" anchor="ctr"/>
          <a:lstStyle/>
          <a:p>
            <a:pPr indent="0" marL="0">
              <a:lnSpc>
                <a:spcPts val="1900"/>
              </a:lnSpc>
              <a:buNone/>
            </a:pPr>
            <a:r>
              <a:rPr lang="en-US" sz="1400" dirty="0">
                <a:solidFill>
                  <a:srgbClr val="23232E"/>
                </a:solidFill>
                <a:latin typeface="Calibri" pitchFamily="34" charset="0"/>
                <a:ea typeface="Calibri" pitchFamily="34" charset="-122"/>
                <a:cs typeface="Calibri" pitchFamily="34" charset="-120"/>
              </a:rPr>
              <a:t>Set out plainly further down, nothing hidden. It is just not the first thing we wanted to say. Alongside it sits a quieter thing: Gauteng matriculants, in the room, watching what a built business looks like.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9144000" cy="274320"/>
          </a:xfrm>
          <a:prstGeom prst="rect">
            <a:avLst/>
          </a:prstGeom>
          <a:noFill/>
          <a:ln/>
        </p:spPr>
        <p:txBody>
          <a:bodyPr wrap="square" lIns="0" tIns="0" rIns="0" bIns="0" rtlCol="0" anchor="ctr"/>
          <a:lstStyle/>
          <a:p>
            <a:pPr indent="0" marL="0">
              <a:buNone/>
            </a:pPr>
            <a:r>
              <a:rPr lang="en-US" sz="1100" b="1" spc="300" kern="0" dirty="0">
                <a:solidFill>
                  <a:srgbClr val="C9922A"/>
                </a:solidFill>
                <a:latin typeface="Calibri" pitchFamily="34" charset="0"/>
                <a:ea typeface="Calibri" pitchFamily="34" charset="-122"/>
                <a:cs typeface="Calibri" pitchFamily="34" charset="-120"/>
              </a:rPr>
              <a:t>WHO WE ARE</a:t>
            </a:r>
            <a:endParaRPr lang="en-US" sz="1100" dirty="0"/>
          </a:p>
        </p:txBody>
      </p:sp>
      <p:sp>
        <p:nvSpPr>
          <p:cNvPr id="3" name="Text 1"/>
          <p:cNvSpPr/>
          <p:nvPr/>
        </p:nvSpPr>
        <p:spPr>
          <a:xfrm>
            <a:off x="822960" y="960120"/>
            <a:ext cx="10515600" cy="822960"/>
          </a:xfrm>
          <a:prstGeom prst="rect">
            <a:avLst/>
          </a:prstGeom>
          <a:noFill/>
          <a:ln/>
        </p:spPr>
        <p:txBody>
          <a:bodyPr wrap="square" lIns="0" tIns="0" rIns="0" bIns="0" rtlCol="0" anchor="t"/>
          <a:lstStyle/>
          <a:p>
            <a:pPr indent="0" marL="0">
              <a:buNone/>
            </a:pPr>
            <a:r>
              <a:rPr lang="en-US" sz="3000" b="1" dirty="0">
                <a:solidFill>
                  <a:srgbClr val="1A1A24"/>
                </a:solidFill>
                <a:latin typeface="Cambria" pitchFamily="34" charset="0"/>
                <a:ea typeface="Cambria" pitchFamily="34" charset="-122"/>
                <a:cs typeface="Cambria" pitchFamily="34" charset="-120"/>
              </a:rPr>
              <a:t>About Build Resilience</a:t>
            </a:r>
            <a:endParaRPr lang="en-US" sz="3000" dirty="0"/>
          </a:p>
        </p:txBody>
      </p:sp>
      <p:sp>
        <p:nvSpPr>
          <p:cNvPr id="4" name="Text 2"/>
          <p:cNvSpPr/>
          <p:nvPr/>
        </p:nvSpPr>
        <p:spPr>
          <a:xfrm>
            <a:off x="822960" y="1737360"/>
            <a:ext cx="10515600" cy="914400"/>
          </a:xfrm>
          <a:prstGeom prst="rect">
            <a:avLst/>
          </a:prstGeom>
          <a:noFill/>
          <a:ln/>
        </p:spPr>
        <p:txBody>
          <a:bodyPr wrap="square" lIns="0" tIns="0" rIns="0" bIns="0" rtlCol="0" anchor="ctr"/>
          <a:lstStyle/>
          <a:p>
            <a:pPr indent="0" marL="0">
              <a:lnSpc>
                <a:spcPts val="2100"/>
              </a:lnSpc>
              <a:buNone/>
            </a:pPr>
            <a:r>
              <a:rPr lang="en-US" sz="1500" dirty="0">
                <a:solidFill>
                  <a:srgbClr val="23232E"/>
                </a:solidFill>
                <a:latin typeface="Calibri" pitchFamily="34" charset="0"/>
                <a:ea typeface="Calibri" pitchFamily="34" charset="-122"/>
                <a:cs typeface="Calibri" pitchFamily="34" charset="-120"/>
              </a:rPr>
              <a:t>A Gauteng company, wholly owned by Kingdom Faith Worship Centre NPC (PBO status pending). We design and produce high-trust conferences, roundtables and workshops for founders, operators and organisational leaders. Our rooms are built for practical wisdom, shared openly, by people who have already done the hard work of building, breaking and rebuilding businesses.</a:t>
            </a:r>
            <a:endParaRPr lang="en-US" sz="1500" dirty="0"/>
          </a:p>
        </p:txBody>
      </p:sp>
      <p:sp>
        <p:nvSpPr>
          <p:cNvPr id="5" name="Text 3"/>
          <p:cNvSpPr/>
          <p:nvPr/>
        </p:nvSpPr>
        <p:spPr>
          <a:xfrm>
            <a:off x="822960" y="2788920"/>
            <a:ext cx="10515600" cy="457200"/>
          </a:xfrm>
          <a:prstGeom prst="rect">
            <a:avLst/>
          </a:prstGeom>
          <a:noFill/>
          <a:ln/>
        </p:spPr>
        <p:txBody>
          <a:bodyPr wrap="square" lIns="0" tIns="0" rIns="0" bIns="0" rtlCol="0" anchor="ctr"/>
          <a:lstStyle/>
          <a:p>
            <a:pPr indent="0" marL="0">
              <a:buNone/>
            </a:pPr>
            <a:r>
              <a:rPr lang="en-US" sz="2000" dirty="0">
                <a:solidFill>
                  <a:srgbClr val="C9922A"/>
                </a:solidFill>
                <a:latin typeface="Cambria" pitchFamily="34" charset="0"/>
                <a:ea typeface="Cambria" pitchFamily="34" charset="-122"/>
                <a:cs typeface="Cambria" pitchFamily="34" charset="-120"/>
              </a:rPr>
              <a:t>“We don’t host pitches. We host honest conversations.”</a:t>
            </a:r>
            <a:endParaRPr lang="en-US" sz="2000" dirty="0"/>
          </a:p>
        </p:txBody>
      </p:sp>
      <p:sp>
        <p:nvSpPr>
          <p:cNvPr id="6" name="Shape 4"/>
          <p:cNvSpPr/>
          <p:nvPr/>
        </p:nvSpPr>
        <p:spPr>
          <a:xfrm>
            <a:off x="822960" y="3611880"/>
            <a:ext cx="3429000" cy="1965960"/>
          </a:xfrm>
          <a:prstGeom prst="rect">
            <a:avLst/>
          </a:prstGeom>
          <a:solidFill>
            <a:srgbClr val="F4F1EA"/>
          </a:solidFill>
          <a:ln/>
        </p:spPr>
      </p:sp>
      <p:sp>
        <p:nvSpPr>
          <p:cNvPr id="7" name="Text 5"/>
          <p:cNvSpPr/>
          <p:nvPr/>
        </p:nvSpPr>
        <p:spPr>
          <a:xfrm>
            <a:off x="1051560" y="3794760"/>
            <a:ext cx="3017520" cy="411480"/>
          </a:xfrm>
          <a:prstGeom prst="rect">
            <a:avLst/>
          </a:prstGeom>
          <a:noFill/>
          <a:ln/>
        </p:spPr>
        <p:txBody>
          <a:bodyPr wrap="square" lIns="0" tIns="0" rIns="0" bIns="0" rtlCol="0" anchor="ctr"/>
          <a:lstStyle/>
          <a:p>
            <a:pPr indent="0" marL="0">
              <a:buNone/>
            </a:pPr>
            <a:r>
              <a:rPr lang="en-US" sz="2000" b="1" dirty="0">
                <a:solidFill>
                  <a:srgbClr val="C9922A"/>
                </a:solidFill>
                <a:latin typeface="Cambria" pitchFamily="34" charset="0"/>
                <a:ea typeface="Cambria" pitchFamily="34" charset="-122"/>
                <a:cs typeface="Cambria" pitchFamily="34" charset="-120"/>
              </a:rPr>
              <a:t>Strength</a:t>
            </a:r>
            <a:endParaRPr lang="en-US" sz="2000" dirty="0"/>
          </a:p>
        </p:txBody>
      </p:sp>
      <p:sp>
        <p:nvSpPr>
          <p:cNvPr id="8" name="Text 6"/>
          <p:cNvSpPr/>
          <p:nvPr/>
        </p:nvSpPr>
        <p:spPr>
          <a:xfrm>
            <a:off x="1051560" y="4297680"/>
            <a:ext cx="3017520" cy="1143000"/>
          </a:xfrm>
          <a:prstGeom prst="rect">
            <a:avLst/>
          </a:prstGeom>
          <a:noFill/>
          <a:ln/>
        </p:spPr>
        <p:txBody>
          <a:bodyPr wrap="square" lIns="0" tIns="0" rIns="0" bIns="0" rtlCol="0" anchor="t"/>
          <a:lstStyle/>
          <a:p>
            <a:pPr indent="0" marL="0">
              <a:lnSpc>
                <a:spcPts val="1800"/>
              </a:lnSpc>
              <a:buNone/>
            </a:pPr>
            <a:r>
              <a:rPr lang="en-US" sz="1350" dirty="0">
                <a:solidFill>
                  <a:srgbClr val="23232E"/>
                </a:solidFill>
                <a:latin typeface="Calibri" pitchFamily="34" charset="0"/>
                <a:ea typeface="Calibri" pitchFamily="34" charset="-122"/>
                <a:cs typeface="Calibri" pitchFamily="34" charset="-120"/>
              </a:rPr>
              <a:t>Honest, raw conversations about what nearly broke the business, and what saved it.</a:t>
            </a:r>
            <a:endParaRPr lang="en-US" sz="1350" dirty="0"/>
          </a:p>
        </p:txBody>
      </p:sp>
      <p:sp>
        <p:nvSpPr>
          <p:cNvPr id="9" name="Shape 7"/>
          <p:cNvSpPr/>
          <p:nvPr/>
        </p:nvSpPr>
        <p:spPr>
          <a:xfrm>
            <a:off x="4434840" y="3611880"/>
            <a:ext cx="3429000" cy="1965960"/>
          </a:xfrm>
          <a:prstGeom prst="rect">
            <a:avLst/>
          </a:prstGeom>
          <a:solidFill>
            <a:srgbClr val="F4F1EA"/>
          </a:solidFill>
          <a:ln/>
        </p:spPr>
      </p:sp>
      <p:sp>
        <p:nvSpPr>
          <p:cNvPr id="10" name="Text 8"/>
          <p:cNvSpPr/>
          <p:nvPr/>
        </p:nvSpPr>
        <p:spPr>
          <a:xfrm>
            <a:off x="4663440" y="3794760"/>
            <a:ext cx="3017520" cy="411480"/>
          </a:xfrm>
          <a:prstGeom prst="rect">
            <a:avLst/>
          </a:prstGeom>
          <a:noFill/>
          <a:ln/>
        </p:spPr>
        <p:txBody>
          <a:bodyPr wrap="square" lIns="0" tIns="0" rIns="0" bIns="0" rtlCol="0" anchor="ctr"/>
          <a:lstStyle/>
          <a:p>
            <a:pPr indent="0" marL="0">
              <a:buNone/>
            </a:pPr>
            <a:r>
              <a:rPr lang="en-US" sz="2000" b="1" dirty="0">
                <a:solidFill>
                  <a:srgbClr val="C9922A"/>
                </a:solidFill>
                <a:latin typeface="Cambria" pitchFamily="34" charset="0"/>
                <a:ea typeface="Cambria" pitchFamily="34" charset="-122"/>
                <a:cs typeface="Cambria" pitchFamily="34" charset="-120"/>
              </a:rPr>
              <a:t>Structure</a:t>
            </a:r>
            <a:endParaRPr lang="en-US" sz="2000" dirty="0"/>
          </a:p>
        </p:txBody>
      </p:sp>
      <p:sp>
        <p:nvSpPr>
          <p:cNvPr id="11" name="Text 9"/>
          <p:cNvSpPr/>
          <p:nvPr/>
        </p:nvSpPr>
        <p:spPr>
          <a:xfrm>
            <a:off x="4663440" y="4297680"/>
            <a:ext cx="3017520" cy="1143000"/>
          </a:xfrm>
          <a:prstGeom prst="rect">
            <a:avLst/>
          </a:prstGeom>
          <a:noFill/>
          <a:ln/>
        </p:spPr>
        <p:txBody>
          <a:bodyPr wrap="square" lIns="0" tIns="0" rIns="0" bIns="0" rtlCol="0" anchor="t"/>
          <a:lstStyle/>
          <a:p>
            <a:pPr indent="0" marL="0">
              <a:lnSpc>
                <a:spcPts val="1800"/>
              </a:lnSpc>
              <a:buNone/>
            </a:pPr>
            <a:r>
              <a:rPr lang="en-US" sz="1350" dirty="0">
                <a:solidFill>
                  <a:srgbClr val="23232E"/>
                </a:solidFill>
                <a:latin typeface="Calibri" pitchFamily="34" charset="0"/>
                <a:ea typeface="Calibri" pitchFamily="34" charset="-122"/>
                <a:cs typeface="Calibri" pitchFamily="34" charset="-120"/>
              </a:rPr>
              <a:t>The operating systems and frameworks that turn good intentions into repeatable outcomes.</a:t>
            </a:r>
            <a:endParaRPr lang="en-US" sz="1350" dirty="0"/>
          </a:p>
        </p:txBody>
      </p:sp>
      <p:sp>
        <p:nvSpPr>
          <p:cNvPr id="12" name="Shape 10"/>
          <p:cNvSpPr/>
          <p:nvPr/>
        </p:nvSpPr>
        <p:spPr>
          <a:xfrm>
            <a:off x="8046720" y="3611880"/>
            <a:ext cx="3429000" cy="1965960"/>
          </a:xfrm>
          <a:prstGeom prst="rect">
            <a:avLst/>
          </a:prstGeom>
          <a:solidFill>
            <a:srgbClr val="F4F1EA"/>
          </a:solidFill>
          <a:ln/>
        </p:spPr>
      </p:sp>
      <p:sp>
        <p:nvSpPr>
          <p:cNvPr id="13" name="Text 11"/>
          <p:cNvSpPr/>
          <p:nvPr/>
        </p:nvSpPr>
        <p:spPr>
          <a:xfrm>
            <a:off x="8275320" y="3794760"/>
            <a:ext cx="3017520" cy="411480"/>
          </a:xfrm>
          <a:prstGeom prst="rect">
            <a:avLst/>
          </a:prstGeom>
          <a:noFill/>
          <a:ln/>
        </p:spPr>
        <p:txBody>
          <a:bodyPr wrap="square" lIns="0" tIns="0" rIns="0" bIns="0" rtlCol="0" anchor="ctr"/>
          <a:lstStyle/>
          <a:p>
            <a:pPr indent="0" marL="0">
              <a:buNone/>
            </a:pPr>
            <a:r>
              <a:rPr lang="en-US" sz="2000" b="1" dirty="0">
                <a:solidFill>
                  <a:srgbClr val="C9922A"/>
                </a:solidFill>
                <a:latin typeface="Cambria" pitchFamily="34" charset="0"/>
                <a:ea typeface="Cambria" pitchFamily="34" charset="-122"/>
                <a:cs typeface="Cambria" pitchFamily="34" charset="-120"/>
              </a:rPr>
              <a:t>Growth</a:t>
            </a:r>
            <a:endParaRPr lang="en-US" sz="2000" dirty="0"/>
          </a:p>
        </p:txBody>
      </p:sp>
      <p:sp>
        <p:nvSpPr>
          <p:cNvPr id="14" name="Text 12"/>
          <p:cNvSpPr/>
          <p:nvPr/>
        </p:nvSpPr>
        <p:spPr>
          <a:xfrm>
            <a:off x="8275320" y="4297680"/>
            <a:ext cx="3017520" cy="1143000"/>
          </a:xfrm>
          <a:prstGeom prst="rect">
            <a:avLst/>
          </a:prstGeom>
          <a:noFill/>
          <a:ln/>
        </p:spPr>
        <p:txBody>
          <a:bodyPr wrap="square" lIns="0" tIns="0" rIns="0" bIns="0" rtlCol="0" anchor="t"/>
          <a:lstStyle/>
          <a:p>
            <a:pPr indent="0" marL="0">
              <a:lnSpc>
                <a:spcPts val="1800"/>
              </a:lnSpc>
              <a:buNone/>
            </a:pPr>
            <a:r>
              <a:rPr lang="en-US" sz="1350" dirty="0">
                <a:solidFill>
                  <a:srgbClr val="23232E"/>
                </a:solidFill>
                <a:latin typeface="Calibri" pitchFamily="34" charset="0"/>
                <a:ea typeface="Calibri" pitchFamily="34" charset="-122"/>
                <a:cs typeface="Calibri" pitchFamily="34" charset="-120"/>
              </a:rPr>
              <a:t>The right relationships, capital and timing that produce lasting growth.</a:t>
            </a:r>
            <a:endParaRPr lang="en-US" sz="1350" dirty="0"/>
          </a:p>
        </p:txBody>
      </p:sp>
      <p:sp>
        <p:nvSpPr>
          <p:cNvPr id="15" name="Text 13"/>
          <p:cNvSpPr/>
          <p:nvPr/>
        </p:nvSpPr>
        <p:spPr>
          <a:xfrm>
            <a:off x="822960" y="5806440"/>
            <a:ext cx="10515600" cy="365760"/>
          </a:xfrm>
          <a:prstGeom prst="rect">
            <a:avLst/>
          </a:prstGeom>
          <a:noFill/>
          <a:ln/>
        </p:spPr>
        <p:txBody>
          <a:bodyPr wrap="square" lIns="0" tIns="0" rIns="0" bIns="0" rtlCol="0" anchor="ctr"/>
          <a:lstStyle/>
          <a:p>
            <a:pPr indent="0" marL="0">
              <a:buNone/>
            </a:pPr>
            <a:r>
              <a:rPr lang="en-US" sz="1300" b="1" dirty="0">
                <a:solidFill>
                  <a:srgbClr val="8A8A95"/>
                </a:solidFill>
                <a:latin typeface="Calibri" pitchFamily="34" charset="0"/>
                <a:ea typeface="Calibri" pitchFamily="34" charset="-122"/>
                <a:cs typeface="Calibri" pitchFamily="34" charset="-120"/>
              </a:rPr>
              <a:t>Ten curated speakers  ·  one full day  ·  Strength · Structure · Growth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48640"/>
            <a:ext cx="9144000" cy="274320"/>
          </a:xfrm>
          <a:prstGeom prst="rect">
            <a:avLst/>
          </a:prstGeom>
          <a:noFill/>
          <a:ln/>
        </p:spPr>
        <p:txBody>
          <a:bodyPr wrap="square" lIns="0" tIns="0" rIns="0" bIns="0" rtlCol="0" anchor="ctr"/>
          <a:lstStyle/>
          <a:p>
            <a:pPr indent="0" marL="0">
              <a:buNone/>
            </a:pPr>
            <a:r>
              <a:rPr lang="en-US" sz="1100" b="1" spc="300" kern="0" dirty="0">
                <a:solidFill>
                  <a:srgbClr val="C9922A"/>
                </a:solidFill>
                <a:latin typeface="Calibri" pitchFamily="34" charset="0"/>
                <a:ea typeface="Calibri" pitchFamily="34" charset="-122"/>
                <a:cs typeface="Calibri" pitchFamily="34" charset="-120"/>
              </a:rPr>
              <a:t>THE EVENT</a:t>
            </a:r>
            <a:endParaRPr lang="en-US" sz="1100" dirty="0"/>
          </a:p>
        </p:txBody>
      </p:sp>
      <p:sp>
        <p:nvSpPr>
          <p:cNvPr id="3" name="Text 1"/>
          <p:cNvSpPr/>
          <p:nvPr/>
        </p:nvSpPr>
        <p:spPr>
          <a:xfrm>
            <a:off x="822960" y="868680"/>
            <a:ext cx="10515600" cy="822960"/>
          </a:xfrm>
          <a:prstGeom prst="rect">
            <a:avLst/>
          </a:prstGeom>
          <a:noFill/>
          <a:ln/>
        </p:spPr>
        <p:txBody>
          <a:bodyPr wrap="square" lIns="0" tIns="0" rIns="0" bIns="0" rtlCol="0" anchor="t"/>
          <a:lstStyle/>
          <a:p>
            <a:pPr indent="0" marL="0">
              <a:buNone/>
            </a:pPr>
            <a:r>
              <a:rPr lang="en-US" sz="3000" b="1" dirty="0">
                <a:solidFill>
                  <a:srgbClr val="1A1A24"/>
                </a:solidFill>
                <a:latin typeface="Cambria" pitchFamily="34" charset="0"/>
                <a:ea typeface="Cambria" pitchFamily="34" charset="-122"/>
                <a:cs typeface="Cambria" pitchFamily="34" charset="-120"/>
              </a:rPr>
              <a:t>The conference at a glance</a:t>
            </a:r>
            <a:endParaRPr lang="en-US" sz="3000" dirty="0"/>
          </a:p>
        </p:txBody>
      </p:sp>
      <p:sp>
        <p:nvSpPr>
          <p:cNvPr id="4" name="Shape 2"/>
          <p:cNvSpPr/>
          <p:nvPr/>
        </p:nvSpPr>
        <p:spPr>
          <a:xfrm>
            <a:off x="822960" y="1691640"/>
            <a:ext cx="3429000" cy="777240"/>
          </a:xfrm>
          <a:prstGeom prst="rect">
            <a:avLst/>
          </a:prstGeom>
          <a:solidFill>
            <a:srgbClr val="F4F1EA"/>
          </a:solidFill>
          <a:ln/>
        </p:spPr>
      </p:sp>
      <p:sp>
        <p:nvSpPr>
          <p:cNvPr id="5" name="Text 3"/>
          <p:cNvSpPr/>
          <p:nvPr/>
        </p:nvSpPr>
        <p:spPr>
          <a:xfrm>
            <a:off x="1005840" y="1801368"/>
            <a:ext cx="3108960" cy="228600"/>
          </a:xfrm>
          <a:prstGeom prst="rect">
            <a:avLst/>
          </a:prstGeom>
          <a:noFill/>
          <a:ln/>
        </p:spPr>
        <p:txBody>
          <a:bodyPr wrap="square" lIns="0" tIns="0" rIns="0" bIns="0" rtlCol="0" anchor="ctr"/>
          <a:lstStyle/>
          <a:p>
            <a:pPr indent="0" marL="0">
              <a:buNone/>
            </a:pPr>
            <a:r>
              <a:rPr lang="en-US" sz="1050" b="1" spc="200" kern="0" dirty="0">
                <a:solidFill>
                  <a:srgbClr val="C9922A"/>
                </a:solidFill>
                <a:latin typeface="Calibri" pitchFamily="34" charset="0"/>
                <a:ea typeface="Calibri" pitchFamily="34" charset="-122"/>
                <a:cs typeface="Calibri" pitchFamily="34" charset="-120"/>
              </a:rPr>
              <a:t>DATE</a:t>
            </a:r>
            <a:endParaRPr lang="en-US" sz="1050" dirty="0"/>
          </a:p>
        </p:txBody>
      </p:sp>
      <p:sp>
        <p:nvSpPr>
          <p:cNvPr id="6" name="Text 4"/>
          <p:cNvSpPr/>
          <p:nvPr/>
        </p:nvSpPr>
        <p:spPr>
          <a:xfrm>
            <a:off x="1005840" y="2039112"/>
            <a:ext cx="3108960" cy="365760"/>
          </a:xfrm>
          <a:prstGeom prst="rect">
            <a:avLst/>
          </a:prstGeom>
          <a:noFill/>
          <a:ln/>
        </p:spPr>
        <p:txBody>
          <a:bodyPr wrap="square" lIns="0" tIns="0" rIns="0" bIns="0" rtlCol="0" anchor="ctr"/>
          <a:lstStyle/>
          <a:p>
            <a:pPr indent="0" marL="0">
              <a:buNone/>
            </a:pPr>
            <a:r>
              <a:rPr lang="en-US" sz="1300" dirty="0">
                <a:solidFill>
                  <a:srgbClr val="23232E"/>
                </a:solidFill>
                <a:latin typeface="Calibri" pitchFamily="34" charset="0"/>
                <a:ea typeface="Calibri" pitchFamily="34" charset="-122"/>
                <a:cs typeface="Calibri" pitchFamily="34" charset="-120"/>
              </a:rPr>
              <a:t>Thursday, 29 October 2026</a:t>
            </a:r>
            <a:endParaRPr lang="en-US" sz="1300" dirty="0"/>
          </a:p>
        </p:txBody>
      </p:sp>
      <p:sp>
        <p:nvSpPr>
          <p:cNvPr id="7" name="Shape 5"/>
          <p:cNvSpPr/>
          <p:nvPr/>
        </p:nvSpPr>
        <p:spPr>
          <a:xfrm>
            <a:off x="4434840" y="1691640"/>
            <a:ext cx="3429000" cy="777240"/>
          </a:xfrm>
          <a:prstGeom prst="rect">
            <a:avLst/>
          </a:prstGeom>
          <a:solidFill>
            <a:srgbClr val="F4F1EA"/>
          </a:solidFill>
          <a:ln/>
        </p:spPr>
      </p:sp>
      <p:sp>
        <p:nvSpPr>
          <p:cNvPr id="8" name="Text 6"/>
          <p:cNvSpPr/>
          <p:nvPr/>
        </p:nvSpPr>
        <p:spPr>
          <a:xfrm>
            <a:off x="4617720" y="1801368"/>
            <a:ext cx="3108960" cy="228600"/>
          </a:xfrm>
          <a:prstGeom prst="rect">
            <a:avLst/>
          </a:prstGeom>
          <a:noFill/>
          <a:ln/>
        </p:spPr>
        <p:txBody>
          <a:bodyPr wrap="square" lIns="0" tIns="0" rIns="0" bIns="0" rtlCol="0" anchor="ctr"/>
          <a:lstStyle/>
          <a:p>
            <a:pPr indent="0" marL="0">
              <a:buNone/>
            </a:pPr>
            <a:r>
              <a:rPr lang="en-US" sz="1050" b="1" spc="200" kern="0" dirty="0">
                <a:solidFill>
                  <a:srgbClr val="C9922A"/>
                </a:solidFill>
                <a:latin typeface="Calibri" pitchFamily="34" charset="0"/>
                <a:ea typeface="Calibri" pitchFamily="34" charset="-122"/>
                <a:cs typeface="Calibri" pitchFamily="34" charset="-120"/>
              </a:rPr>
              <a:t>VENUE</a:t>
            </a:r>
            <a:endParaRPr lang="en-US" sz="1050" dirty="0"/>
          </a:p>
        </p:txBody>
      </p:sp>
      <p:sp>
        <p:nvSpPr>
          <p:cNvPr id="9" name="Text 7"/>
          <p:cNvSpPr/>
          <p:nvPr/>
        </p:nvSpPr>
        <p:spPr>
          <a:xfrm>
            <a:off x="4617720" y="2039112"/>
            <a:ext cx="3108960" cy="365760"/>
          </a:xfrm>
          <a:prstGeom prst="rect">
            <a:avLst/>
          </a:prstGeom>
          <a:noFill/>
          <a:ln/>
        </p:spPr>
        <p:txBody>
          <a:bodyPr wrap="square" lIns="0" tIns="0" rIns="0" bIns="0" rtlCol="0" anchor="ctr"/>
          <a:lstStyle/>
          <a:p>
            <a:pPr indent="0" marL="0">
              <a:buNone/>
            </a:pPr>
            <a:r>
              <a:rPr lang="en-US" sz="1300" dirty="0">
                <a:solidFill>
                  <a:srgbClr val="23232E"/>
                </a:solidFill>
                <a:latin typeface="Calibri" pitchFamily="34" charset="0"/>
                <a:ea typeface="Calibri" pitchFamily="34" charset="-122"/>
                <a:cs typeface="Calibri" pitchFamily="34" charset="-120"/>
              </a:rPr>
              <a:t>Wits Theatre, Braamfontein (target)</a:t>
            </a:r>
            <a:endParaRPr lang="en-US" sz="1300" dirty="0"/>
          </a:p>
        </p:txBody>
      </p:sp>
      <p:sp>
        <p:nvSpPr>
          <p:cNvPr id="10" name="Shape 8"/>
          <p:cNvSpPr/>
          <p:nvPr/>
        </p:nvSpPr>
        <p:spPr>
          <a:xfrm>
            <a:off x="8046720" y="1691640"/>
            <a:ext cx="3429000" cy="777240"/>
          </a:xfrm>
          <a:prstGeom prst="rect">
            <a:avLst/>
          </a:prstGeom>
          <a:solidFill>
            <a:srgbClr val="F4F1EA"/>
          </a:solidFill>
          <a:ln/>
        </p:spPr>
      </p:sp>
      <p:sp>
        <p:nvSpPr>
          <p:cNvPr id="11" name="Text 9"/>
          <p:cNvSpPr/>
          <p:nvPr/>
        </p:nvSpPr>
        <p:spPr>
          <a:xfrm>
            <a:off x="8229600" y="1801368"/>
            <a:ext cx="3108960" cy="228600"/>
          </a:xfrm>
          <a:prstGeom prst="rect">
            <a:avLst/>
          </a:prstGeom>
          <a:noFill/>
          <a:ln/>
        </p:spPr>
        <p:txBody>
          <a:bodyPr wrap="square" lIns="0" tIns="0" rIns="0" bIns="0" rtlCol="0" anchor="ctr"/>
          <a:lstStyle/>
          <a:p>
            <a:pPr indent="0" marL="0">
              <a:buNone/>
            </a:pPr>
            <a:r>
              <a:rPr lang="en-US" sz="1050" b="1" spc="200" kern="0" dirty="0">
                <a:solidFill>
                  <a:srgbClr val="C9922A"/>
                </a:solidFill>
                <a:latin typeface="Calibri" pitchFamily="34" charset="0"/>
                <a:ea typeface="Calibri" pitchFamily="34" charset="-122"/>
                <a:cs typeface="Calibri" pitchFamily="34" charset="-120"/>
              </a:rPr>
              <a:t>FORMAT</a:t>
            </a:r>
            <a:endParaRPr lang="en-US" sz="1050" dirty="0"/>
          </a:p>
        </p:txBody>
      </p:sp>
      <p:sp>
        <p:nvSpPr>
          <p:cNvPr id="12" name="Text 10"/>
          <p:cNvSpPr/>
          <p:nvPr/>
        </p:nvSpPr>
        <p:spPr>
          <a:xfrm>
            <a:off x="8229600" y="2039112"/>
            <a:ext cx="3108960" cy="365760"/>
          </a:xfrm>
          <a:prstGeom prst="rect">
            <a:avLst/>
          </a:prstGeom>
          <a:noFill/>
          <a:ln/>
        </p:spPr>
        <p:txBody>
          <a:bodyPr wrap="square" lIns="0" tIns="0" rIns="0" bIns="0" rtlCol="0" anchor="ctr"/>
          <a:lstStyle/>
          <a:p>
            <a:pPr indent="0" marL="0">
              <a:buNone/>
            </a:pPr>
            <a:r>
              <a:rPr lang="en-US" sz="1300" dirty="0">
                <a:solidFill>
                  <a:srgbClr val="23232E"/>
                </a:solidFill>
                <a:latin typeface="Calibri" pitchFamily="34" charset="0"/>
                <a:ea typeface="Calibri" pitchFamily="34" charset="-122"/>
                <a:cs typeface="Calibri" pitchFamily="34" charset="-120"/>
              </a:rPr>
              <a:t>In-person, full day</a:t>
            </a:r>
            <a:endParaRPr lang="en-US" sz="1300" dirty="0"/>
          </a:p>
        </p:txBody>
      </p:sp>
      <p:sp>
        <p:nvSpPr>
          <p:cNvPr id="13" name="Shape 11"/>
          <p:cNvSpPr/>
          <p:nvPr/>
        </p:nvSpPr>
        <p:spPr>
          <a:xfrm>
            <a:off x="822960" y="2606040"/>
            <a:ext cx="3429000" cy="777240"/>
          </a:xfrm>
          <a:prstGeom prst="rect">
            <a:avLst/>
          </a:prstGeom>
          <a:solidFill>
            <a:srgbClr val="F4F1EA"/>
          </a:solidFill>
          <a:ln/>
        </p:spPr>
      </p:sp>
      <p:sp>
        <p:nvSpPr>
          <p:cNvPr id="14" name="Text 12"/>
          <p:cNvSpPr/>
          <p:nvPr/>
        </p:nvSpPr>
        <p:spPr>
          <a:xfrm>
            <a:off x="1005840" y="2715768"/>
            <a:ext cx="3108960" cy="228600"/>
          </a:xfrm>
          <a:prstGeom prst="rect">
            <a:avLst/>
          </a:prstGeom>
          <a:noFill/>
          <a:ln/>
        </p:spPr>
        <p:txBody>
          <a:bodyPr wrap="square" lIns="0" tIns="0" rIns="0" bIns="0" rtlCol="0" anchor="ctr"/>
          <a:lstStyle/>
          <a:p>
            <a:pPr indent="0" marL="0">
              <a:buNone/>
            </a:pPr>
            <a:r>
              <a:rPr lang="en-US" sz="1050" b="1" spc="200" kern="0" dirty="0">
                <a:solidFill>
                  <a:srgbClr val="C9922A"/>
                </a:solidFill>
                <a:latin typeface="Calibri" pitchFamily="34" charset="0"/>
                <a:ea typeface="Calibri" pitchFamily="34" charset="-122"/>
                <a:cs typeface="Calibri" pitchFamily="34" charset="-120"/>
              </a:rPr>
              <a:t>SPEAKERS</a:t>
            </a:r>
            <a:endParaRPr lang="en-US" sz="1050" dirty="0"/>
          </a:p>
        </p:txBody>
      </p:sp>
      <p:sp>
        <p:nvSpPr>
          <p:cNvPr id="15" name="Text 13"/>
          <p:cNvSpPr/>
          <p:nvPr/>
        </p:nvSpPr>
        <p:spPr>
          <a:xfrm>
            <a:off x="1005840" y="2953512"/>
            <a:ext cx="3108960" cy="365760"/>
          </a:xfrm>
          <a:prstGeom prst="rect">
            <a:avLst/>
          </a:prstGeom>
          <a:noFill/>
          <a:ln/>
        </p:spPr>
        <p:txBody>
          <a:bodyPr wrap="square" lIns="0" tIns="0" rIns="0" bIns="0" rtlCol="0" anchor="ctr"/>
          <a:lstStyle/>
          <a:p>
            <a:pPr indent="0" marL="0">
              <a:buNone/>
            </a:pPr>
            <a:r>
              <a:rPr lang="en-US" sz="1300" dirty="0">
                <a:solidFill>
                  <a:srgbClr val="23232E"/>
                </a:solidFill>
                <a:latin typeface="Calibri" pitchFamily="34" charset="0"/>
                <a:ea typeface="Calibri" pitchFamily="34" charset="-122"/>
                <a:cs typeface="Calibri" pitchFamily="34" charset="-120"/>
              </a:rPr>
              <a:t>10 curated speakers</a:t>
            </a:r>
            <a:endParaRPr lang="en-US" sz="1300" dirty="0"/>
          </a:p>
        </p:txBody>
      </p:sp>
      <p:sp>
        <p:nvSpPr>
          <p:cNvPr id="16" name="Shape 14"/>
          <p:cNvSpPr/>
          <p:nvPr/>
        </p:nvSpPr>
        <p:spPr>
          <a:xfrm>
            <a:off x="4434840" y="2606040"/>
            <a:ext cx="3429000" cy="777240"/>
          </a:xfrm>
          <a:prstGeom prst="rect">
            <a:avLst/>
          </a:prstGeom>
          <a:solidFill>
            <a:srgbClr val="F4F1EA"/>
          </a:solidFill>
          <a:ln/>
        </p:spPr>
      </p:sp>
      <p:sp>
        <p:nvSpPr>
          <p:cNvPr id="17" name="Text 15"/>
          <p:cNvSpPr/>
          <p:nvPr/>
        </p:nvSpPr>
        <p:spPr>
          <a:xfrm>
            <a:off x="4617720" y="2715768"/>
            <a:ext cx="3108960" cy="228600"/>
          </a:xfrm>
          <a:prstGeom prst="rect">
            <a:avLst/>
          </a:prstGeom>
          <a:noFill/>
          <a:ln/>
        </p:spPr>
        <p:txBody>
          <a:bodyPr wrap="square" lIns="0" tIns="0" rIns="0" bIns="0" rtlCol="0" anchor="ctr"/>
          <a:lstStyle/>
          <a:p>
            <a:pPr indent="0" marL="0">
              <a:buNone/>
            </a:pPr>
            <a:r>
              <a:rPr lang="en-US" sz="1050" b="1" spc="200" kern="0" dirty="0">
                <a:solidFill>
                  <a:srgbClr val="C9922A"/>
                </a:solidFill>
                <a:latin typeface="Calibri" pitchFamily="34" charset="0"/>
                <a:ea typeface="Calibri" pitchFamily="34" charset="-122"/>
                <a:cs typeface="Calibri" pitchFamily="34" charset="-120"/>
              </a:rPr>
              <a:t>AUDIENCE</a:t>
            </a:r>
            <a:endParaRPr lang="en-US" sz="1050" dirty="0"/>
          </a:p>
        </p:txBody>
      </p:sp>
      <p:sp>
        <p:nvSpPr>
          <p:cNvPr id="18" name="Text 16"/>
          <p:cNvSpPr/>
          <p:nvPr/>
        </p:nvSpPr>
        <p:spPr>
          <a:xfrm>
            <a:off x="4617720" y="2953512"/>
            <a:ext cx="3108960" cy="365760"/>
          </a:xfrm>
          <a:prstGeom prst="rect">
            <a:avLst/>
          </a:prstGeom>
          <a:noFill/>
          <a:ln/>
        </p:spPr>
        <p:txBody>
          <a:bodyPr wrap="square" lIns="0" tIns="0" rIns="0" bIns="0" rtlCol="0" anchor="ctr"/>
          <a:lstStyle/>
          <a:p>
            <a:pPr indent="0" marL="0">
              <a:buNone/>
            </a:pPr>
            <a:r>
              <a:rPr lang="en-US" sz="1300" dirty="0">
                <a:solidFill>
                  <a:srgbClr val="23232E"/>
                </a:solidFill>
                <a:latin typeface="Calibri" pitchFamily="34" charset="0"/>
                <a:ea typeface="Calibri" pitchFamily="34" charset="-122"/>
                <a:cs typeface="Calibri" pitchFamily="34" charset="-120"/>
              </a:rPr>
              <a:t>300–400 senior delegates</a:t>
            </a:r>
            <a:endParaRPr lang="en-US" sz="1300" dirty="0"/>
          </a:p>
        </p:txBody>
      </p:sp>
      <p:sp>
        <p:nvSpPr>
          <p:cNvPr id="19" name="Shape 17"/>
          <p:cNvSpPr/>
          <p:nvPr/>
        </p:nvSpPr>
        <p:spPr>
          <a:xfrm>
            <a:off x="8046720" y="2606040"/>
            <a:ext cx="3429000" cy="777240"/>
          </a:xfrm>
          <a:prstGeom prst="rect">
            <a:avLst/>
          </a:prstGeom>
          <a:solidFill>
            <a:srgbClr val="F4F1EA"/>
          </a:solidFill>
          <a:ln/>
        </p:spPr>
      </p:sp>
      <p:sp>
        <p:nvSpPr>
          <p:cNvPr id="20" name="Text 18"/>
          <p:cNvSpPr/>
          <p:nvPr/>
        </p:nvSpPr>
        <p:spPr>
          <a:xfrm>
            <a:off x="8229600" y="2715768"/>
            <a:ext cx="3108960" cy="228600"/>
          </a:xfrm>
          <a:prstGeom prst="rect">
            <a:avLst/>
          </a:prstGeom>
          <a:noFill/>
          <a:ln/>
        </p:spPr>
        <p:txBody>
          <a:bodyPr wrap="square" lIns="0" tIns="0" rIns="0" bIns="0" rtlCol="0" anchor="ctr"/>
          <a:lstStyle/>
          <a:p>
            <a:pPr indent="0" marL="0">
              <a:buNone/>
            </a:pPr>
            <a:r>
              <a:rPr lang="en-US" sz="1050" b="1" spc="200" kern="0" dirty="0">
                <a:solidFill>
                  <a:srgbClr val="C9922A"/>
                </a:solidFill>
                <a:latin typeface="Calibri" pitchFamily="34" charset="0"/>
                <a:ea typeface="Calibri" pitchFamily="34" charset="-122"/>
                <a:cs typeface="Calibri" pitchFamily="34" charset="-120"/>
              </a:rPr>
              <a:t>PROGRAMME</a:t>
            </a:r>
            <a:endParaRPr lang="en-US" sz="1050" dirty="0"/>
          </a:p>
        </p:txBody>
      </p:sp>
      <p:sp>
        <p:nvSpPr>
          <p:cNvPr id="21" name="Text 19"/>
          <p:cNvSpPr/>
          <p:nvPr/>
        </p:nvSpPr>
        <p:spPr>
          <a:xfrm>
            <a:off x="8229600" y="2953512"/>
            <a:ext cx="3108960" cy="365760"/>
          </a:xfrm>
          <a:prstGeom prst="rect">
            <a:avLst/>
          </a:prstGeom>
          <a:noFill/>
          <a:ln/>
        </p:spPr>
        <p:txBody>
          <a:bodyPr wrap="square" lIns="0" tIns="0" rIns="0" bIns="0" rtlCol="0" anchor="ctr"/>
          <a:lstStyle/>
          <a:p>
            <a:pPr indent="0" marL="0">
              <a:buNone/>
            </a:pPr>
            <a:r>
              <a:rPr lang="en-US" sz="1300" dirty="0">
                <a:solidFill>
                  <a:srgbClr val="23232E"/>
                </a:solidFill>
                <a:latin typeface="Calibri" pitchFamily="34" charset="0"/>
                <a:ea typeface="Calibri" pitchFamily="34" charset="-122"/>
                <a:cs typeface="Calibri" pitchFamily="34" charset="-120"/>
              </a:rPr>
              <a:t>Strength · Structure · Growth</a:t>
            </a:r>
            <a:endParaRPr lang="en-US" sz="1300" dirty="0"/>
          </a:p>
        </p:txBody>
      </p:sp>
      <p:sp>
        <p:nvSpPr>
          <p:cNvPr id="22" name="Shape 20"/>
          <p:cNvSpPr/>
          <p:nvPr/>
        </p:nvSpPr>
        <p:spPr>
          <a:xfrm>
            <a:off x="822960" y="3794760"/>
            <a:ext cx="10543032" cy="2514600"/>
          </a:xfrm>
          <a:prstGeom prst="rect">
            <a:avLst/>
          </a:prstGeom>
          <a:solidFill>
            <a:srgbClr val="1A1A24"/>
          </a:solidFill>
          <a:ln/>
        </p:spPr>
      </p:sp>
      <p:sp>
        <p:nvSpPr>
          <p:cNvPr id="23" name="Text 21"/>
          <p:cNvSpPr/>
          <p:nvPr/>
        </p:nvSpPr>
        <p:spPr>
          <a:xfrm>
            <a:off x="1097280" y="3977640"/>
            <a:ext cx="10058400"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 partner is visible for months, not a single day</a:t>
            </a:r>
            <a:endParaRPr lang="en-US" sz="1900" dirty="0"/>
          </a:p>
        </p:txBody>
      </p:sp>
      <p:sp>
        <p:nvSpPr>
          <p:cNvPr id="24" name="Text 22"/>
          <p:cNvSpPr/>
          <p:nvPr/>
        </p:nvSpPr>
        <p:spPr>
          <a:xfrm>
            <a:off x="1097280" y="4434840"/>
            <a:ext cx="9966960" cy="365760"/>
          </a:xfrm>
          <a:prstGeom prst="rect">
            <a:avLst/>
          </a:prstGeom>
          <a:noFill/>
          <a:ln/>
        </p:spPr>
        <p:txBody>
          <a:bodyPr wrap="square" lIns="0" tIns="0" rIns="0" bIns="0" rtlCol="0" anchor="ctr"/>
          <a:lstStyle/>
          <a:p>
            <a:pPr indent="0" marL="0">
              <a:buNone/>
            </a:pPr>
            <a:r>
              <a:rPr lang="en-US" sz="1350" dirty="0">
                <a:solidFill>
                  <a:srgbClr val="F4F1EA"/>
                </a:solidFill>
                <a:latin typeface="Calibri" pitchFamily="34" charset="0"/>
                <a:ea typeface="Calibri" pitchFamily="34" charset="-122"/>
                <a:cs typeface="Calibri" pitchFamily="34" charset="-120"/>
              </a:rPr>
              <a:t>The conference sits at the end of a year-round content programme. Two strands run into 29 October:</a:t>
            </a:r>
            <a:endParaRPr lang="en-US" sz="1350" dirty="0"/>
          </a:p>
        </p:txBody>
      </p:sp>
      <p:sp>
        <p:nvSpPr>
          <p:cNvPr id="25" name="Text 23"/>
          <p:cNvSpPr/>
          <p:nvPr/>
        </p:nvSpPr>
        <p:spPr>
          <a:xfrm>
            <a:off x="1097280" y="4983480"/>
            <a:ext cx="3246120" cy="320040"/>
          </a:xfrm>
          <a:prstGeom prst="rect">
            <a:avLst/>
          </a:prstGeom>
          <a:noFill/>
          <a:ln/>
        </p:spPr>
        <p:txBody>
          <a:bodyPr wrap="square" lIns="0" tIns="0" rIns="0" bIns="0" rtlCol="0" anchor="ctr"/>
          <a:lstStyle/>
          <a:p>
            <a:pPr indent="0" marL="0">
              <a:buNone/>
            </a:pPr>
            <a:r>
              <a:rPr lang="en-US" sz="1400" b="1" dirty="0">
                <a:solidFill>
                  <a:srgbClr val="C9922A"/>
                </a:solidFill>
                <a:latin typeface="Calibri" pitchFamily="34" charset="0"/>
                <a:ea typeface="Calibri" pitchFamily="34" charset="-122"/>
                <a:cs typeface="Calibri" pitchFamily="34" charset="-120"/>
              </a:rPr>
              <a:t>Book Wednesdays</a:t>
            </a:r>
            <a:endParaRPr lang="en-US" sz="1400" dirty="0"/>
          </a:p>
        </p:txBody>
      </p:sp>
      <p:sp>
        <p:nvSpPr>
          <p:cNvPr id="26" name="Text 24"/>
          <p:cNvSpPr/>
          <p:nvPr/>
        </p:nvSpPr>
        <p:spPr>
          <a:xfrm>
            <a:off x="1097280" y="5321808"/>
            <a:ext cx="3246120" cy="822960"/>
          </a:xfrm>
          <a:prstGeom prst="rect">
            <a:avLst/>
          </a:prstGeom>
          <a:noFill/>
          <a:ln/>
        </p:spPr>
        <p:txBody>
          <a:bodyPr wrap="square" lIns="0" tIns="0" rIns="0" bIns="0" rtlCol="0" anchor="t"/>
          <a:lstStyle/>
          <a:p>
            <a:pPr indent="0" marL="0">
              <a:lnSpc>
                <a:spcPts val="1700"/>
              </a:lnSpc>
              <a:buNone/>
            </a:pPr>
            <a:r>
              <a:rPr lang="en-US" sz="1250" dirty="0">
                <a:solidFill>
                  <a:srgbClr val="F4F1EA"/>
                </a:solidFill>
                <a:latin typeface="Calibri" pitchFamily="34" charset="0"/>
                <a:ea typeface="Calibri" pitchFamily="34" charset="-122"/>
                <a:cs typeface="Calibri" pitchFamily="34" charset="-120"/>
              </a:rPr>
              <a:t>Monthly webinar series running across the whole year.</a:t>
            </a:r>
            <a:endParaRPr lang="en-US" sz="1250" dirty="0"/>
          </a:p>
        </p:txBody>
      </p:sp>
      <p:sp>
        <p:nvSpPr>
          <p:cNvPr id="27" name="Text 25"/>
          <p:cNvSpPr/>
          <p:nvPr/>
        </p:nvSpPr>
        <p:spPr>
          <a:xfrm>
            <a:off x="4526280" y="4983480"/>
            <a:ext cx="3246120" cy="320040"/>
          </a:xfrm>
          <a:prstGeom prst="rect">
            <a:avLst/>
          </a:prstGeom>
          <a:noFill/>
          <a:ln/>
        </p:spPr>
        <p:txBody>
          <a:bodyPr wrap="square" lIns="0" tIns="0" rIns="0" bIns="0" rtlCol="0" anchor="ctr"/>
          <a:lstStyle/>
          <a:p>
            <a:pPr indent="0" marL="0">
              <a:buNone/>
            </a:pPr>
            <a:r>
              <a:rPr lang="en-US" sz="1400" b="1" dirty="0">
                <a:solidFill>
                  <a:srgbClr val="C9922A"/>
                </a:solidFill>
                <a:latin typeface="Calibri" pitchFamily="34" charset="0"/>
                <a:ea typeface="Calibri" pitchFamily="34" charset="-122"/>
                <a:cs typeface="Calibri" pitchFamily="34" charset="-120"/>
              </a:rPr>
              <a:t>Weekly Speaker Talks</a:t>
            </a:r>
            <a:endParaRPr lang="en-US" sz="1400" dirty="0"/>
          </a:p>
        </p:txBody>
      </p:sp>
      <p:sp>
        <p:nvSpPr>
          <p:cNvPr id="28" name="Text 26"/>
          <p:cNvSpPr/>
          <p:nvPr/>
        </p:nvSpPr>
        <p:spPr>
          <a:xfrm>
            <a:off x="4526280" y="5321808"/>
            <a:ext cx="3246120" cy="822960"/>
          </a:xfrm>
          <a:prstGeom prst="rect">
            <a:avLst/>
          </a:prstGeom>
          <a:noFill/>
          <a:ln/>
        </p:spPr>
        <p:txBody>
          <a:bodyPr wrap="square" lIns="0" tIns="0" rIns="0" bIns="0" rtlCol="0" anchor="t"/>
          <a:lstStyle/>
          <a:p>
            <a:pPr indent="0" marL="0">
              <a:lnSpc>
                <a:spcPts val="1700"/>
              </a:lnSpc>
              <a:buNone/>
            </a:pPr>
            <a:r>
              <a:rPr lang="en-US" sz="1250" dirty="0">
                <a:solidFill>
                  <a:srgbClr val="F4F1EA"/>
                </a:solidFill>
                <a:latin typeface="Calibri" pitchFamily="34" charset="0"/>
                <a:ea typeface="Calibri" pitchFamily="34" charset="-122"/>
                <a:cs typeface="Calibri" pitchFamily="34" charset="-120"/>
              </a:rPr>
              <a:t>Every Wednesday in the run-up, each previewing a speaker’s topic.</a:t>
            </a:r>
            <a:endParaRPr lang="en-US" sz="1250" dirty="0"/>
          </a:p>
        </p:txBody>
      </p:sp>
      <p:sp>
        <p:nvSpPr>
          <p:cNvPr id="29" name="Text 27"/>
          <p:cNvSpPr/>
          <p:nvPr/>
        </p:nvSpPr>
        <p:spPr>
          <a:xfrm>
            <a:off x="7955280" y="4983480"/>
            <a:ext cx="3246120" cy="320040"/>
          </a:xfrm>
          <a:prstGeom prst="rect">
            <a:avLst/>
          </a:prstGeom>
          <a:noFill/>
          <a:ln/>
        </p:spPr>
        <p:txBody>
          <a:bodyPr wrap="square" lIns="0" tIns="0" rIns="0" bIns="0" rtlCol="0" anchor="ctr"/>
          <a:lstStyle/>
          <a:p>
            <a:pPr indent="0" marL="0">
              <a:buNone/>
            </a:pPr>
            <a:r>
              <a:rPr lang="en-US" sz="1400" b="1" dirty="0">
                <a:solidFill>
                  <a:srgbClr val="C9922A"/>
                </a:solidFill>
                <a:latin typeface="Calibri" pitchFamily="34" charset="0"/>
                <a:ea typeface="Calibri" pitchFamily="34" charset="-122"/>
                <a:cs typeface="Calibri" pitchFamily="34" charset="-120"/>
              </a:rPr>
              <a:t>Impact reporting</a:t>
            </a:r>
            <a:endParaRPr lang="en-US" sz="1400" dirty="0"/>
          </a:p>
        </p:txBody>
      </p:sp>
      <p:sp>
        <p:nvSpPr>
          <p:cNvPr id="30" name="Text 28"/>
          <p:cNvSpPr/>
          <p:nvPr/>
        </p:nvSpPr>
        <p:spPr>
          <a:xfrm>
            <a:off x="7955280" y="5321808"/>
            <a:ext cx="3246120" cy="822960"/>
          </a:xfrm>
          <a:prstGeom prst="rect">
            <a:avLst/>
          </a:prstGeom>
          <a:noFill/>
          <a:ln/>
        </p:spPr>
        <p:txBody>
          <a:bodyPr wrap="square" lIns="0" tIns="0" rIns="0" bIns="0" rtlCol="0" anchor="t"/>
          <a:lstStyle/>
          <a:p>
            <a:pPr indent="0" marL="0">
              <a:lnSpc>
                <a:spcPts val="1700"/>
              </a:lnSpc>
              <a:buNone/>
            </a:pPr>
            <a:r>
              <a:rPr lang="en-US" sz="1250" dirty="0">
                <a:solidFill>
                  <a:srgbClr val="F4F1EA"/>
                </a:solidFill>
                <a:latin typeface="Calibri" pitchFamily="34" charset="0"/>
                <a:ea typeface="Calibri" pitchFamily="34" charset="-122"/>
                <a:cs typeface="Calibri" pitchFamily="34" charset="-120"/>
              </a:rPr>
              <a:t>Post-event reporting follows within the first week after.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9144000" cy="274320"/>
          </a:xfrm>
          <a:prstGeom prst="rect">
            <a:avLst/>
          </a:prstGeom>
          <a:noFill/>
          <a:ln/>
        </p:spPr>
        <p:txBody>
          <a:bodyPr wrap="square" lIns="0" tIns="0" rIns="0" bIns="0" rtlCol="0" anchor="ctr"/>
          <a:lstStyle/>
          <a:p>
            <a:pPr indent="0" marL="0">
              <a:buNone/>
            </a:pPr>
            <a:r>
              <a:rPr lang="en-US" sz="1100" b="1" spc="300" kern="0" dirty="0">
                <a:solidFill>
                  <a:srgbClr val="C9922A"/>
                </a:solidFill>
                <a:latin typeface="Calibri" pitchFamily="34" charset="0"/>
                <a:ea typeface="Calibri" pitchFamily="34" charset="-122"/>
                <a:cs typeface="Calibri" pitchFamily="34" charset="-120"/>
              </a:rPr>
              <a:t>WHAT WE BUILD TOGETHER</a:t>
            </a:r>
            <a:endParaRPr lang="en-US" sz="1100" dirty="0"/>
          </a:p>
        </p:txBody>
      </p:sp>
      <p:sp>
        <p:nvSpPr>
          <p:cNvPr id="3" name="Text 1"/>
          <p:cNvSpPr/>
          <p:nvPr/>
        </p:nvSpPr>
        <p:spPr>
          <a:xfrm>
            <a:off x="822960" y="960120"/>
            <a:ext cx="10515600" cy="822960"/>
          </a:xfrm>
          <a:prstGeom prst="rect">
            <a:avLst/>
          </a:prstGeom>
          <a:noFill/>
          <a:ln/>
        </p:spPr>
        <p:txBody>
          <a:bodyPr wrap="square" lIns="0" tIns="0" rIns="0" bIns="0" rtlCol="0" anchor="t"/>
          <a:lstStyle/>
          <a:p>
            <a:pPr indent="0" marL="0">
              <a:buNone/>
            </a:pPr>
            <a:r>
              <a:rPr lang="en-US" sz="3000" b="1" dirty="0">
                <a:solidFill>
                  <a:srgbClr val="1A1A24"/>
                </a:solidFill>
                <a:latin typeface="Cambria" pitchFamily="34" charset="0"/>
                <a:ea typeface="Cambria" pitchFamily="34" charset="-122"/>
                <a:cs typeface="Cambria" pitchFamily="34" charset="-120"/>
              </a:rPr>
              <a:t>One room, two audiences that both matter to Investec</a:t>
            </a:r>
            <a:endParaRPr lang="en-US" sz="3000" dirty="0"/>
          </a:p>
        </p:txBody>
      </p:sp>
      <p:sp>
        <p:nvSpPr>
          <p:cNvPr id="4" name="Text 2"/>
          <p:cNvSpPr/>
          <p:nvPr/>
        </p:nvSpPr>
        <p:spPr>
          <a:xfrm>
            <a:off x="822960" y="1737360"/>
            <a:ext cx="10515600" cy="365760"/>
          </a:xfrm>
          <a:prstGeom prst="rect">
            <a:avLst/>
          </a:prstGeom>
          <a:noFill/>
          <a:ln/>
        </p:spPr>
        <p:txBody>
          <a:bodyPr wrap="square" lIns="0" tIns="0" rIns="0" bIns="0" rtlCol="0" anchor="ctr"/>
          <a:lstStyle/>
          <a:p>
            <a:pPr indent="0" marL="0">
              <a:buNone/>
            </a:pPr>
            <a:r>
              <a:rPr lang="en-US" sz="1500" dirty="0">
                <a:solidFill>
                  <a:srgbClr val="23232E"/>
                </a:solidFill>
                <a:latin typeface="Calibri" pitchFamily="34" charset="0"/>
                <a:ea typeface="Calibri" pitchFamily="34" charset="-122"/>
                <a:cs typeface="Calibri" pitchFamily="34" charset="-120"/>
              </a:rPr>
              <a:t>Each audience gets something it could not easily get on its own. Both sit exactly where Investec already invests.</a:t>
            </a:r>
            <a:endParaRPr lang="en-US" sz="1500" dirty="0"/>
          </a:p>
        </p:txBody>
      </p:sp>
      <p:sp>
        <p:nvSpPr>
          <p:cNvPr id="5" name="Shape 3"/>
          <p:cNvSpPr/>
          <p:nvPr/>
        </p:nvSpPr>
        <p:spPr>
          <a:xfrm>
            <a:off x="822960" y="2331720"/>
            <a:ext cx="1371600" cy="1737360"/>
          </a:xfrm>
          <a:prstGeom prst="rect">
            <a:avLst/>
          </a:prstGeom>
          <a:solidFill>
            <a:srgbClr val="1A1A24"/>
          </a:solidFill>
          <a:ln/>
        </p:spPr>
      </p:sp>
      <p:sp>
        <p:nvSpPr>
          <p:cNvPr id="6" name="Text 4"/>
          <p:cNvSpPr/>
          <p:nvPr/>
        </p:nvSpPr>
        <p:spPr>
          <a:xfrm>
            <a:off x="822960" y="2880360"/>
            <a:ext cx="1371600" cy="640080"/>
          </a:xfrm>
          <a:prstGeom prst="rect">
            <a:avLst/>
          </a:prstGeom>
          <a:noFill/>
          <a:ln/>
        </p:spPr>
        <p:txBody>
          <a:bodyPr wrap="square" lIns="0" tIns="0" rIns="0" bIns="0" rtlCol="0" anchor="ctr"/>
          <a:lstStyle/>
          <a:p>
            <a:pPr algn="ctr" indent="0" marL="0">
              <a:buNone/>
            </a:pPr>
            <a:r>
              <a:rPr lang="en-US" sz="3400" b="1" dirty="0">
                <a:solidFill>
                  <a:srgbClr val="C9922A"/>
                </a:solidFill>
                <a:latin typeface="Cambria" pitchFamily="34" charset="0"/>
                <a:ea typeface="Cambria" pitchFamily="34" charset="-122"/>
                <a:cs typeface="Cambria" pitchFamily="34" charset="-120"/>
              </a:rPr>
              <a:t>01</a:t>
            </a:r>
            <a:endParaRPr lang="en-US" sz="3400" dirty="0"/>
          </a:p>
        </p:txBody>
      </p:sp>
      <p:sp>
        <p:nvSpPr>
          <p:cNvPr id="7" name="Shape 5"/>
          <p:cNvSpPr/>
          <p:nvPr/>
        </p:nvSpPr>
        <p:spPr>
          <a:xfrm>
            <a:off x="2194560" y="2331720"/>
            <a:ext cx="9171432" cy="1737360"/>
          </a:xfrm>
          <a:prstGeom prst="rect">
            <a:avLst/>
          </a:prstGeom>
          <a:solidFill>
            <a:srgbClr val="F4F1EA"/>
          </a:solidFill>
          <a:ln/>
        </p:spPr>
      </p:sp>
      <p:sp>
        <p:nvSpPr>
          <p:cNvPr id="8" name="Text 6"/>
          <p:cNvSpPr/>
          <p:nvPr/>
        </p:nvSpPr>
        <p:spPr>
          <a:xfrm>
            <a:off x="2468880" y="2514600"/>
            <a:ext cx="8686800" cy="411480"/>
          </a:xfrm>
          <a:prstGeom prst="rect">
            <a:avLst/>
          </a:prstGeom>
          <a:noFill/>
          <a:ln/>
        </p:spPr>
        <p:txBody>
          <a:bodyPr wrap="square" lIns="0" tIns="0" rIns="0" bIns="0" rtlCol="0" anchor="ctr"/>
          <a:lstStyle/>
          <a:p>
            <a:pPr indent="0" marL="0">
              <a:buNone/>
            </a:pPr>
            <a:r>
              <a:rPr lang="en-US" sz="1900" b="1" dirty="0">
                <a:solidFill>
                  <a:srgbClr val="1A1A24"/>
                </a:solidFill>
                <a:latin typeface="Cambria" pitchFamily="34" charset="0"/>
                <a:ea typeface="Cambria" pitchFamily="34" charset="-122"/>
                <a:cs typeface="Cambria" pitchFamily="34" charset="-120"/>
              </a:rPr>
              <a:t>The room itself</a:t>
            </a:r>
            <a:endParaRPr lang="en-US" sz="1900" dirty="0"/>
          </a:p>
        </p:txBody>
      </p:sp>
      <p:sp>
        <p:nvSpPr>
          <p:cNvPr id="9" name="Text 7"/>
          <p:cNvSpPr/>
          <p:nvPr/>
        </p:nvSpPr>
        <p:spPr>
          <a:xfrm>
            <a:off x="2468880" y="2953512"/>
            <a:ext cx="8732520" cy="1051560"/>
          </a:xfrm>
          <a:prstGeom prst="rect">
            <a:avLst/>
          </a:prstGeom>
          <a:noFill/>
          <a:ln/>
        </p:spPr>
        <p:txBody>
          <a:bodyPr wrap="square" lIns="0" tIns="0" rIns="0" bIns="0" rtlCol="0" anchor="t"/>
          <a:lstStyle/>
          <a:p>
            <a:pPr indent="0" marL="0">
              <a:lnSpc>
                <a:spcPts val="1800"/>
              </a:lnSpc>
              <a:buNone/>
            </a:pPr>
            <a:r>
              <a:rPr lang="en-US" sz="1350" dirty="0">
                <a:solidFill>
                  <a:srgbClr val="23232E"/>
                </a:solidFill>
                <a:latin typeface="Calibri" pitchFamily="34" charset="0"/>
                <a:ea typeface="Calibri" pitchFamily="34" charset="-122"/>
                <a:cs typeface="Calibri" pitchFamily="34" charset="-120"/>
              </a:rPr>
              <a:t>300 to 400 founders, CEOs, investors and advisors at the growth stage. The senior end of the market Investec’s private and business banking is built around, gathered in a setting designed for trust rather than transaction. Naming the room puts the brand where those relationships actually start.</a:t>
            </a:r>
            <a:endParaRPr lang="en-US" sz="1350" dirty="0"/>
          </a:p>
        </p:txBody>
      </p:sp>
      <p:sp>
        <p:nvSpPr>
          <p:cNvPr id="10" name="Shape 8"/>
          <p:cNvSpPr/>
          <p:nvPr/>
        </p:nvSpPr>
        <p:spPr>
          <a:xfrm>
            <a:off x="822960" y="4297680"/>
            <a:ext cx="1371600" cy="1737360"/>
          </a:xfrm>
          <a:prstGeom prst="rect">
            <a:avLst/>
          </a:prstGeom>
          <a:solidFill>
            <a:srgbClr val="1A1A24"/>
          </a:solidFill>
          <a:ln/>
        </p:spPr>
      </p:sp>
      <p:sp>
        <p:nvSpPr>
          <p:cNvPr id="11" name="Text 9"/>
          <p:cNvSpPr/>
          <p:nvPr/>
        </p:nvSpPr>
        <p:spPr>
          <a:xfrm>
            <a:off x="822960" y="4846320"/>
            <a:ext cx="1371600" cy="640080"/>
          </a:xfrm>
          <a:prstGeom prst="rect">
            <a:avLst/>
          </a:prstGeom>
          <a:noFill/>
          <a:ln/>
        </p:spPr>
        <p:txBody>
          <a:bodyPr wrap="square" lIns="0" tIns="0" rIns="0" bIns="0" rtlCol="0" anchor="ctr"/>
          <a:lstStyle/>
          <a:p>
            <a:pPr algn="ctr" indent="0" marL="0">
              <a:buNone/>
            </a:pPr>
            <a:r>
              <a:rPr lang="en-US" sz="3400" b="1" dirty="0">
                <a:solidFill>
                  <a:srgbClr val="C9922A"/>
                </a:solidFill>
                <a:latin typeface="Cambria" pitchFamily="34" charset="0"/>
                <a:ea typeface="Cambria" pitchFamily="34" charset="-122"/>
                <a:cs typeface="Cambria" pitchFamily="34" charset="-120"/>
              </a:rPr>
              <a:t>02</a:t>
            </a:r>
            <a:endParaRPr lang="en-US" sz="3400" dirty="0"/>
          </a:p>
        </p:txBody>
      </p:sp>
      <p:sp>
        <p:nvSpPr>
          <p:cNvPr id="12" name="Shape 10"/>
          <p:cNvSpPr/>
          <p:nvPr/>
        </p:nvSpPr>
        <p:spPr>
          <a:xfrm>
            <a:off x="2194560" y="4297680"/>
            <a:ext cx="9171432" cy="1737360"/>
          </a:xfrm>
          <a:prstGeom prst="rect">
            <a:avLst/>
          </a:prstGeom>
          <a:solidFill>
            <a:srgbClr val="F4F1EA"/>
          </a:solidFill>
          <a:ln/>
        </p:spPr>
      </p:sp>
      <p:sp>
        <p:nvSpPr>
          <p:cNvPr id="13" name="Text 11"/>
          <p:cNvSpPr/>
          <p:nvPr/>
        </p:nvSpPr>
        <p:spPr>
          <a:xfrm>
            <a:off x="2468880" y="4480560"/>
            <a:ext cx="8686800" cy="411480"/>
          </a:xfrm>
          <a:prstGeom prst="rect">
            <a:avLst/>
          </a:prstGeom>
          <a:noFill/>
          <a:ln/>
        </p:spPr>
        <p:txBody>
          <a:bodyPr wrap="square" lIns="0" tIns="0" rIns="0" bIns="0" rtlCol="0" anchor="ctr"/>
          <a:lstStyle/>
          <a:p>
            <a:pPr indent="0" marL="0">
              <a:buNone/>
            </a:pPr>
            <a:r>
              <a:rPr lang="en-US" sz="1900" b="1" dirty="0">
                <a:solidFill>
                  <a:srgbClr val="1A1A24"/>
                </a:solidFill>
                <a:latin typeface="Cambria" pitchFamily="34" charset="0"/>
                <a:ea typeface="Cambria" pitchFamily="34" charset="-122"/>
                <a:cs typeface="Cambria" pitchFamily="34" charset="-120"/>
              </a:rPr>
              <a:t>The next generation</a:t>
            </a:r>
            <a:endParaRPr lang="en-US" sz="1900" dirty="0"/>
          </a:p>
        </p:txBody>
      </p:sp>
      <p:sp>
        <p:nvSpPr>
          <p:cNvPr id="14" name="Text 12"/>
          <p:cNvSpPr/>
          <p:nvPr/>
        </p:nvSpPr>
        <p:spPr>
          <a:xfrm>
            <a:off x="2468880" y="4919472"/>
            <a:ext cx="8732520" cy="1051560"/>
          </a:xfrm>
          <a:prstGeom prst="rect">
            <a:avLst/>
          </a:prstGeom>
          <a:noFill/>
          <a:ln/>
        </p:spPr>
        <p:txBody>
          <a:bodyPr wrap="square" lIns="0" tIns="0" rIns="0" bIns="0" rtlCol="0" anchor="t"/>
          <a:lstStyle/>
          <a:p>
            <a:pPr indent="0" marL="0">
              <a:lnSpc>
                <a:spcPts val="1800"/>
              </a:lnSpc>
              <a:buNone/>
            </a:pPr>
            <a:r>
              <a:rPr lang="en-US" sz="1350" dirty="0">
                <a:solidFill>
                  <a:srgbClr val="23232E"/>
                </a:solidFill>
                <a:latin typeface="Calibri" pitchFamily="34" charset="0"/>
                <a:ea typeface="Calibri" pitchFamily="34" charset="-122"/>
                <a:cs typeface="Calibri" pitchFamily="34" charset="-120"/>
              </a:rPr>
              <a:t>Top matriculants from two Gauteng commerce-and-entrepreneurship Schools of Specialisation, hosted with the Gauteng Department of Education. A day in the room can shift what a seventeen-year-old believes is possible. It sits precisely where Investec’s own CSI already lives: education and entrepreneurship, along a pipeline from high school upward.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9144000" cy="274320"/>
          </a:xfrm>
          <a:prstGeom prst="rect">
            <a:avLst/>
          </a:prstGeom>
          <a:noFill/>
          <a:ln/>
        </p:spPr>
        <p:txBody>
          <a:bodyPr wrap="square" lIns="0" tIns="0" rIns="0" bIns="0" rtlCol="0" anchor="ctr"/>
          <a:lstStyle/>
          <a:p>
            <a:pPr indent="0" marL="0">
              <a:buNone/>
            </a:pPr>
            <a:r>
              <a:rPr lang="en-US" sz="1100" b="1" spc="300" kern="0" dirty="0">
                <a:solidFill>
                  <a:srgbClr val="C9922A"/>
                </a:solidFill>
                <a:latin typeface="Calibri" pitchFamily="34" charset="0"/>
                <a:ea typeface="Calibri" pitchFamily="34" charset="-122"/>
                <a:cs typeface="Calibri" pitchFamily="34" charset="-120"/>
              </a:rPr>
              <a:t>THE ALIGNMENT</a:t>
            </a:r>
            <a:endParaRPr lang="en-US" sz="1100" dirty="0"/>
          </a:p>
        </p:txBody>
      </p:sp>
      <p:sp>
        <p:nvSpPr>
          <p:cNvPr id="3" name="Text 1"/>
          <p:cNvSpPr/>
          <p:nvPr/>
        </p:nvSpPr>
        <p:spPr>
          <a:xfrm>
            <a:off x="822960" y="960120"/>
            <a:ext cx="10515600" cy="822960"/>
          </a:xfrm>
          <a:prstGeom prst="rect">
            <a:avLst/>
          </a:prstGeom>
          <a:noFill/>
          <a:ln/>
        </p:spPr>
        <p:txBody>
          <a:bodyPr wrap="square" lIns="0" tIns="0" rIns="0" bIns="0" rtlCol="0" anchor="t"/>
          <a:lstStyle/>
          <a:p>
            <a:pPr indent="0" marL="0">
              <a:buNone/>
            </a:pPr>
            <a:r>
              <a:rPr lang="en-US" sz="3000" b="1" dirty="0">
                <a:solidFill>
                  <a:srgbClr val="1A1A24"/>
                </a:solidFill>
                <a:latin typeface="Cambria" pitchFamily="34" charset="0"/>
                <a:ea typeface="Cambria" pitchFamily="34" charset="-122"/>
                <a:cs typeface="Cambria" pitchFamily="34" charset="-120"/>
              </a:rPr>
              <a:t>Why this fits Investec</a:t>
            </a:r>
            <a:endParaRPr lang="en-US" sz="3000" dirty="0"/>
          </a:p>
        </p:txBody>
      </p:sp>
      <p:sp>
        <p:nvSpPr>
          <p:cNvPr id="4" name="Shape 2"/>
          <p:cNvSpPr/>
          <p:nvPr/>
        </p:nvSpPr>
        <p:spPr>
          <a:xfrm>
            <a:off x="822960" y="1828800"/>
            <a:ext cx="3429000" cy="2148840"/>
          </a:xfrm>
          <a:prstGeom prst="rect">
            <a:avLst/>
          </a:prstGeom>
          <a:solidFill>
            <a:srgbClr val="F4F1EA"/>
          </a:solidFill>
          <a:ln/>
        </p:spPr>
      </p:sp>
      <p:sp>
        <p:nvSpPr>
          <p:cNvPr id="5" name="Text 3"/>
          <p:cNvSpPr/>
          <p:nvPr/>
        </p:nvSpPr>
        <p:spPr>
          <a:xfrm>
            <a:off x="1051560" y="2011680"/>
            <a:ext cx="3017520" cy="457200"/>
          </a:xfrm>
          <a:prstGeom prst="rect">
            <a:avLst/>
          </a:prstGeom>
          <a:noFill/>
          <a:ln/>
        </p:spPr>
        <p:txBody>
          <a:bodyPr wrap="square" lIns="0" tIns="0" rIns="0" bIns="0" rtlCol="0" anchor="ctr"/>
          <a:lstStyle/>
          <a:p>
            <a:pPr indent="0" marL="0">
              <a:buNone/>
            </a:pPr>
            <a:r>
              <a:rPr lang="en-US" sz="2100" b="1" dirty="0">
                <a:solidFill>
                  <a:srgbClr val="C9922A"/>
                </a:solidFill>
                <a:latin typeface="Cambria" pitchFamily="34" charset="0"/>
                <a:ea typeface="Cambria" pitchFamily="34" charset="-122"/>
                <a:cs typeface="Cambria" pitchFamily="34" charset="-120"/>
              </a:rPr>
              <a:t>Brand</a:t>
            </a:r>
            <a:endParaRPr lang="en-US" sz="2100" dirty="0"/>
          </a:p>
        </p:txBody>
      </p:sp>
      <p:sp>
        <p:nvSpPr>
          <p:cNvPr id="6" name="Text 4"/>
          <p:cNvSpPr/>
          <p:nvPr/>
        </p:nvSpPr>
        <p:spPr>
          <a:xfrm>
            <a:off x="1051560" y="2560320"/>
            <a:ext cx="3017520" cy="1325880"/>
          </a:xfrm>
          <a:prstGeom prst="rect">
            <a:avLst/>
          </a:prstGeom>
          <a:noFill/>
          <a:ln/>
        </p:spPr>
        <p:txBody>
          <a:bodyPr wrap="square" lIns="0" tIns="0" rIns="0" bIns="0" rtlCol="0" anchor="t"/>
          <a:lstStyle/>
          <a:p>
            <a:pPr indent="0" marL="0">
              <a:lnSpc>
                <a:spcPts val="1800"/>
              </a:lnSpc>
              <a:buNone/>
            </a:pPr>
            <a:r>
              <a:rPr lang="en-US" sz="1350" dirty="0">
                <a:solidFill>
                  <a:srgbClr val="23232E"/>
                </a:solidFill>
                <a:latin typeface="Calibri" pitchFamily="34" charset="0"/>
                <a:ea typeface="Calibri" pitchFamily="34" charset="-122"/>
                <a:cs typeface="Calibri" pitchFamily="34" charset="-120"/>
              </a:rPr>
              <a:t>Investec’s “Out of the Ordinary” positioning is built for a senior, high-trust audience. So is this room. Neither has to shout to reinforce the other.</a:t>
            </a:r>
            <a:endParaRPr lang="en-US" sz="1350" dirty="0"/>
          </a:p>
        </p:txBody>
      </p:sp>
      <p:sp>
        <p:nvSpPr>
          <p:cNvPr id="7" name="Shape 5"/>
          <p:cNvSpPr/>
          <p:nvPr/>
        </p:nvSpPr>
        <p:spPr>
          <a:xfrm>
            <a:off x="4434840" y="1828800"/>
            <a:ext cx="3429000" cy="2148840"/>
          </a:xfrm>
          <a:prstGeom prst="rect">
            <a:avLst/>
          </a:prstGeom>
          <a:solidFill>
            <a:srgbClr val="F4F1EA"/>
          </a:solidFill>
          <a:ln/>
        </p:spPr>
      </p:sp>
      <p:sp>
        <p:nvSpPr>
          <p:cNvPr id="8" name="Text 6"/>
          <p:cNvSpPr/>
          <p:nvPr/>
        </p:nvSpPr>
        <p:spPr>
          <a:xfrm>
            <a:off x="4663440" y="2011680"/>
            <a:ext cx="3017520" cy="457200"/>
          </a:xfrm>
          <a:prstGeom prst="rect">
            <a:avLst/>
          </a:prstGeom>
          <a:noFill/>
          <a:ln/>
        </p:spPr>
        <p:txBody>
          <a:bodyPr wrap="square" lIns="0" tIns="0" rIns="0" bIns="0" rtlCol="0" anchor="ctr"/>
          <a:lstStyle/>
          <a:p>
            <a:pPr indent="0" marL="0">
              <a:buNone/>
            </a:pPr>
            <a:r>
              <a:rPr lang="en-US" sz="2100" b="1" dirty="0">
                <a:solidFill>
                  <a:srgbClr val="C9922A"/>
                </a:solidFill>
                <a:latin typeface="Cambria" pitchFamily="34" charset="0"/>
                <a:ea typeface="Cambria" pitchFamily="34" charset="-122"/>
                <a:cs typeface="Cambria" pitchFamily="34" charset="-120"/>
              </a:rPr>
              <a:t>Access</a:t>
            </a:r>
            <a:endParaRPr lang="en-US" sz="2100" dirty="0"/>
          </a:p>
        </p:txBody>
      </p:sp>
      <p:sp>
        <p:nvSpPr>
          <p:cNvPr id="9" name="Text 7"/>
          <p:cNvSpPr/>
          <p:nvPr/>
        </p:nvSpPr>
        <p:spPr>
          <a:xfrm>
            <a:off x="4663440" y="2560320"/>
            <a:ext cx="3017520" cy="1325880"/>
          </a:xfrm>
          <a:prstGeom prst="rect">
            <a:avLst/>
          </a:prstGeom>
          <a:noFill/>
          <a:ln/>
        </p:spPr>
        <p:txBody>
          <a:bodyPr wrap="square" lIns="0" tIns="0" rIns="0" bIns="0" rtlCol="0" anchor="t"/>
          <a:lstStyle/>
          <a:p>
            <a:pPr indent="0" marL="0">
              <a:lnSpc>
                <a:spcPts val="1800"/>
              </a:lnSpc>
              <a:buNone/>
            </a:pPr>
            <a:r>
              <a:rPr lang="en-US" sz="1350" dirty="0">
                <a:solidFill>
                  <a:srgbClr val="23232E"/>
                </a:solidFill>
                <a:latin typeface="Calibri" pitchFamily="34" charset="0"/>
                <a:ea typeface="Calibri" pitchFamily="34" charset="-122"/>
                <a:cs typeface="Calibri" pitchFamily="34" charset="-120"/>
              </a:rPr>
              <a:t>The delegates are founders, CEOs, investors and advisors at the growth stage. Close to the exact segment Investec’s private and business banking is designed for.</a:t>
            </a:r>
            <a:endParaRPr lang="en-US" sz="1350" dirty="0"/>
          </a:p>
        </p:txBody>
      </p:sp>
      <p:sp>
        <p:nvSpPr>
          <p:cNvPr id="10" name="Shape 8"/>
          <p:cNvSpPr/>
          <p:nvPr/>
        </p:nvSpPr>
        <p:spPr>
          <a:xfrm>
            <a:off x="8046720" y="1828800"/>
            <a:ext cx="3429000" cy="2148840"/>
          </a:xfrm>
          <a:prstGeom prst="rect">
            <a:avLst/>
          </a:prstGeom>
          <a:solidFill>
            <a:srgbClr val="F4F1EA"/>
          </a:solidFill>
          <a:ln/>
        </p:spPr>
      </p:sp>
      <p:sp>
        <p:nvSpPr>
          <p:cNvPr id="11" name="Text 9"/>
          <p:cNvSpPr/>
          <p:nvPr/>
        </p:nvSpPr>
        <p:spPr>
          <a:xfrm>
            <a:off x="8275320" y="2011680"/>
            <a:ext cx="3017520" cy="457200"/>
          </a:xfrm>
          <a:prstGeom prst="rect">
            <a:avLst/>
          </a:prstGeom>
          <a:noFill/>
          <a:ln/>
        </p:spPr>
        <p:txBody>
          <a:bodyPr wrap="square" lIns="0" tIns="0" rIns="0" bIns="0" rtlCol="0" anchor="ctr"/>
          <a:lstStyle/>
          <a:p>
            <a:pPr indent="0" marL="0">
              <a:buNone/>
            </a:pPr>
            <a:r>
              <a:rPr lang="en-US" sz="2100" b="1" dirty="0">
                <a:solidFill>
                  <a:srgbClr val="C9922A"/>
                </a:solidFill>
                <a:latin typeface="Cambria" pitchFamily="34" charset="0"/>
                <a:ea typeface="Cambria" pitchFamily="34" charset="-122"/>
                <a:cs typeface="Cambria" pitchFamily="34" charset="-120"/>
              </a:rPr>
              <a:t>Purpose</a:t>
            </a:r>
            <a:endParaRPr lang="en-US" sz="2100" dirty="0"/>
          </a:p>
        </p:txBody>
      </p:sp>
      <p:sp>
        <p:nvSpPr>
          <p:cNvPr id="12" name="Text 10"/>
          <p:cNvSpPr/>
          <p:nvPr/>
        </p:nvSpPr>
        <p:spPr>
          <a:xfrm>
            <a:off x="8275320" y="2560320"/>
            <a:ext cx="3017520" cy="1325880"/>
          </a:xfrm>
          <a:prstGeom prst="rect">
            <a:avLst/>
          </a:prstGeom>
          <a:noFill/>
          <a:ln/>
        </p:spPr>
        <p:txBody>
          <a:bodyPr wrap="square" lIns="0" tIns="0" rIns="0" bIns="0" rtlCol="0" anchor="t"/>
          <a:lstStyle/>
          <a:p>
            <a:pPr indent="0" marL="0">
              <a:lnSpc>
                <a:spcPts val="1800"/>
              </a:lnSpc>
              <a:buNone/>
            </a:pPr>
            <a:r>
              <a:rPr lang="en-US" sz="1350" dirty="0">
                <a:solidFill>
                  <a:srgbClr val="23232E"/>
                </a:solidFill>
                <a:latin typeface="Calibri" pitchFamily="34" charset="0"/>
                <a:ea typeface="Calibri" pitchFamily="34" charset="-122"/>
                <a:cs typeface="Calibri" pitchFamily="34" charset="-120"/>
              </a:rPr>
              <a:t>Investec’s CSI concentrates on education and entrepreneurship, structured as a pipeline from high school upward. The matriculant stream slots straight in.</a:t>
            </a:r>
            <a:endParaRPr lang="en-US" sz="1350" dirty="0"/>
          </a:p>
        </p:txBody>
      </p:sp>
      <p:sp>
        <p:nvSpPr>
          <p:cNvPr id="13" name="Shape 11"/>
          <p:cNvSpPr/>
          <p:nvPr/>
        </p:nvSpPr>
        <p:spPr>
          <a:xfrm>
            <a:off x="822960" y="4343400"/>
            <a:ext cx="10543032" cy="1737360"/>
          </a:xfrm>
          <a:prstGeom prst="rect">
            <a:avLst/>
          </a:prstGeom>
          <a:solidFill>
            <a:srgbClr val="1A1A24"/>
          </a:solidFill>
          <a:ln/>
        </p:spPr>
      </p:sp>
      <p:sp>
        <p:nvSpPr>
          <p:cNvPr id="14" name="Text 12"/>
          <p:cNvSpPr/>
          <p:nvPr/>
        </p:nvSpPr>
        <p:spPr>
          <a:xfrm>
            <a:off x="1005840" y="4663440"/>
            <a:ext cx="3108960" cy="1097280"/>
          </a:xfrm>
          <a:prstGeom prst="rect">
            <a:avLst/>
          </a:prstGeom>
          <a:noFill/>
          <a:ln/>
        </p:spPr>
        <p:txBody>
          <a:bodyPr wrap="square" lIns="0" tIns="0" rIns="0" bIns="0" rtlCol="0" anchor="ctr"/>
          <a:lstStyle/>
          <a:p>
            <a:pPr algn="ctr" indent="0" marL="0">
              <a:buNone/>
            </a:pPr>
            <a:r>
              <a:rPr lang="en-US" sz="4600" b="1" dirty="0">
                <a:solidFill>
                  <a:srgbClr val="C9922A"/>
                </a:solidFill>
                <a:latin typeface="Cambria" pitchFamily="34" charset="0"/>
                <a:ea typeface="Cambria" pitchFamily="34" charset="-122"/>
                <a:cs typeface="Cambria" pitchFamily="34" charset="-120"/>
              </a:rPr>
              <a:t>70–80%</a:t>
            </a:r>
            <a:endParaRPr lang="en-US" sz="4600" dirty="0"/>
          </a:p>
        </p:txBody>
      </p:sp>
      <p:sp>
        <p:nvSpPr>
          <p:cNvPr id="15" name="Text 13"/>
          <p:cNvSpPr/>
          <p:nvPr/>
        </p:nvSpPr>
        <p:spPr>
          <a:xfrm>
            <a:off x="4297680" y="4709160"/>
            <a:ext cx="6858000" cy="1097280"/>
          </a:xfrm>
          <a:prstGeom prst="rect">
            <a:avLst/>
          </a:prstGeom>
          <a:noFill/>
          <a:ln/>
        </p:spPr>
        <p:txBody>
          <a:bodyPr wrap="square" lIns="0" tIns="0" rIns="0" bIns="0" rtlCol="0" anchor="ctr"/>
          <a:lstStyle/>
          <a:p>
            <a:pPr indent="0" marL="0">
              <a:lnSpc>
                <a:spcPts val="2100"/>
              </a:lnSpc>
              <a:buNone/>
            </a:pPr>
            <a:r>
              <a:rPr lang="en-US" sz="1500" dirty="0">
                <a:solidFill>
                  <a:srgbClr val="F4F1EA"/>
                </a:solidFill>
                <a:latin typeface="Calibri" pitchFamily="34" charset="0"/>
                <a:ea typeface="Calibri" pitchFamily="34" charset="-122"/>
                <a:cs typeface="Calibri" pitchFamily="34" charset="-120"/>
              </a:rPr>
              <a:t>of South African small businesses close within their first five years. That failure rate is the exact problem this room is built to chip away at, and the reason Build Resilience exists in the first place.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822960" y="685800"/>
            <a:ext cx="9144000" cy="274320"/>
          </a:xfrm>
          <a:prstGeom prst="rect">
            <a:avLst/>
          </a:prstGeom>
          <a:noFill/>
          <a:ln/>
        </p:spPr>
        <p:txBody>
          <a:bodyPr wrap="square" lIns="0" tIns="0" rIns="0" bIns="0" rtlCol="0" anchor="ctr"/>
          <a:lstStyle/>
          <a:p>
            <a:pPr indent="0" marL="0">
              <a:buNone/>
            </a:pPr>
            <a:r>
              <a:rPr lang="en-US" sz="1100" b="1" spc="300" kern="0" dirty="0">
                <a:solidFill>
                  <a:srgbClr val="C9922A"/>
                </a:solidFill>
                <a:latin typeface="Calibri" pitchFamily="34" charset="0"/>
                <a:ea typeface="Calibri" pitchFamily="34" charset="-122"/>
                <a:cs typeface="Calibri" pitchFamily="34" charset="-120"/>
              </a:rPr>
              <a:t>THE ASK</a:t>
            </a:r>
            <a:endParaRPr lang="en-US" sz="1100" dirty="0"/>
          </a:p>
        </p:txBody>
      </p:sp>
      <p:sp>
        <p:nvSpPr>
          <p:cNvPr id="3" name="Text 1"/>
          <p:cNvSpPr/>
          <p:nvPr/>
        </p:nvSpPr>
        <p:spPr>
          <a:xfrm>
            <a:off x="822960" y="1005840"/>
            <a:ext cx="10515600" cy="8229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we are asking Investec for</a:t>
            </a:r>
            <a:endParaRPr lang="en-US" sz="3000" dirty="0"/>
          </a:p>
        </p:txBody>
      </p:sp>
      <p:sp>
        <p:nvSpPr>
          <p:cNvPr id="4" name="Text 2"/>
          <p:cNvSpPr/>
          <p:nvPr/>
        </p:nvSpPr>
        <p:spPr>
          <a:xfrm>
            <a:off x="822960" y="1828800"/>
            <a:ext cx="6400800" cy="914400"/>
          </a:xfrm>
          <a:prstGeom prst="rect">
            <a:avLst/>
          </a:prstGeom>
          <a:noFill/>
          <a:ln/>
        </p:spPr>
        <p:txBody>
          <a:bodyPr wrap="square" lIns="0" tIns="0" rIns="0" bIns="0" rtlCol="0" anchor="ctr"/>
          <a:lstStyle/>
          <a:p>
            <a:pPr indent="0" marL="0">
              <a:lnSpc>
                <a:spcPts val="2300"/>
              </a:lnSpc>
              <a:buNone/>
            </a:pPr>
            <a:r>
              <a:rPr lang="en-US" sz="1600" dirty="0">
                <a:solidFill>
                  <a:srgbClr val="F4F1EA"/>
                </a:solidFill>
                <a:latin typeface="Calibri" pitchFamily="34" charset="0"/>
                <a:ea typeface="Calibri" pitchFamily="34" charset="-122"/>
                <a:cs typeface="Calibri" pitchFamily="34" charset="-120"/>
              </a:rPr>
              <a:t>Come on board as Title sponsor of the Building Resilience Annual Conference 2026. Our top tier, and only one is available.</a:t>
            </a:r>
            <a:endParaRPr lang="en-US" sz="1600" dirty="0"/>
          </a:p>
        </p:txBody>
      </p:sp>
      <p:sp>
        <p:nvSpPr>
          <p:cNvPr id="5" name="Text 3"/>
          <p:cNvSpPr/>
          <p:nvPr/>
        </p:nvSpPr>
        <p:spPr>
          <a:xfrm>
            <a:off x="822960" y="2834640"/>
            <a:ext cx="6400800" cy="2011680"/>
          </a:xfrm>
          <a:prstGeom prst="rect">
            <a:avLst/>
          </a:prstGeom>
          <a:noFill/>
          <a:ln/>
        </p:spPr>
        <p:txBody>
          <a:bodyPr wrap="square" lIns="0" tIns="0" rIns="0" bIns="0" rtlCol="0" anchor="t"/>
          <a:lstStyle/>
          <a:p>
            <a:pPr indent="0" marL="0">
              <a:lnSpc>
                <a:spcPts val="2200"/>
              </a:lnSpc>
              <a:buNone/>
            </a:pPr>
            <a:r>
              <a:rPr lang="en-US" sz="1500" b="1" dirty="0">
                <a:solidFill>
                  <a:srgbClr val="FFFFFF"/>
                </a:solidFill>
                <a:latin typeface="Calibri" pitchFamily="34" charset="0"/>
                <a:ea typeface="Calibri" pitchFamily="34" charset="-122"/>
                <a:cs typeface="Calibri" pitchFamily="34" charset="-120"/>
              </a:rPr>
              <a:t>In return, Investec takes:
</a:t>
            </a:r>
            <a:pPr indent="0" marL="0">
              <a:lnSpc>
                <a:spcPts val="2200"/>
              </a:lnSpc>
              <a:buNone/>
            </a:pPr>
            <a:r>
              <a:rPr lang="en-US" sz="1500" dirty="0">
                <a:solidFill>
                  <a:srgbClr val="F4F1EA"/>
                </a:solidFill>
                <a:latin typeface="Calibri" pitchFamily="34" charset="0"/>
                <a:ea typeface="Calibri" pitchFamily="34" charset="-122"/>
                <a:cs typeface="Calibri" pitchFamily="34" charset="-120"/>
              </a:rPr>
              <a:t>Naming rights to the conference · a ten-minute address from the main stage · premium branding across all collateral · five VIP delegate tickets · logo placement across every digital platform · a post-event impact report within five working days.</a:t>
            </a:r>
            <a:endParaRPr lang="en-US" sz="1500" dirty="0"/>
          </a:p>
        </p:txBody>
      </p:sp>
      <p:sp>
        <p:nvSpPr>
          <p:cNvPr id="6" name="Text 4"/>
          <p:cNvSpPr/>
          <p:nvPr/>
        </p:nvSpPr>
        <p:spPr>
          <a:xfrm>
            <a:off x="822960" y="5120640"/>
            <a:ext cx="6400800" cy="731520"/>
          </a:xfrm>
          <a:prstGeom prst="rect">
            <a:avLst/>
          </a:prstGeom>
          <a:noFill/>
          <a:ln/>
        </p:spPr>
        <p:txBody>
          <a:bodyPr wrap="square" lIns="0" tIns="0" rIns="0" bIns="0" rtlCol="0" anchor="ctr"/>
          <a:lstStyle/>
          <a:p>
            <a:pPr indent="0" marL="0">
              <a:buNone/>
            </a:pPr>
            <a:r>
              <a:rPr lang="en-US" sz="1250" dirty="0">
                <a:solidFill>
                  <a:srgbClr val="8A8A95"/>
                </a:solidFill>
                <a:latin typeface="Calibri" pitchFamily="34" charset="0"/>
                <a:ea typeface="Calibri" pitchFamily="34" charset="-122"/>
                <a:cs typeface="Calibri" pitchFamily="34" charset="-120"/>
              </a:rPr>
              <a:t>A bespoke package, above the Title tier or blended with an in-kind contribution, is open for discussion. [Bespoke value to confirm together.]</a:t>
            </a:r>
            <a:endParaRPr lang="en-US" sz="1250" dirty="0"/>
          </a:p>
        </p:txBody>
      </p:sp>
      <p:sp>
        <p:nvSpPr>
          <p:cNvPr id="7" name="Shape 5"/>
          <p:cNvSpPr/>
          <p:nvPr/>
        </p:nvSpPr>
        <p:spPr>
          <a:xfrm>
            <a:off x="7635240" y="2011680"/>
            <a:ext cx="3749040" cy="3291840"/>
          </a:xfrm>
          <a:prstGeom prst="rect">
            <a:avLst/>
          </a:prstGeom>
          <a:solidFill>
            <a:srgbClr val="24242F"/>
          </a:solidFill>
          <a:ln w="15875">
            <a:solidFill>
              <a:srgbClr val="C9922A"/>
            </a:solidFill>
            <a:prstDash val="solid"/>
          </a:ln>
        </p:spPr>
      </p:sp>
      <p:sp>
        <p:nvSpPr>
          <p:cNvPr id="8" name="Text 6"/>
          <p:cNvSpPr/>
          <p:nvPr/>
        </p:nvSpPr>
        <p:spPr>
          <a:xfrm>
            <a:off x="7635240" y="2377440"/>
            <a:ext cx="3749040" cy="365760"/>
          </a:xfrm>
          <a:prstGeom prst="rect">
            <a:avLst/>
          </a:prstGeom>
          <a:noFill/>
          <a:ln/>
        </p:spPr>
        <p:txBody>
          <a:bodyPr wrap="square" lIns="0" tIns="0" rIns="0" bIns="0" rtlCol="0" anchor="ctr"/>
          <a:lstStyle/>
          <a:p>
            <a:pPr algn="ctr" indent="0" marL="0">
              <a:buNone/>
            </a:pPr>
            <a:r>
              <a:rPr lang="en-US" sz="1300" b="1" spc="300" kern="0" dirty="0">
                <a:solidFill>
                  <a:srgbClr val="C9922A"/>
                </a:solidFill>
                <a:latin typeface="Calibri" pitchFamily="34" charset="0"/>
                <a:ea typeface="Calibri" pitchFamily="34" charset="-122"/>
                <a:cs typeface="Calibri" pitchFamily="34" charset="-120"/>
              </a:rPr>
              <a:t>TITLE / PLATINUM</a:t>
            </a:r>
            <a:endParaRPr lang="en-US" sz="1300" dirty="0"/>
          </a:p>
        </p:txBody>
      </p:sp>
      <p:sp>
        <p:nvSpPr>
          <p:cNvPr id="9" name="Text 7"/>
          <p:cNvSpPr/>
          <p:nvPr/>
        </p:nvSpPr>
        <p:spPr>
          <a:xfrm>
            <a:off x="7635240" y="2926080"/>
            <a:ext cx="3749040" cy="91440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R85,000</a:t>
            </a:r>
            <a:endParaRPr lang="en-US" sz="5200" dirty="0"/>
          </a:p>
        </p:txBody>
      </p:sp>
      <p:sp>
        <p:nvSpPr>
          <p:cNvPr id="10" name="Text 8"/>
          <p:cNvSpPr/>
          <p:nvPr/>
        </p:nvSpPr>
        <p:spPr>
          <a:xfrm>
            <a:off x="7635240" y="3931920"/>
            <a:ext cx="3749040" cy="365760"/>
          </a:xfrm>
          <a:prstGeom prst="rect">
            <a:avLst/>
          </a:prstGeom>
          <a:noFill/>
          <a:ln/>
        </p:spPr>
        <p:txBody>
          <a:bodyPr wrap="square" lIns="0" tIns="0" rIns="0" bIns="0" rtlCol="0" anchor="ctr"/>
          <a:lstStyle/>
          <a:p>
            <a:pPr algn="ctr" indent="0" marL="0">
              <a:buNone/>
            </a:pPr>
            <a:r>
              <a:rPr lang="en-US" sz="1500" dirty="0">
                <a:solidFill>
                  <a:srgbClr val="F4F1EA"/>
                </a:solidFill>
                <a:latin typeface="Calibri" pitchFamily="34" charset="0"/>
                <a:ea typeface="Calibri" pitchFamily="34" charset="-122"/>
                <a:cs typeface="Calibri" pitchFamily="34" charset="-120"/>
              </a:rPr>
              <a:t>1 available</a:t>
            </a:r>
            <a:endParaRPr lang="en-US" sz="1500" dirty="0"/>
          </a:p>
        </p:txBody>
      </p:sp>
      <p:sp>
        <p:nvSpPr>
          <p:cNvPr id="11" name="Shape 9"/>
          <p:cNvSpPr/>
          <p:nvPr/>
        </p:nvSpPr>
        <p:spPr>
          <a:xfrm>
            <a:off x="8321040" y="4434840"/>
            <a:ext cx="2377440" cy="0"/>
          </a:xfrm>
          <a:prstGeom prst="line">
            <a:avLst/>
          </a:prstGeom>
          <a:noFill/>
          <a:ln w="12700">
            <a:solidFill>
              <a:srgbClr val="C9922A"/>
            </a:solidFill>
            <a:prstDash val="solid"/>
          </a:ln>
        </p:spPr>
      </p:sp>
      <p:sp>
        <p:nvSpPr>
          <p:cNvPr id="12" name="Text 10"/>
          <p:cNvSpPr/>
          <p:nvPr/>
        </p:nvSpPr>
        <p:spPr>
          <a:xfrm>
            <a:off x="7635240" y="4572000"/>
            <a:ext cx="3749040" cy="548640"/>
          </a:xfrm>
          <a:prstGeom prst="rect">
            <a:avLst/>
          </a:prstGeom>
          <a:noFill/>
          <a:ln/>
        </p:spPr>
        <p:txBody>
          <a:bodyPr wrap="square" lIns="0" tIns="0" rIns="0" bIns="0" rtlCol="0" anchor="ctr"/>
          <a:lstStyle/>
          <a:p>
            <a:pPr algn="ctr" indent="0" marL="0">
              <a:buNone/>
            </a:pPr>
            <a:r>
              <a:rPr lang="en-US" sz="1400" dirty="0">
                <a:solidFill>
                  <a:srgbClr val="E4B44C"/>
                </a:solidFill>
                <a:latin typeface="Cambria" pitchFamily="34" charset="0"/>
                <a:ea typeface="Cambria" pitchFamily="34" charset="-122"/>
                <a:cs typeface="Cambria" pitchFamily="34" charset="-120"/>
              </a:rPr>
              <a:t>The single name above the room.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9144000" cy="274320"/>
          </a:xfrm>
          <a:prstGeom prst="rect">
            <a:avLst/>
          </a:prstGeom>
          <a:noFill/>
          <a:ln/>
        </p:spPr>
        <p:txBody>
          <a:bodyPr wrap="square" lIns="0" tIns="0" rIns="0" bIns="0" rtlCol="0" anchor="ctr"/>
          <a:lstStyle/>
          <a:p>
            <a:pPr indent="0" marL="0">
              <a:buNone/>
            </a:pPr>
            <a:r>
              <a:rPr lang="en-US" sz="1100" b="1" spc="300" kern="0" dirty="0">
                <a:solidFill>
                  <a:srgbClr val="C9922A"/>
                </a:solidFill>
                <a:latin typeface="Calibri" pitchFamily="34" charset="0"/>
                <a:ea typeface="Calibri" pitchFamily="34" charset="-122"/>
                <a:cs typeface="Calibri" pitchFamily="34" charset="-120"/>
              </a:rPr>
              <a:t>RECOGNITION</a:t>
            </a:r>
            <a:endParaRPr lang="en-US" sz="1100" dirty="0"/>
          </a:p>
        </p:txBody>
      </p:sp>
      <p:sp>
        <p:nvSpPr>
          <p:cNvPr id="3" name="Text 1"/>
          <p:cNvSpPr/>
          <p:nvPr/>
        </p:nvSpPr>
        <p:spPr>
          <a:xfrm>
            <a:off x="822960" y="960120"/>
            <a:ext cx="10515600" cy="822960"/>
          </a:xfrm>
          <a:prstGeom prst="rect">
            <a:avLst/>
          </a:prstGeom>
          <a:noFill/>
          <a:ln/>
        </p:spPr>
        <p:txBody>
          <a:bodyPr wrap="square" lIns="0" tIns="0" rIns="0" bIns="0" rtlCol="0" anchor="t"/>
          <a:lstStyle/>
          <a:p>
            <a:pPr indent="0" marL="0">
              <a:buNone/>
            </a:pPr>
            <a:r>
              <a:rPr lang="en-US" sz="3000" b="1" dirty="0">
                <a:solidFill>
                  <a:srgbClr val="1A1A24"/>
                </a:solidFill>
                <a:latin typeface="Cambria" pitchFamily="34" charset="0"/>
                <a:ea typeface="Cambria" pitchFamily="34" charset="-122"/>
                <a:cs typeface="Cambria" pitchFamily="34" charset="-120"/>
              </a:rPr>
              <a:t>What Investec receives</a:t>
            </a:r>
            <a:endParaRPr lang="en-US" sz="3000" dirty="0"/>
          </a:p>
        </p:txBody>
      </p:sp>
      <p:sp>
        <p:nvSpPr>
          <p:cNvPr id="4" name="Text 2"/>
          <p:cNvSpPr/>
          <p:nvPr/>
        </p:nvSpPr>
        <p:spPr>
          <a:xfrm>
            <a:off x="822960" y="1828800"/>
            <a:ext cx="5074920" cy="2377440"/>
          </a:xfrm>
          <a:prstGeom prst="rect">
            <a:avLst/>
          </a:prstGeom>
          <a:noFill/>
          <a:ln/>
        </p:spPr>
        <p:txBody>
          <a:bodyPr wrap="square" lIns="0" tIns="0" rIns="0" bIns="0" rtlCol="0" anchor="t"/>
          <a:lstStyle/>
          <a:p>
            <a:pPr marL="228600" indent="-228600">
              <a:lnSpc>
                <a:spcPts val="1900"/>
              </a:lnSpc>
              <a:spcAft>
                <a:spcPts val="1200"/>
              </a:spcAft>
              <a:buSzPct val="100000"/>
              <a:buChar char="–"/>
            </a:pPr>
            <a:r>
              <a:rPr lang="en-US" sz="1450" dirty="0">
                <a:solidFill>
                  <a:srgbClr val="23232E"/>
                </a:solidFill>
                <a:latin typeface="Calibri" pitchFamily="34" charset="0"/>
                <a:ea typeface="Calibri" pitchFamily="34" charset="-122"/>
                <a:cs typeface="Calibri" pitchFamily="34" charset="-120"/>
              </a:rPr>
              <a:t>Naming rights to the conference, across all conference materials.</a:t>
            </a:r>
            <a:endParaRPr lang="en-US" sz="1450" dirty="0"/>
          </a:p>
          <a:p>
            <a:pPr marL="228600" indent="-228600">
              <a:lnSpc>
                <a:spcPts val="1900"/>
              </a:lnSpc>
              <a:spcAft>
                <a:spcPts val="1200"/>
              </a:spcAft>
              <a:buSzPct val="100000"/>
              <a:buChar char="–"/>
            </a:pPr>
            <a:r>
              <a:rPr lang="en-US" sz="1450" dirty="0">
                <a:solidFill>
                  <a:srgbClr val="23232E"/>
                </a:solidFill>
                <a:latin typeface="Calibri" pitchFamily="34" charset="0"/>
                <a:ea typeface="Calibri" pitchFamily="34" charset="-122"/>
                <a:cs typeface="Calibri" pitchFamily="34" charset="-120"/>
              </a:rPr>
              <a:t>A ten-minute address from the main stage.</a:t>
            </a:r>
            <a:endParaRPr lang="en-US" sz="1450" dirty="0"/>
          </a:p>
          <a:p>
            <a:pPr marL="228600" indent="-228600">
              <a:lnSpc>
                <a:spcPts val="1900"/>
              </a:lnSpc>
              <a:spcAft>
                <a:spcPts val="1200"/>
              </a:spcAft>
              <a:buSzPct val="100000"/>
              <a:buChar char="–"/>
            </a:pPr>
            <a:r>
              <a:rPr lang="en-US" sz="1450" dirty="0">
                <a:solidFill>
                  <a:srgbClr val="23232E"/>
                </a:solidFill>
                <a:latin typeface="Calibri" pitchFamily="34" charset="0"/>
                <a:ea typeface="Calibri" pitchFamily="34" charset="-122"/>
                <a:cs typeface="Calibri" pitchFamily="34" charset="-120"/>
              </a:rPr>
              <a:t>Premium branding across all event collateral, print and digital.</a:t>
            </a:r>
            <a:endParaRPr lang="en-US" sz="1450" dirty="0"/>
          </a:p>
          <a:p>
            <a:pPr marL="228600" indent="-228600">
              <a:lnSpc>
                <a:spcPts val="1900"/>
              </a:lnSpc>
              <a:spcAft>
                <a:spcPts val="1200"/>
              </a:spcAft>
              <a:buSzPct val="100000"/>
              <a:buChar char="–"/>
            </a:pPr>
            <a:r>
              <a:rPr lang="en-US" sz="1450" dirty="0">
                <a:solidFill>
                  <a:srgbClr val="23232E"/>
                </a:solidFill>
                <a:latin typeface="Calibri" pitchFamily="34" charset="0"/>
                <a:ea typeface="Calibri" pitchFamily="34" charset="-122"/>
                <a:cs typeface="Calibri" pitchFamily="34" charset="-120"/>
              </a:rPr>
              <a:t>Five VIP delegate tickets for the conference.</a:t>
            </a:r>
            <a:endParaRPr lang="en-US" sz="1450" dirty="0"/>
          </a:p>
        </p:txBody>
      </p:sp>
      <p:sp>
        <p:nvSpPr>
          <p:cNvPr id="5" name="Text 3"/>
          <p:cNvSpPr/>
          <p:nvPr/>
        </p:nvSpPr>
        <p:spPr>
          <a:xfrm>
            <a:off x="6309360" y="1828800"/>
            <a:ext cx="5074920" cy="2377440"/>
          </a:xfrm>
          <a:prstGeom prst="rect">
            <a:avLst/>
          </a:prstGeom>
          <a:noFill/>
          <a:ln/>
        </p:spPr>
        <p:txBody>
          <a:bodyPr wrap="square" lIns="0" tIns="0" rIns="0" bIns="0" rtlCol="0" anchor="t"/>
          <a:lstStyle/>
          <a:p>
            <a:pPr marL="228600" indent="-228600">
              <a:lnSpc>
                <a:spcPts val="1900"/>
              </a:lnSpc>
              <a:spcAft>
                <a:spcPts val="1200"/>
              </a:spcAft>
              <a:buSzPct val="100000"/>
              <a:buChar char="–"/>
            </a:pPr>
            <a:r>
              <a:rPr lang="en-US" sz="1450" dirty="0">
                <a:solidFill>
                  <a:srgbClr val="23232E"/>
                </a:solidFill>
                <a:latin typeface="Calibri" pitchFamily="34" charset="0"/>
                <a:ea typeface="Calibri" pitchFamily="34" charset="-122"/>
                <a:cs typeface="Calibri" pitchFamily="34" charset="-120"/>
              </a:rPr>
              <a:t>Logo placement across all digital platforms and social channels.</a:t>
            </a:r>
            <a:endParaRPr lang="en-US" sz="1450" dirty="0"/>
          </a:p>
          <a:p>
            <a:pPr marL="228600" indent="-228600">
              <a:lnSpc>
                <a:spcPts val="1900"/>
              </a:lnSpc>
              <a:spcAft>
                <a:spcPts val="1200"/>
              </a:spcAft>
              <a:buSzPct val="100000"/>
              <a:buChar char="–"/>
            </a:pPr>
            <a:r>
              <a:rPr lang="en-US" sz="1450" dirty="0">
                <a:solidFill>
                  <a:srgbClr val="23232E"/>
                </a:solidFill>
                <a:latin typeface="Calibri" pitchFamily="34" charset="0"/>
                <a:ea typeface="Calibri" pitchFamily="34" charset="-122"/>
                <a:cs typeface="Calibri" pitchFamily="34" charset="-120"/>
              </a:rPr>
              <a:t>Dedicated mentions across the weekly Speaker Talks series.</a:t>
            </a:r>
            <a:endParaRPr lang="en-US" sz="1450" dirty="0"/>
          </a:p>
          <a:p>
            <a:pPr marL="228600" indent="-228600">
              <a:lnSpc>
                <a:spcPts val="1900"/>
              </a:lnSpc>
              <a:spcAft>
                <a:spcPts val="1200"/>
              </a:spcAft>
              <a:buSzPct val="100000"/>
              <a:buChar char="–"/>
            </a:pPr>
            <a:r>
              <a:rPr lang="en-US" sz="1450" dirty="0">
                <a:solidFill>
                  <a:srgbClr val="23232E"/>
                </a:solidFill>
                <a:latin typeface="Calibri" pitchFamily="34" charset="0"/>
                <a:ea typeface="Calibri" pitchFamily="34" charset="-122"/>
                <a:cs typeface="Calibri" pitchFamily="34" charset="-120"/>
              </a:rPr>
              <a:t>A post-event impact report within five working days.</a:t>
            </a:r>
            <a:endParaRPr lang="en-US" sz="1450" dirty="0"/>
          </a:p>
          <a:p>
            <a:pPr marL="228600" indent="-228600">
              <a:lnSpc>
                <a:spcPts val="1900"/>
              </a:lnSpc>
              <a:spcAft>
                <a:spcPts val="1200"/>
              </a:spcAft>
              <a:buSzPct val="100000"/>
              <a:buChar char="–"/>
            </a:pPr>
            <a:r>
              <a:rPr lang="en-US" sz="1450" dirty="0">
                <a:solidFill>
                  <a:srgbClr val="23232E"/>
                </a:solidFill>
                <a:latin typeface="Calibri" pitchFamily="34" charset="0"/>
                <a:ea typeface="Calibri" pitchFamily="34" charset="-122"/>
                <a:cs typeface="Calibri" pitchFamily="34" charset="-120"/>
              </a:rPr>
              <a:t>First right of refusal on the Title sponsorship of 2027.</a:t>
            </a:r>
            <a:endParaRPr lang="en-US" sz="1450" dirty="0"/>
          </a:p>
        </p:txBody>
      </p:sp>
      <p:sp>
        <p:nvSpPr>
          <p:cNvPr id="6" name="Shape 4"/>
          <p:cNvSpPr/>
          <p:nvPr/>
        </p:nvSpPr>
        <p:spPr>
          <a:xfrm>
            <a:off x="822960" y="4526280"/>
            <a:ext cx="10543032" cy="1417320"/>
          </a:xfrm>
          <a:prstGeom prst="rect">
            <a:avLst/>
          </a:prstGeom>
          <a:solidFill>
            <a:srgbClr val="1A1A24"/>
          </a:solidFill>
          <a:ln/>
        </p:spPr>
      </p:sp>
      <p:sp>
        <p:nvSpPr>
          <p:cNvPr id="7" name="Text 5"/>
          <p:cNvSpPr/>
          <p:nvPr/>
        </p:nvSpPr>
        <p:spPr>
          <a:xfrm>
            <a:off x="1097280" y="4754880"/>
            <a:ext cx="10058400" cy="365760"/>
          </a:xfrm>
          <a:prstGeom prst="rect">
            <a:avLst/>
          </a:prstGeom>
          <a:noFill/>
          <a:ln/>
        </p:spPr>
        <p:txBody>
          <a:bodyPr wrap="square" lIns="0" tIns="0" rIns="0" bIns="0" rtlCol="0" anchor="ctr"/>
          <a:lstStyle/>
          <a:p>
            <a:pPr indent="0" marL="0">
              <a:buNone/>
            </a:pPr>
            <a:r>
              <a:rPr lang="en-US" sz="1400" dirty="0">
                <a:solidFill>
                  <a:srgbClr val="8A8A95"/>
                </a:solidFill>
                <a:latin typeface="Calibri" pitchFamily="34" charset="0"/>
                <a:ea typeface="Calibri" pitchFamily="34" charset="-122"/>
                <a:cs typeface="Calibri" pitchFamily="34" charset="-120"/>
              </a:rPr>
              <a:t>And the part that does not fit on a benefits list:</a:t>
            </a:r>
            <a:endParaRPr lang="en-US" sz="1400" dirty="0"/>
          </a:p>
        </p:txBody>
      </p:sp>
      <p:sp>
        <p:nvSpPr>
          <p:cNvPr id="8" name="Text 6"/>
          <p:cNvSpPr/>
          <p:nvPr/>
        </p:nvSpPr>
        <p:spPr>
          <a:xfrm>
            <a:off x="1097280" y="5120640"/>
            <a:ext cx="9966960" cy="640080"/>
          </a:xfrm>
          <a:prstGeom prst="rect">
            <a:avLst/>
          </a:prstGeom>
          <a:noFill/>
          <a:ln/>
        </p:spPr>
        <p:txBody>
          <a:bodyPr wrap="square" lIns="0" tIns="0" rIns="0" bIns="0" rtlCol="0" anchor="ctr"/>
          <a:lstStyle/>
          <a:p>
            <a:pPr indent="0" marL="0">
              <a:buNone/>
            </a:pPr>
            <a:r>
              <a:rPr lang="en-US" sz="1800" dirty="0">
                <a:solidFill>
                  <a:srgbClr val="E4B44C"/>
                </a:solidFill>
                <a:latin typeface="Cambria" pitchFamily="34" charset="0"/>
                <a:ea typeface="Cambria" pitchFamily="34" charset="-122"/>
                <a:cs typeface="Cambria" pitchFamily="34" charset="-120"/>
              </a:rPr>
              <a:t>A group of Gauteng matriculants hosted in the room, credited to Investec. A genuine development outcome, not a line item.</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48640"/>
            <a:ext cx="9144000" cy="274320"/>
          </a:xfrm>
          <a:prstGeom prst="rect">
            <a:avLst/>
          </a:prstGeom>
          <a:noFill/>
          <a:ln/>
        </p:spPr>
        <p:txBody>
          <a:bodyPr wrap="square" lIns="0" tIns="0" rIns="0" bIns="0" rtlCol="0" anchor="ctr"/>
          <a:lstStyle/>
          <a:p>
            <a:pPr indent="0" marL="0">
              <a:buNone/>
            </a:pPr>
            <a:r>
              <a:rPr lang="en-US" sz="1100" b="1" spc="300" kern="0" dirty="0">
                <a:solidFill>
                  <a:srgbClr val="C9922A"/>
                </a:solidFill>
                <a:latin typeface="Calibri" pitchFamily="34" charset="0"/>
                <a:ea typeface="Calibri" pitchFamily="34" charset="-122"/>
                <a:cs typeface="Calibri" pitchFamily="34" charset="-120"/>
              </a:rPr>
              <a:t>THE FULL PICTURE</a:t>
            </a:r>
            <a:endParaRPr lang="en-US" sz="1100" dirty="0"/>
          </a:p>
        </p:txBody>
      </p:sp>
      <p:sp>
        <p:nvSpPr>
          <p:cNvPr id="3" name="Text 1"/>
          <p:cNvSpPr/>
          <p:nvPr/>
        </p:nvSpPr>
        <p:spPr>
          <a:xfrm>
            <a:off x="822960" y="868680"/>
            <a:ext cx="10515600" cy="822960"/>
          </a:xfrm>
          <a:prstGeom prst="rect">
            <a:avLst/>
          </a:prstGeom>
          <a:noFill/>
          <a:ln/>
        </p:spPr>
        <p:txBody>
          <a:bodyPr wrap="square" lIns="0" tIns="0" rIns="0" bIns="0" rtlCol="0" anchor="t"/>
          <a:lstStyle/>
          <a:p>
            <a:pPr indent="0" marL="0">
              <a:buNone/>
            </a:pPr>
            <a:r>
              <a:rPr lang="en-US" sz="3000" b="1" dirty="0">
                <a:solidFill>
                  <a:srgbClr val="1A1A24"/>
                </a:solidFill>
                <a:latin typeface="Cambria" pitchFamily="34" charset="0"/>
                <a:ea typeface="Cambria" pitchFamily="34" charset="-122"/>
                <a:cs typeface="Cambria" pitchFamily="34" charset="-120"/>
              </a:rPr>
              <a:t>Sponsorship tiers</a:t>
            </a:r>
            <a:endParaRPr lang="en-US" sz="3000" dirty="0"/>
          </a:p>
        </p:txBody>
      </p:sp>
      <p:sp>
        <p:nvSpPr>
          <p:cNvPr id="4" name="Text 2"/>
          <p:cNvSpPr/>
          <p:nvPr/>
        </p:nvSpPr>
        <p:spPr>
          <a:xfrm>
            <a:off x="822960" y="1600200"/>
            <a:ext cx="10515600" cy="365760"/>
          </a:xfrm>
          <a:prstGeom prst="rect">
            <a:avLst/>
          </a:prstGeom>
          <a:noFill/>
          <a:ln/>
        </p:spPr>
        <p:txBody>
          <a:bodyPr wrap="square" lIns="0" tIns="0" rIns="0" bIns="0" rtlCol="0" anchor="ctr"/>
          <a:lstStyle/>
          <a:p>
            <a:pPr indent="0" marL="0">
              <a:buNone/>
            </a:pPr>
            <a:r>
              <a:rPr lang="en-US" sz="1400" dirty="0">
                <a:solidFill>
                  <a:srgbClr val="23232E"/>
                </a:solidFill>
                <a:latin typeface="Calibri" pitchFamily="34" charset="0"/>
                <a:ea typeface="Calibri" pitchFamily="34" charset="-122"/>
                <a:cs typeface="Calibri" pitchFamily="34" charset="-120"/>
              </a:rPr>
              <a:t>The Title tier is the one we are proposing to Investec. The full menu is below.</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2960" y="2148840"/>
          <a:ext cx="10543032" cy="914400"/>
        </p:xfrm>
        <a:graphic>
          <a:graphicData uri="http://schemas.openxmlformats.org/drawingml/2006/table">
            <a:tbl>
              <a:tblPr/>
              <a:tblGrid>
                <a:gridCol w="2103120"/>
                <a:gridCol w="1920240"/>
                <a:gridCol w="914400"/>
                <a:gridCol w="5605272"/>
              </a:tblGrid>
              <a:tr h="36576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Tier</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Investment</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Avail.</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includes</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1A1A24"/>
                          </a:solidFill>
                          <a:latin typeface="Calibri" pitchFamily="34" charset="0"/>
                          <a:ea typeface="Calibri" pitchFamily="34" charset="-122"/>
                          <a:cs typeface="Calibri" pitchFamily="34" charset="-120"/>
                        </a:rPr>
                        <a:t>Title / Platinum</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3E6CC"/>
                    </a:solidFill>
                  </a:tcPr>
                </a:tc>
                <a:tc>
                  <a:txBody>
                    <a:bodyPr/>
                    <a:lstStyle/>
                    <a:p>
                      <a:pPr indent="0" marL="0">
                        <a:buNone/>
                      </a:pPr>
                      <a:r>
                        <a:rPr lang="en-US" sz="1350" b="1" dirty="0">
                          <a:solidFill>
                            <a:srgbClr val="C9922A"/>
                          </a:solidFill>
                          <a:latin typeface="Calibri" pitchFamily="34" charset="0"/>
                          <a:ea typeface="Calibri" pitchFamily="34" charset="-122"/>
                          <a:cs typeface="Calibri" pitchFamily="34" charset="-120"/>
                        </a:rPr>
                        <a:t>R85,000</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3E6CC"/>
                    </a:solidFill>
                  </a:tcPr>
                </a:tc>
                <a:tc>
                  <a:txBody>
                    <a:bodyPr/>
                    <a:lstStyle/>
                    <a:p>
                      <a:pPr algn="ctr" indent="0" marL="0">
                        <a:buNone/>
                      </a:pPr>
                      <a:r>
                        <a:rPr lang="en-US" sz="1350" dirty="0">
                          <a:solidFill>
                            <a:srgbClr val="23232E"/>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3E6CC"/>
                    </a:solidFill>
                  </a:tcPr>
                </a:tc>
                <a:tc>
                  <a:txBody>
                    <a:bodyPr/>
                    <a:lstStyle/>
                    <a:p>
                      <a:pPr indent="0" marL="0">
                        <a:buNone/>
                      </a:pPr>
                      <a:r>
                        <a:rPr lang="en-US" sz="1200" dirty="0">
                          <a:solidFill>
                            <a:srgbClr val="23232E"/>
                          </a:solidFill>
                          <a:latin typeface="Calibri" pitchFamily="34" charset="0"/>
                          <a:ea typeface="Calibri" pitchFamily="34" charset="-122"/>
                          <a:cs typeface="Calibri" pitchFamily="34" charset="-120"/>
                        </a:rPr>
                        <a:t>Naming rights, 10-min stage address, premium branding on all collateral, 5 VIP tickets, logo on all digital, impact report in 5 working days.</a:t>
                      </a:r>
                      <a:endParaRPr lang="en-US" sz="120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3E6CC"/>
                    </a:solidFill>
                  </a:tcPr>
                </a:tc>
              </a:tr>
              <a:tr h="566928">
                <a:tc>
                  <a:txBody>
                    <a:bodyPr/>
                    <a:lstStyle/>
                    <a:p>
                      <a:pPr indent="0" marL="0">
                        <a:buNone/>
                      </a:pPr>
                      <a:r>
                        <a:rPr lang="en-US" sz="1350" b="1" dirty="0">
                          <a:solidFill>
                            <a:srgbClr val="23232E"/>
                          </a:solidFill>
                          <a:latin typeface="Calibri" pitchFamily="34" charset="0"/>
                          <a:ea typeface="Calibri" pitchFamily="34" charset="-122"/>
                          <a:cs typeface="Calibri" pitchFamily="34" charset="-120"/>
                        </a:rPr>
                        <a:t>Gold</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indent="0" marL="0">
                        <a:buNone/>
                      </a:pPr>
                      <a:r>
                        <a:rPr lang="en-US" sz="1350" b="1" dirty="0">
                          <a:solidFill>
                            <a:srgbClr val="23232E"/>
                          </a:solidFill>
                          <a:latin typeface="Calibri" pitchFamily="34" charset="0"/>
                          <a:ea typeface="Calibri" pitchFamily="34" charset="-122"/>
                          <a:cs typeface="Calibri" pitchFamily="34" charset="-120"/>
                        </a:rPr>
                        <a:t>R40,000</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3232E"/>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indent="0" marL="0">
                        <a:buNone/>
                      </a:pPr>
                      <a:r>
                        <a:rPr lang="en-US" sz="1200" dirty="0">
                          <a:solidFill>
                            <a:srgbClr val="23232E"/>
                          </a:solidFill>
                          <a:latin typeface="Calibri" pitchFamily="34" charset="0"/>
                          <a:ea typeface="Calibri" pitchFamily="34" charset="-122"/>
                          <a:cs typeface="Calibri" pitchFamily="34" charset="-120"/>
                        </a:rPr>
                        <a:t>Stage and programme logo, a 3x3m exhibitor stall, 3 VIP tickets, 3 social mentions.</a:t>
                      </a:r>
                      <a:endParaRPr lang="en-US" sz="120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23232E"/>
                          </a:solidFill>
                          <a:latin typeface="Calibri" pitchFamily="34" charset="0"/>
                          <a:ea typeface="Calibri" pitchFamily="34" charset="-122"/>
                          <a:cs typeface="Calibri" pitchFamily="34" charset="-120"/>
                        </a:rPr>
                        <a:t>Silver</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indent="0" marL="0">
                        <a:buNone/>
                      </a:pPr>
                      <a:r>
                        <a:rPr lang="en-US" sz="1350" b="1" dirty="0">
                          <a:solidFill>
                            <a:srgbClr val="23232E"/>
                          </a:solidFill>
                          <a:latin typeface="Calibri" pitchFamily="34" charset="0"/>
                          <a:ea typeface="Calibri" pitchFamily="34" charset="-122"/>
                          <a:cs typeface="Calibri" pitchFamily="34" charset="-120"/>
                        </a:rPr>
                        <a:t>R20,000</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3232E"/>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indent="0" marL="0">
                        <a:buNone/>
                      </a:pPr>
                      <a:r>
                        <a:rPr lang="en-US" sz="1200" dirty="0">
                          <a:solidFill>
                            <a:srgbClr val="23232E"/>
                          </a:solidFill>
                          <a:latin typeface="Calibri" pitchFamily="34" charset="0"/>
                          <a:ea typeface="Calibri" pitchFamily="34" charset="-122"/>
                          <a:cs typeface="Calibri" pitchFamily="34" charset="-120"/>
                        </a:rPr>
                        <a:t>Programme and backdrop logo, 2 standard tickets, an event-day social mention.</a:t>
                      </a:r>
                      <a:endParaRPr lang="en-US" sz="120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r>
              <a:tr h="502920">
                <a:tc>
                  <a:txBody>
                    <a:bodyPr/>
                    <a:lstStyle/>
                    <a:p>
                      <a:pPr indent="0" marL="0">
                        <a:buNone/>
                      </a:pPr>
                      <a:r>
                        <a:rPr lang="en-US" sz="1350" b="1" dirty="0">
                          <a:solidFill>
                            <a:srgbClr val="23232E"/>
                          </a:solidFill>
                          <a:latin typeface="Calibri" pitchFamily="34" charset="0"/>
                          <a:ea typeface="Calibri" pitchFamily="34" charset="-122"/>
                          <a:cs typeface="Calibri" pitchFamily="34" charset="-120"/>
                        </a:rPr>
                        <a:t>Bronze</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indent="0" marL="0">
                        <a:buNone/>
                      </a:pPr>
                      <a:r>
                        <a:rPr lang="en-US" sz="1350" b="1" dirty="0">
                          <a:solidFill>
                            <a:srgbClr val="23232E"/>
                          </a:solidFill>
                          <a:latin typeface="Calibri" pitchFamily="34" charset="0"/>
                          <a:ea typeface="Calibri" pitchFamily="34" charset="-122"/>
                          <a:cs typeface="Calibri" pitchFamily="34" charset="-120"/>
                        </a:rPr>
                        <a:t>R8,000</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3232E"/>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indent="0" marL="0">
                        <a:buNone/>
                      </a:pPr>
                      <a:r>
                        <a:rPr lang="en-US" sz="1200" dirty="0">
                          <a:solidFill>
                            <a:srgbClr val="23232E"/>
                          </a:solidFill>
                          <a:latin typeface="Calibri" pitchFamily="34" charset="0"/>
                          <a:ea typeface="Calibri" pitchFamily="34" charset="-122"/>
                          <a:cs typeface="Calibri" pitchFamily="34" charset="-120"/>
                        </a:rPr>
                        <a:t>Programme logo, 1 standard ticket, a stage acknowledgement.</a:t>
                      </a:r>
                      <a:endParaRPr lang="en-US" sz="120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r>
              <a:tr h="502920">
                <a:tc>
                  <a:txBody>
                    <a:bodyPr/>
                    <a:lstStyle/>
                    <a:p>
                      <a:pPr indent="0" marL="0">
                        <a:buNone/>
                      </a:pPr>
                      <a:r>
                        <a:rPr lang="en-US" sz="1350" b="1" dirty="0">
                          <a:solidFill>
                            <a:srgbClr val="23232E"/>
                          </a:solidFill>
                          <a:latin typeface="Calibri" pitchFamily="34" charset="0"/>
                          <a:ea typeface="Calibri" pitchFamily="34" charset="-122"/>
                          <a:cs typeface="Calibri" pitchFamily="34" charset="-120"/>
                        </a:rPr>
                        <a:t>In-kind / Supporting</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indent="0" marL="0">
                        <a:buNone/>
                      </a:pPr>
                      <a:r>
                        <a:rPr lang="en-US" sz="1350" b="1" dirty="0">
                          <a:solidFill>
                            <a:srgbClr val="23232E"/>
                          </a:solidFill>
                          <a:latin typeface="Calibri" pitchFamily="34" charset="0"/>
                          <a:ea typeface="Calibri" pitchFamily="34" charset="-122"/>
                          <a:cs typeface="Calibri" pitchFamily="34" charset="-120"/>
                        </a:rPr>
                        <a:t>Contribution-based</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3232E"/>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c>
                  <a:txBody>
                    <a:bodyPr/>
                    <a:lstStyle/>
                    <a:p>
                      <a:pPr indent="0" marL="0">
                        <a:buNone/>
                      </a:pPr>
                      <a:r>
                        <a:rPr lang="en-US" sz="1200" dirty="0">
                          <a:solidFill>
                            <a:srgbClr val="23232E"/>
                          </a:solidFill>
                          <a:latin typeface="Calibri" pitchFamily="34" charset="0"/>
                          <a:ea typeface="Calibri" pitchFamily="34" charset="-122"/>
                          <a:cs typeface="Calibri" pitchFamily="34" charset="-120"/>
                        </a:rPr>
                        <a:t>Acknowledged from the stage and in the programme.</a:t>
                      </a:r>
                      <a:endParaRPr lang="en-US" sz="1200" dirty="0">
                        <a:latin typeface="Calibri" charset="0"/>
                        <a:ea typeface="Calibri" charset="0"/>
                        <a:cs typeface="Calibri" charset="0"/>
                      </a:endParaRPr>
                    </a:p>
                  </a:txBody>
                  <a:tcPr marL="76200" marR="76200" marT="50800" marB="50800" anchor="ctr">
                    <a:lnL w="6350" cap="flat" cmpd="sng" algn="ctr">
                      <a:solidFill>
                        <a:srgbClr val="D9D4C8"/>
                      </a:solidFill>
                      <a:prstDash val="solid"/>
                      <a:round/>
                      <a:headEnd type="none" w="med" len="med"/>
                      <a:tailEnd type="none" w="med" len="med"/>
                    </a:lnL>
                    <a:lnR w="6350" cap="flat" cmpd="sng" algn="ctr">
                      <a:solidFill>
                        <a:srgbClr val="D9D4C8"/>
                      </a:solidFill>
                      <a:prstDash val="solid"/>
                      <a:round/>
                      <a:headEnd type="none" w="med" len="med"/>
                      <a:tailEnd type="none" w="med" len="med"/>
                    </a:lnR>
                    <a:lnT w="6350" cap="flat" cmpd="sng" algn="ctr">
                      <a:solidFill>
                        <a:srgbClr val="D9D4C8"/>
                      </a:solidFill>
                      <a:prstDash val="solid"/>
                      <a:round/>
                      <a:headEnd type="none" w="med" len="med"/>
                      <a:tailEnd type="none" w="med" len="med"/>
                    </a:lnT>
                    <a:lnB w="6350" cap="flat" cmpd="sng" algn="ctr">
                      <a:solidFill>
                        <a:srgbClr val="D9D4C8"/>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2148840"/>
            <a:ext cx="10543032" cy="365760"/>
          </a:xfrm>
          <a:prstGeom prst="rect">
            <a:avLst/>
          </a:prstGeom>
          <a:solidFill>
            <a:srgbClr val="1A1A24"/>
          </a:solidFill>
          <a:ln/>
        </p:spPr>
      </p:sp>
      <p:sp>
        <p:nvSpPr>
          <p:cNvPr id="7" name="Text 4"/>
          <p:cNvSpPr/>
          <p:nvPr/>
        </p:nvSpPr>
        <p:spPr>
          <a:xfrm>
            <a:off x="0" y="-914400"/>
            <a:ext cx="91440" cy="91440"/>
          </a:xfrm>
          <a:prstGeom prst="rect">
            <a:avLst/>
          </a:prstGeom>
          <a:noFill/>
          <a:ln/>
        </p:spPr>
        <p:txBody>
          <a:bodyPr wrap="square" rtlCol="0" anchor="ctr"/>
          <a:lstStyle/>
          <a:p>
            <a:pPr indent="0" marL="0">
              <a:buNone/>
            </a:pPr>
            <a:r>
              <a:rPr lang="en-US" dirty="0">
                <a:solidFill>
                  <a:srgbClr val="000000"/>
                </a:solidFill>
              </a:rPr>
              <a:t>Tier</a:t>
            </a:r>
            <a:endParaRPr lang="en-US" dirty="0"/>
          </a:p>
        </p:txBody>
      </p:sp>
      <p:sp>
        <p:nvSpPr>
          <p:cNvPr id="8" name="Text 5"/>
          <p:cNvSpPr/>
          <p:nvPr/>
        </p:nvSpPr>
        <p:spPr>
          <a:xfrm>
            <a:off x="896112" y="2167128"/>
            <a:ext cx="201168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Tier</a:t>
            </a:r>
            <a:endParaRPr lang="en-US" sz="1250" dirty="0"/>
          </a:p>
        </p:txBody>
      </p:sp>
      <p:sp>
        <p:nvSpPr>
          <p:cNvPr id="9" name="Text 6"/>
          <p:cNvSpPr/>
          <p:nvPr/>
        </p:nvSpPr>
        <p:spPr>
          <a:xfrm>
            <a:off x="2926080" y="2167128"/>
            <a:ext cx="182880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Investment</a:t>
            </a:r>
            <a:endParaRPr lang="en-US" sz="1250" dirty="0"/>
          </a:p>
        </p:txBody>
      </p:sp>
      <p:sp>
        <p:nvSpPr>
          <p:cNvPr id="10" name="Text 7"/>
          <p:cNvSpPr/>
          <p:nvPr/>
        </p:nvSpPr>
        <p:spPr>
          <a:xfrm>
            <a:off x="4846320" y="2167128"/>
            <a:ext cx="91440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Avail.</a:t>
            </a:r>
            <a:endParaRPr lang="en-US" sz="1250" dirty="0"/>
          </a:p>
        </p:txBody>
      </p:sp>
      <p:sp>
        <p:nvSpPr>
          <p:cNvPr id="11" name="Text 8"/>
          <p:cNvSpPr/>
          <p:nvPr/>
        </p:nvSpPr>
        <p:spPr>
          <a:xfrm>
            <a:off x="5852160" y="2167128"/>
            <a:ext cx="539496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What it includes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9144000" cy="274320"/>
          </a:xfrm>
          <a:prstGeom prst="rect">
            <a:avLst/>
          </a:prstGeom>
          <a:noFill/>
          <a:ln/>
        </p:spPr>
        <p:txBody>
          <a:bodyPr wrap="square" lIns="0" tIns="0" rIns="0" bIns="0" rtlCol="0" anchor="ctr"/>
          <a:lstStyle/>
          <a:p>
            <a:pPr indent="0" marL="0">
              <a:buNone/>
            </a:pPr>
            <a:r>
              <a:rPr lang="en-US" sz="1100" b="1" spc="300" kern="0" dirty="0">
                <a:solidFill>
                  <a:srgbClr val="C9922A"/>
                </a:solidFill>
                <a:latin typeface="Calibri" pitchFamily="34" charset="0"/>
                <a:ea typeface="Calibri" pitchFamily="34" charset="-122"/>
                <a:cs typeface="Calibri" pitchFamily="34" charset="-120"/>
              </a:rPr>
              <a:t>THE PROPOSED ROLE-PLAYERS</a:t>
            </a:r>
            <a:endParaRPr lang="en-US" sz="1100" dirty="0"/>
          </a:p>
        </p:txBody>
      </p:sp>
      <p:sp>
        <p:nvSpPr>
          <p:cNvPr id="3" name="Text 1"/>
          <p:cNvSpPr/>
          <p:nvPr/>
        </p:nvSpPr>
        <p:spPr>
          <a:xfrm>
            <a:off x="822960" y="960120"/>
            <a:ext cx="10515600" cy="822960"/>
          </a:xfrm>
          <a:prstGeom prst="rect">
            <a:avLst/>
          </a:prstGeom>
          <a:noFill/>
          <a:ln/>
        </p:spPr>
        <p:txBody>
          <a:bodyPr wrap="square" lIns="0" tIns="0" rIns="0" bIns="0" rtlCol="0" anchor="t"/>
          <a:lstStyle/>
          <a:p>
            <a:pPr indent="0" marL="0">
              <a:buNone/>
            </a:pPr>
            <a:r>
              <a:rPr lang="en-US" sz="3000" b="1" dirty="0">
                <a:solidFill>
                  <a:srgbClr val="1A1A24"/>
                </a:solidFill>
                <a:latin typeface="Cambria" pitchFamily="34" charset="0"/>
                <a:ea typeface="Cambria" pitchFamily="34" charset="-122"/>
                <a:cs typeface="Cambria" pitchFamily="34" charset="-120"/>
              </a:rPr>
              <a:t>Who we would convene</a:t>
            </a:r>
            <a:endParaRPr lang="en-US" sz="3000" dirty="0"/>
          </a:p>
        </p:txBody>
      </p:sp>
      <p:sp>
        <p:nvSpPr>
          <p:cNvPr id="4" name="Shape 2"/>
          <p:cNvSpPr/>
          <p:nvPr/>
        </p:nvSpPr>
        <p:spPr>
          <a:xfrm>
            <a:off x="822960" y="1874520"/>
            <a:ext cx="5102352" cy="1737360"/>
          </a:xfrm>
          <a:prstGeom prst="rect">
            <a:avLst/>
          </a:prstGeom>
          <a:solidFill>
            <a:srgbClr val="F4F1EA"/>
          </a:solidFill>
          <a:ln/>
        </p:spPr>
      </p:sp>
      <p:sp>
        <p:nvSpPr>
          <p:cNvPr id="5" name="Text 3"/>
          <p:cNvSpPr/>
          <p:nvPr/>
        </p:nvSpPr>
        <p:spPr>
          <a:xfrm>
            <a:off x="1097280" y="2103120"/>
            <a:ext cx="4572000" cy="548640"/>
          </a:xfrm>
          <a:prstGeom prst="rect">
            <a:avLst/>
          </a:prstGeom>
          <a:noFill/>
          <a:ln/>
        </p:spPr>
        <p:txBody>
          <a:bodyPr wrap="square" lIns="0" tIns="0" rIns="0" bIns="0" rtlCol="0" anchor="t"/>
          <a:lstStyle/>
          <a:p>
            <a:pPr indent="0" marL="0">
              <a:buNone/>
            </a:pPr>
            <a:r>
              <a:rPr lang="en-US" sz="1700" b="1" dirty="0">
                <a:solidFill>
                  <a:srgbClr val="1A1A24"/>
                </a:solidFill>
                <a:latin typeface="Cambria" pitchFamily="34" charset="0"/>
                <a:ea typeface="Cambria" pitchFamily="34" charset="-122"/>
                <a:cs typeface="Cambria" pitchFamily="34" charset="-120"/>
              </a:rPr>
              <a:t>Build Resilience (Pty) Ltd</a:t>
            </a:r>
            <a:endParaRPr lang="en-US" sz="1700" dirty="0"/>
          </a:p>
        </p:txBody>
      </p:sp>
      <p:sp>
        <p:nvSpPr>
          <p:cNvPr id="6" name="Text 4"/>
          <p:cNvSpPr/>
          <p:nvPr/>
        </p:nvSpPr>
        <p:spPr>
          <a:xfrm>
            <a:off x="1097280" y="2697480"/>
            <a:ext cx="4572000" cy="822960"/>
          </a:xfrm>
          <a:prstGeom prst="rect">
            <a:avLst/>
          </a:prstGeom>
          <a:noFill/>
          <a:ln/>
        </p:spPr>
        <p:txBody>
          <a:bodyPr wrap="square" lIns="0" tIns="0" rIns="0" bIns="0" rtlCol="0" anchor="t"/>
          <a:lstStyle/>
          <a:p>
            <a:pPr indent="0" marL="0">
              <a:lnSpc>
                <a:spcPts val="1800"/>
              </a:lnSpc>
              <a:buNone/>
            </a:pPr>
            <a:r>
              <a:rPr lang="en-US" sz="1300" dirty="0">
                <a:solidFill>
                  <a:srgbClr val="23232E"/>
                </a:solidFill>
                <a:latin typeface="Calibri" pitchFamily="34" charset="0"/>
                <a:ea typeface="Calibri" pitchFamily="34" charset="-122"/>
                <a:cs typeface="Calibri" pitchFamily="34" charset="-120"/>
              </a:rPr>
              <a:t>The Gauteng company producing the conference and the year-round content programme. Wholly owned by Kingdom Faith Worship Centre NPC (PBO status pending).</a:t>
            </a:r>
            <a:endParaRPr lang="en-US" sz="1300" dirty="0"/>
          </a:p>
        </p:txBody>
      </p:sp>
      <p:sp>
        <p:nvSpPr>
          <p:cNvPr id="7" name="Shape 5"/>
          <p:cNvSpPr/>
          <p:nvPr/>
        </p:nvSpPr>
        <p:spPr>
          <a:xfrm>
            <a:off x="6263640" y="1874520"/>
            <a:ext cx="5102352" cy="1737360"/>
          </a:xfrm>
          <a:prstGeom prst="rect">
            <a:avLst/>
          </a:prstGeom>
          <a:solidFill>
            <a:srgbClr val="F4F1EA"/>
          </a:solidFill>
          <a:ln/>
        </p:spPr>
      </p:sp>
      <p:sp>
        <p:nvSpPr>
          <p:cNvPr id="8" name="Text 6"/>
          <p:cNvSpPr/>
          <p:nvPr/>
        </p:nvSpPr>
        <p:spPr>
          <a:xfrm>
            <a:off x="6537960" y="2103120"/>
            <a:ext cx="4572000" cy="548640"/>
          </a:xfrm>
          <a:prstGeom prst="rect">
            <a:avLst/>
          </a:prstGeom>
          <a:noFill/>
          <a:ln/>
        </p:spPr>
        <p:txBody>
          <a:bodyPr wrap="square" lIns="0" tIns="0" rIns="0" bIns="0" rtlCol="0" anchor="t"/>
          <a:lstStyle/>
          <a:p>
            <a:pPr indent="0" marL="0">
              <a:buNone/>
            </a:pPr>
            <a:r>
              <a:rPr lang="en-US" sz="1700" b="1" dirty="0">
                <a:solidFill>
                  <a:srgbClr val="1A1A24"/>
                </a:solidFill>
                <a:latin typeface="Cambria" pitchFamily="34" charset="0"/>
                <a:ea typeface="Cambria" pitchFamily="34" charset="-122"/>
                <a:cs typeface="Cambria" pitchFamily="34" charset="-120"/>
              </a:rPr>
              <a:t>Tembisa Commerce &amp; Entrepreneurship SoS</a:t>
            </a:r>
            <a:endParaRPr lang="en-US" sz="1700" dirty="0"/>
          </a:p>
        </p:txBody>
      </p:sp>
      <p:sp>
        <p:nvSpPr>
          <p:cNvPr id="9" name="Text 7"/>
          <p:cNvSpPr/>
          <p:nvPr/>
        </p:nvSpPr>
        <p:spPr>
          <a:xfrm>
            <a:off x="6537960" y="2697480"/>
            <a:ext cx="4572000" cy="822960"/>
          </a:xfrm>
          <a:prstGeom prst="rect">
            <a:avLst/>
          </a:prstGeom>
          <a:noFill/>
          <a:ln/>
        </p:spPr>
        <p:txBody>
          <a:bodyPr wrap="square" lIns="0" tIns="0" rIns="0" bIns="0" rtlCol="0" anchor="t"/>
          <a:lstStyle/>
          <a:p>
            <a:pPr indent="0" marL="0">
              <a:lnSpc>
                <a:spcPts val="1800"/>
              </a:lnSpc>
              <a:buNone/>
            </a:pPr>
            <a:r>
              <a:rPr lang="en-US" sz="1300" dirty="0">
                <a:solidFill>
                  <a:srgbClr val="23232E"/>
                </a:solidFill>
                <a:latin typeface="Calibri" pitchFamily="34" charset="0"/>
                <a:ea typeface="Calibri" pitchFamily="34" charset="-122"/>
                <a:cs typeface="Calibri" pitchFamily="34" charset="-120"/>
              </a:rPr>
              <a:t>Ekurhuleni’s first entrepreneurship-focused School of Specialisation, teaching commerce, finance, hospitality and tourism through venture-based facilities.</a:t>
            </a:r>
            <a:endParaRPr lang="en-US" sz="1300" dirty="0"/>
          </a:p>
        </p:txBody>
      </p:sp>
      <p:sp>
        <p:nvSpPr>
          <p:cNvPr id="10" name="Shape 8"/>
          <p:cNvSpPr/>
          <p:nvPr/>
        </p:nvSpPr>
        <p:spPr>
          <a:xfrm>
            <a:off x="822960" y="3840480"/>
            <a:ext cx="5102352" cy="1737360"/>
          </a:xfrm>
          <a:prstGeom prst="rect">
            <a:avLst/>
          </a:prstGeom>
          <a:solidFill>
            <a:srgbClr val="F4F1EA"/>
          </a:solidFill>
          <a:ln/>
        </p:spPr>
      </p:sp>
      <p:sp>
        <p:nvSpPr>
          <p:cNvPr id="11" name="Text 9"/>
          <p:cNvSpPr/>
          <p:nvPr/>
        </p:nvSpPr>
        <p:spPr>
          <a:xfrm>
            <a:off x="1097280" y="4069080"/>
            <a:ext cx="4572000" cy="548640"/>
          </a:xfrm>
          <a:prstGeom prst="rect">
            <a:avLst/>
          </a:prstGeom>
          <a:noFill/>
          <a:ln/>
        </p:spPr>
        <p:txBody>
          <a:bodyPr wrap="square" lIns="0" tIns="0" rIns="0" bIns="0" rtlCol="0" anchor="t"/>
          <a:lstStyle/>
          <a:p>
            <a:pPr indent="0" marL="0">
              <a:buNone/>
            </a:pPr>
            <a:r>
              <a:rPr lang="en-US" sz="1700" b="1" dirty="0">
                <a:solidFill>
                  <a:srgbClr val="1A1A24"/>
                </a:solidFill>
                <a:latin typeface="Cambria" pitchFamily="34" charset="0"/>
                <a:ea typeface="Cambria" pitchFamily="34" charset="-122"/>
                <a:cs typeface="Cambria" pitchFamily="34" charset="-120"/>
              </a:rPr>
              <a:t>Oosrand Commerce &amp; Entrepreneurship SoS</a:t>
            </a:r>
            <a:endParaRPr lang="en-US" sz="1700" dirty="0"/>
          </a:p>
        </p:txBody>
      </p:sp>
      <p:sp>
        <p:nvSpPr>
          <p:cNvPr id="12" name="Text 10"/>
          <p:cNvSpPr/>
          <p:nvPr/>
        </p:nvSpPr>
        <p:spPr>
          <a:xfrm>
            <a:off x="1097280" y="4663440"/>
            <a:ext cx="4572000" cy="822960"/>
          </a:xfrm>
          <a:prstGeom prst="rect">
            <a:avLst/>
          </a:prstGeom>
          <a:noFill/>
          <a:ln/>
        </p:spPr>
        <p:txBody>
          <a:bodyPr wrap="square" lIns="0" tIns="0" rIns="0" bIns="0" rtlCol="0" anchor="t"/>
          <a:lstStyle/>
          <a:p>
            <a:pPr indent="0" marL="0">
              <a:lnSpc>
                <a:spcPts val="1800"/>
              </a:lnSpc>
              <a:buNone/>
            </a:pPr>
            <a:r>
              <a:rPr lang="en-US" sz="1300" dirty="0">
                <a:solidFill>
                  <a:srgbClr val="23232E"/>
                </a:solidFill>
                <a:latin typeface="Calibri" pitchFamily="34" charset="0"/>
                <a:ea typeface="Calibri" pitchFamily="34" charset="-122"/>
                <a:cs typeface="Calibri" pitchFamily="34" charset="-120"/>
              </a:rPr>
              <a:t>Launched 2023 in Reiger Park, Boksburg. Finance, tourism, hospitality and entrepreneurship, with learners running real ventures on the premises.</a:t>
            </a:r>
            <a:endParaRPr lang="en-US" sz="1300" dirty="0"/>
          </a:p>
        </p:txBody>
      </p:sp>
      <p:sp>
        <p:nvSpPr>
          <p:cNvPr id="13" name="Shape 11"/>
          <p:cNvSpPr/>
          <p:nvPr/>
        </p:nvSpPr>
        <p:spPr>
          <a:xfrm>
            <a:off x="6263640" y="3840480"/>
            <a:ext cx="5102352" cy="1737360"/>
          </a:xfrm>
          <a:prstGeom prst="rect">
            <a:avLst/>
          </a:prstGeom>
          <a:solidFill>
            <a:srgbClr val="F4F1EA"/>
          </a:solidFill>
          <a:ln/>
        </p:spPr>
      </p:sp>
      <p:sp>
        <p:nvSpPr>
          <p:cNvPr id="14" name="Text 12"/>
          <p:cNvSpPr/>
          <p:nvPr/>
        </p:nvSpPr>
        <p:spPr>
          <a:xfrm>
            <a:off x="6537960" y="4069080"/>
            <a:ext cx="4572000" cy="548640"/>
          </a:xfrm>
          <a:prstGeom prst="rect">
            <a:avLst/>
          </a:prstGeom>
          <a:noFill/>
          <a:ln/>
        </p:spPr>
        <p:txBody>
          <a:bodyPr wrap="square" lIns="0" tIns="0" rIns="0" bIns="0" rtlCol="0" anchor="t"/>
          <a:lstStyle/>
          <a:p>
            <a:pPr indent="0" marL="0">
              <a:buNone/>
            </a:pPr>
            <a:r>
              <a:rPr lang="en-US" sz="1700" b="1" dirty="0">
                <a:solidFill>
                  <a:srgbClr val="1A1A24"/>
                </a:solidFill>
                <a:latin typeface="Cambria" pitchFamily="34" charset="0"/>
                <a:ea typeface="Cambria" pitchFamily="34" charset="-122"/>
                <a:cs typeface="Cambria" pitchFamily="34" charset="-120"/>
              </a:rPr>
              <a:t>Gauteng Department of Education</a:t>
            </a:r>
            <a:endParaRPr lang="en-US" sz="1700" dirty="0"/>
          </a:p>
        </p:txBody>
      </p:sp>
      <p:sp>
        <p:nvSpPr>
          <p:cNvPr id="15" name="Text 13"/>
          <p:cNvSpPr/>
          <p:nvPr/>
        </p:nvSpPr>
        <p:spPr>
          <a:xfrm>
            <a:off x="6537960" y="4663440"/>
            <a:ext cx="4572000" cy="822960"/>
          </a:xfrm>
          <a:prstGeom prst="rect">
            <a:avLst/>
          </a:prstGeom>
          <a:noFill/>
          <a:ln/>
        </p:spPr>
        <p:txBody>
          <a:bodyPr wrap="square" lIns="0" tIns="0" rIns="0" bIns="0" rtlCol="0" anchor="t"/>
          <a:lstStyle/>
          <a:p>
            <a:pPr indent="0" marL="0">
              <a:lnSpc>
                <a:spcPts val="1800"/>
              </a:lnSpc>
              <a:buNone/>
            </a:pPr>
            <a:r>
              <a:rPr lang="en-US" sz="1300" dirty="0">
                <a:solidFill>
                  <a:srgbClr val="23232E"/>
                </a:solidFill>
                <a:latin typeface="Calibri" pitchFamily="34" charset="0"/>
                <a:ea typeface="Calibri" pitchFamily="34" charset="-122"/>
                <a:cs typeface="Calibri" pitchFamily="34" charset="-120"/>
              </a:rPr>
              <a:t>The provincial partner behind the Schools of Specialisation, and our proposed partner for selecting and hosting the matriculants.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9144000" cy="274320"/>
          </a:xfrm>
          <a:prstGeom prst="rect">
            <a:avLst/>
          </a:prstGeom>
          <a:noFill/>
          <a:ln/>
        </p:spPr>
        <p:txBody>
          <a:bodyPr wrap="square" lIns="0" tIns="0" rIns="0" bIns="0" rtlCol="0" anchor="ctr"/>
          <a:lstStyle/>
          <a:p>
            <a:pPr indent="0" marL="0">
              <a:buNone/>
            </a:pPr>
            <a:r>
              <a:rPr lang="en-US" sz="1100" b="1" spc="300" kern="0" dirty="0">
                <a:solidFill>
                  <a:srgbClr val="C9922A"/>
                </a:solidFill>
                <a:latin typeface="Calibri" pitchFamily="34" charset="0"/>
                <a:ea typeface="Calibri" pitchFamily="34" charset="-122"/>
                <a:cs typeface="Calibri" pitchFamily="34" charset="-120"/>
              </a:rPr>
              <a:t>NEXT STEPS</a:t>
            </a:r>
            <a:endParaRPr lang="en-US" sz="1100" dirty="0"/>
          </a:p>
        </p:txBody>
      </p:sp>
      <p:sp>
        <p:nvSpPr>
          <p:cNvPr id="3" name="Text 1"/>
          <p:cNvSpPr/>
          <p:nvPr/>
        </p:nvSpPr>
        <p:spPr>
          <a:xfrm>
            <a:off x="822960" y="960120"/>
            <a:ext cx="10515600" cy="822960"/>
          </a:xfrm>
          <a:prstGeom prst="rect">
            <a:avLst/>
          </a:prstGeom>
          <a:noFill/>
          <a:ln/>
        </p:spPr>
        <p:txBody>
          <a:bodyPr wrap="square" lIns="0" tIns="0" rIns="0" bIns="0" rtlCol="0" anchor="t"/>
          <a:lstStyle/>
          <a:p>
            <a:pPr indent="0" marL="0">
              <a:buNone/>
            </a:pPr>
            <a:r>
              <a:rPr lang="en-US" sz="3000" b="1" dirty="0">
                <a:solidFill>
                  <a:srgbClr val="1A1A24"/>
                </a:solidFill>
                <a:latin typeface="Cambria" pitchFamily="34" charset="0"/>
                <a:ea typeface="Cambria" pitchFamily="34" charset="-122"/>
                <a:cs typeface="Cambria" pitchFamily="34" charset="-120"/>
              </a:rPr>
              <a:t>How we take this forward</a:t>
            </a:r>
            <a:endParaRPr lang="en-US" sz="3000" dirty="0"/>
          </a:p>
        </p:txBody>
      </p:sp>
      <p:sp>
        <p:nvSpPr>
          <p:cNvPr id="4" name="Shape 2"/>
          <p:cNvSpPr/>
          <p:nvPr/>
        </p:nvSpPr>
        <p:spPr>
          <a:xfrm>
            <a:off x="822960" y="1920240"/>
            <a:ext cx="566928" cy="566928"/>
          </a:xfrm>
          <a:prstGeom prst="ellipse">
            <a:avLst/>
          </a:prstGeom>
          <a:solidFill>
            <a:srgbClr val="1A1A24"/>
          </a:solidFill>
          <a:ln/>
        </p:spPr>
      </p:sp>
      <p:sp>
        <p:nvSpPr>
          <p:cNvPr id="5" name="Text 3"/>
          <p:cNvSpPr/>
          <p:nvPr/>
        </p:nvSpPr>
        <p:spPr>
          <a:xfrm>
            <a:off x="822960" y="1920240"/>
            <a:ext cx="566928" cy="566928"/>
          </a:xfrm>
          <a:prstGeom prst="rect">
            <a:avLst/>
          </a:prstGeom>
          <a:noFill/>
          <a:ln/>
        </p:spPr>
        <p:txBody>
          <a:bodyPr wrap="square" lIns="0" tIns="0" rIns="0" bIns="0" rtlCol="0" anchor="ctr"/>
          <a:lstStyle/>
          <a:p>
            <a:pPr algn="ctr" indent="0" marL="0">
              <a:buNone/>
            </a:pPr>
            <a:r>
              <a:rPr lang="en-US" sz="2200" b="1" dirty="0">
                <a:solidFill>
                  <a:srgbClr val="C9922A"/>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600200" y="1965960"/>
            <a:ext cx="9692640" cy="502920"/>
          </a:xfrm>
          <a:prstGeom prst="rect">
            <a:avLst/>
          </a:prstGeom>
          <a:noFill/>
          <a:ln/>
        </p:spPr>
        <p:txBody>
          <a:bodyPr wrap="square" lIns="0" tIns="0" rIns="0" bIns="0" rtlCol="0" anchor="ctr"/>
          <a:lstStyle/>
          <a:p>
            <a:pPr indent="0" marL="0">
              <a:buNone/>
            </a:pPr>
            <a:r>
              <a:rPr lang="en-US" sz="1600" dirty="0">
                <a:solidFill>
                  <a:srgbClr val="23232E"/>
                </a:solidFill>
                <a:latin typeface="Calibri" pitchFamily="34" charset="0"/>
                <a:ea typeface="Calibri" pitchFamily="34" charset="-122"/>
                <a:cs typeface="Calibri" pitchFamily="34" charset="-120"/>
              </a:rPr>
              <a:t>A first conversation to walk Investec through the Title sponsorship.</a:t>
            </a:r>
            <a:endParaRPr lang="en-US" sz="1600" dirty="0"/>
          </a:p>
        </p:txBody>
      </p:sp>
      <p:sp>
        <p:nvSpPr>
          <p:cNvPr id="7" name="Shape 5"/>
          <p:cNvSpPr/>
          <p:nvPr/>
        </p:nvSpPr>
        <p:spPr>
          <a:xfrm>
            <a:off x="822960" y="2761488"/>
            <a:ext cx="566928" cy="566928"/>
          </a:xfrm>
          <a:prstGeom prst="ellipse">
            <a:avLst/>
          </a:prstGeom>
          <a:solidFill>
            <a:srgbClr val="1A1A24"/>
          </a:solidFill>
          <a:ln/>
        </p:spPr>
      </p:sp>
      <p:sp>
        <p:nvSpPr>
          <p:cNvPr id="8" name="Text 6"/>
          <p:cNvSpPr/>
          <p:nvPr/>
        </p:nvSpPr>
        <p:spPr>
          <a:xfrm>
            <a:off x="822960" y="2761488"/>
            <a:ext cx="566928" cy="566928"/>
          </a:xfrm>
          <a:prstGeom prst="rect">
            <a:avLst/>
          </a:prstGeom>
          <a:noFill/>
          <a:ln/>
        </p:spPr>
        <p:txBody>
          <a:bodyPr wrap="square" lIns="0" tIns="0" rIns="0" bIns="0" rtlCol="0" anchor="ctr"/>
          <a:lstStyle/>
          <a:p>
            <a:pPr algn="ctr" indent="0" marL="0">
              <a:buNone/>
            </a:pPr>
            <a:r>
              <a:rPr lang="en-US" sz="2200" b="1" dirty="0">
                <a:solidFill>
                  <a:srgbClr val="C9922A"/>
                </a:solidFill>
                <a:latin typeface="Cambria" pitchFamily="34" charset="0"/>
                <a:ea typeface="Cambria" pitchFamily="34" charset="-122"/>
                <a:cs typeface="Cambria" pitchFamily="34" charset="-120"/>
              </a:rPr>
              <a:t>2</a:t>
            </a:r>
            <a:endParaRPr lang="en-US" sz="2200" dirty="0"/>
          </a:p>
        </p:txBody>
      </p:sp>
      <p:sp>
        <p:nvSpPr>
          <p:cNvPr id="9" name="Text 7"/>
          <p:cNvSpPr/>
          <p:nvPr/>
        </p:nvSpPr>
        <p:spPr>
          <a:xfrm>
            <a:off x="1600200" y="2807208"/>
            <a:ext cx="9692640" cy="502920"/>
          </a:xfrm>
          <a:prstGeom prst="rect">
            <a:avLst/>
          </a:prstGeom>
          <a:noFill/>
          <a:ln/>
        </p:spPr>
        <p:txBody>
          <a:bodyPr wrap="square" lIns="0" tIns="0" rIns="0" bIns="0" rtlCol="0" anchor="ctr"/>
          <a:lstStyle/>
          <a:p>
            <a:pPr indent="0" marL="0">
              <a:buNone/>
            </a:pPr>
            <a:r>
              <a:rPr lang="en-US" sz="1600" dirty="0">
                <a:solidFill>
                  <a:srgbClr val="23232E"/>
                </a:solidFill>
                <a:latin typeface="Calibri" pitchFamily="34" charset="0"/>
                <a:ea typeface="Calibri" pitchFamily="34" charset="-122"/>
                <a:cs typeface="Calibri" pitchFamily="34" charset="-120"/>
              </a:rPr>
              <a:t>Investec confirms the sponsorship and the tier.</a:t>
            </a:r>
            <a:endParaRPr lang="en-US" sz="1600" dirty="0"/>
          </a:p>
        </p:txBody>
      </p:sp>
      <p:sp>
        <p:nvSpPr>
          <p:cNvPr id="10" name="Shape 8"/>
          <p:cNvSpPr/>
          <p:nvPr/>
        </p:nvSpPr>
        <p:spPr>
          <a:xfrm>
            <a:off x="822960" y="3602736"/>
            <a:ext cx="566928" cy="566928"/>
          </a:xfrm>
          <a:prstGeom prst="ellipse">
            <a:avLst/>
          </a:prstGeom>
          <a:solidFill>
            <a:srgbClr val="1A1A24"/>
          </a:solidFill>
          <a:ln/>
        </p:spPr>
      </p:sp>
      <p:sp>
        <p:nvSpPr>
          <p:cNvPr id="11" name="Text 9"/>
          <p:cNvSpPr/>
          <p:nvPr/>
        </p:nvSpPr>
        <p:spPr>
          <a:xfrm>
            <a:off x="822960" y="3602736"/>
            <a:ext cx="566928" cy="566928"/>
          </a:xfrm>
          <a:prstGeom prst="rect">
            <a:avLst/>
          </a:prstGeom>
          <a:noFill/>
          <a:ln/>
        </p:spPr>
        <p:txBody>
          <a:bodyPr wrap="square" lIns="0" tIns="0" rIns="0" bIns="0" rtlCol="0" anchor="ctr"/>
          <a:lstStyle/>
          <a:p>
            <a:pPr algn="ctr" indent="0" marL="0">
              <a:buNone/>
            </a:pPr>
            <a:r>
              <a:rPr lang="en-US" sz="2200" b="1" dirty="0">
                <a:solidFill>
                  <a:srgbClr val="C9922A"/>
                </a:solidFill>
                <a:latin typeface="Cambria" pitchFamily="34" charset="0"/>
                <a:ea typeface="Cambria" pitchFamily="34" charset="-122"/>
                <a:cs typeface="Cambria" pitchFamily="34" charset="-120"/>
              </a:rPr>
              <a:t>3</a:t>
            </a:r>
            <a:endParaRPr lang="en-US" sz="2200" dirty="0"/>
          </a:p>
        </p:txBody>
      </p:sp>
      <p:sp>
        <p:nvSpPr>
          <p:cNvPr id="12" name="Text 10"/>
          <p:cNvSpPr/>
          <p:nvPr/>
        </p:nvSpPr>
        <p:spPr>
          <a:xfrm>
            <a:off x="1600200" y="3648456"/>
            <a:ext cx="9692640" cy="502920"/>
          </a:xfrm>
          <a:prstGeom prst="rect">
            <a:avLst/>
          </a:prstGeom>
          <a:noFill/>
          <a:ln/>
        </p:spPr>
        <p:txBody>
          <a:bodyPr wrap="square" lIns="0" tIns="0" rIns="0" bIns="0" rtlCol="0" anchor="ctr"/>
          <a:lstStyle/>
          <a:p>
            <a:pPr indent="0" marL="0">
              <a:buNone/>
            </a:pPr>
            <a:r>
              <a:rPr lang="en-US" sz="1600" dirty="0">
                <a:solidFill>
                  <a:srgbClr val="23232E"/>
                </a:solidFill>
                <a:latin typeface="Calibri" pitchFamily="34" charset="0"/>
                <a:ea typeface="Calibri" pitchFamily="34" charset="-122"/>
                <a:cs typeface="Calibri" pitchFamily="34" charset="-120"/>
              </a:rPr>
              <a:t>We shape the matriculant stream with the GDE and the two schools.</a:t>
            </a:r>
            <a:endParaRPr lang="en-US" sz="1600" dirty="0"/>
          </a:p>
        </p:txBody>
      </p:sp>
      <p:sp>
        <p:nvSpPr>
          <p:cNvPr id="13" name="Shape 11"/>
          <p:cNvSpPr/>
          <p:nvPr/>
        </p:nvSpPr>
        <p:spPr>
          <a:xfrm>
            <a:off x="822960" y="4443984"/>
            <a:ext cx="566928" cy="566928"/>
          </a:xfrm>
          <a:prstGeom prst="ellipse">
            <a:avLst/>
          </a:prstGeom>
          <a:solidFill>
            <a:srgbClr val="1A1A24"/>
          </a:solidFill>
          <a:ln/>
        </p:spPr>
      </p:sp>
      <p:sp>
        <p:nvSpPr>
          <p:cNvPr id="14" name="Text 12"/>
          <p:cNvSpPr/>
          <p:nvPr/>
        </p:nvSpPr>
        <p:spPr>
          <a:xfrm>
            <a:off x="822960" y="4443984"/>
            <a:ext cx="566928" cy="566928"/>
          </a:xfrm>
          <a:prstGeom prst="rect">
            <a:avLst/>
          </a:prstGeom>
          <a:noFill/>
          <a:ln/>
        </p:spPr>
        <p:txBody>
          <a:bodyPr wrap="square" lIns="0" tIns="0" rIns="0" bIns="0" rtlCol="0" anchor="ctr"/>
          <a:lstStyle/>
          <a:p>
            <a:pPr algn="ctr" indent="0" marL="0">
              <a:buNone/>
            </a:pPr>
            <a:r>
              <a:rPr lang="en-US" sz="2200" b="1" dirty="0">
                <a:solidFill>
                  <a:srgbClr val="C9922A"/>
                </a:solidFill>
                <a:latin typeface="Cambria" pitchFamily="34" charset="0"/>
                <a:ea typeface="Cambria" pitchFamily="34" charset="-122"/>
                <a:cs typeface="Cambria" pitchFamily="34" charset="-120"/>
              </a:rPr>
              <a:t>4</a:t>
            </a:r>
            <a:endParaRPr lang="en-US" sz="2200" dirty="0"/>
          </a:p>
        </p:txBody>
      </p:sp>
      <p:sp>
        <p:nvSpPr>
          <p:cNvPr id="15" name="Text 13"/>
          <p:cNvSpPr/>
          <p:nvPr/>
        </p:nvSpPr>
        <p:spPr>
          <a:xfrm>
            <a:off x="1600200" y="4489704"/>
            <a:ext cx="9692640" cy="502920"/>
          </a:xfrm>
          <a:prstGeom prst="rect">
            <a:avLst/>
          </a:prstGeom>
          <a:noFill/>
          <a:ln/>
        </p:spPr>
        <p:txBody>
          <a:bodyPr wrap="square" lIns="0" tIns="0" rIns="0" bIns="0" rtlCol="0" anchor="ctr"/>
          <a:lstStyle/>
          <a:p>
            <a:pPr indent="0" marL="0">
              <a:buNone/>
            </a:pPr>
            <a:r>
              <a:rPr lang="en-US" sz="1600" dirty="0">
                <a:solidFill>
                  <a:srgbClr val="23232E"/>
                </a:solidFill>
                <a:latin typeface="Calibri" pitchFamily="34" charset="0"/>
                <a:ea typeface="Calibri" pitchFamily="34" charset="-122"/>
                <a:cs typeface="Calibri" pitchFamily="34" charset="-120"/>
              </a:rPr>
              <a:t>We settle the detail in a simple sponsorship agreement.</a:t>
            </a:r>
            <a:endParaRPr lang="en-US" sz="1600" dirty="0"/>
          </a:p>
        </p:txBody>
      </p:sp>
      <p:sp>
        <p:nvSpPr>
          <p:cNvPr id="16" name="Shape 14"/>
          <p:cNvSpPr/>
          <p:nvPr/>
        </p:nvSpPr>
        <p:spPr>
          <a:xfrm>
            <a:off x="822960" y="5285232"/>
            <a:ext cx="566928" cy="566928"/>
          </a:xfrm>
          <a:prstGeom prst="ellipse">
            <a:avLst/>
          </a:prstGeom>
          <a:solidFill>
            <a:srgbClr val="1A1A24"/>
          </a:solidFill>
          <a:ln/>
        </p:spPr>
      </p:sp>
      <p:sp>
        <p:nvSpPr>
          <p:cNvPr id="17" name="Text 15"/>
          <p:cNvSpPr/>
          <p:nvPr/>
        </p:nvSpPr>
        <p:spPr>
          <a:xfrm>
            <a:off x="822960" y="5285232"/>
            <a:ext cx="566928" cy="566928"/>
          </a:xfrm>
          <a:prstGeom prst="rect">
            <a:avLst/>
          </a:prstGeom>
          <a:noFill/>
          <a:ln/>
        </p:spPr>
        <p:txBody>
          <a:bodyPr wrap="square" lIns="0" tIns="0" rIns="0" bIns="0" rtlCol="0" anchor="ctr"/>
          <a:lstStyle/>
          <a:p>
            <a:pPr algn="ctr" indent="0" marL="0">
              <a:buNone/>
            </a:pPr>
            <a:r>
              <a:rPr lang="en-US" sz="2200" b="1" dirty="0">
                <a:solidFill>
                  <a:srgbClr val="C9922A"/>
                </a:solidFill>
                <a:latin typeface="Cambria" pitchFamily="34" charset="0"/>
                <a:ea typeface="Cambria" pitchFamily="34" charset="-122"/>
                <a:cs typeface="Cambria" pitchFamily="34" charset="-120"/>
              </a:rPr>
              <a:t>5</a:t>
            </a:r>
            <a:endParaRPr lang="en-US" sz="2200" dirty="0"/>
          </a:p>
        </p:txBody>
      </p:sp>
      <p:sp>
        <p:nvSpPr>
          <p:cNvPr id="18" name="Text 16"/>
          <p:cNvSpPr/>
          <p:nvPr/>
        </p:nvSpPr>
        <p:spPr>
          <a:xfrm>
            <a:off x="1600200" y="5330952"/>
            <a:ext cx="9692640" cy="502920"/>
          </a:xfrm>
          <a:prstGeom prst="rect">
            <a:avLst/>
          </a:prstGeom>
          <a:noFill/>
          <a:ln/>
        </p:spPr>
        <p:txBody>
          <a:bodyPr wrap="square" lIns="0" tIns="0" rIns="0" bIns="0" rtlCol="0" anchor="ctr"/>
          <a:lstStyle/>
          <a:p>
            <a:pPr indent="0" marL="0">
              <a:buNone/>
            </a:pPr>
            <a:r>
              <a:rPr lang="en-US" sz="1600" dirty="0">
                <a:solidFill>
                  <a:srgbClr val="23232E"/>
                </a:solidFill>
                <a:latin typeface="Calibri" pitchFamily="34" charset="0"/>
                <a:ea typeface="Calibri" pitchFamily="34" charset="-122"/>
                <a:cs typeface="Calibri" pitchFamily="34" charset="-120"/>
              </a:rPr>
              <a:t>Benefits activate. Investec branding goes live across the pre-event series straight away.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4"/>
        </a:solidFill>
      </p:bgPr>
    </p:bg>
    <p:spTree>
      <p:nvGrpSpPr>
        <p:cNvPr id="1" name=""/>
        <p:cNvGrpSpPr/>
        <p:nvPr/>
      </p:nvGrpSpPr>
      <p:grpSpPr>
        <a:xfrm>
          <a:off x="0" y="0"/>
          <a:ext cx="0" cy="0"/>
          <a:chOff x="0" y="0"/>
          <a:chExt cx="0" cy="0"/>
        </a:xfrm>
      </p:grpSpPr>
      <p:sp>
        <p:nvSpPr>
          <p:cNvPr id="2" name="Text 0"/>
          <p:cNvSpPr/>
          <p:nvPr/>
        </p:nvSpPr>
        <p:spPr>
          <a:xfrm>
            <a:off x="822960" y="1965960"/>
            <a:ext cx="10515600" cy="457200"/>
          </a:xfrm>
          <a:prstGeom prst="rect">
            <a:avLst/>
          </a:prstGeom>
          <a:noFill/>
          <a:ln/>
        </p:spPr>
        <p:txBody>
          <a:bodyPr wrap="square" lIns="0" tIns="0" rIns="0" bIns="0" rtlCol="0" anchor="ctr"/>
          <a:lstStyle/>
          <a:p>
            <a:pPr indent="0" marL="0">
              <a:buNone/>
            </a:pPr>
            <a:r>
              <a:rPr lang="en-US" sz="1500" b="1" spc="500" kern="0" dirty="0">
                <a:solidFill>
                  <a:srgbClr val="C9922A"/>
                </a:solidFill>
                <a:latin typeface="Calibri" pitchFamily="34" charset="0"/>
                <a:ea typeface="Calibri" pitchFamily="34" charset="-122"/>
                <a:cs typeface="Calibri" pitchFamily="34" charset="-120"/>
              </a:rPr>
              <a:t>LET’S BUILD IT</a:t>
            </a:r>
            <a:endParaRPr lang="en-US" sz="1500" dirty="0"/>
          </a:p>
        </p:txBody>
      </p:sp>
      <p:sp>
        <p:nvSpPr>
          <p:cNvPr id="3" name="Text 1"/>
          <p:cNvSpPr/>
          <p:nvPr/>
        </p:nvSpPr>
        <p:spPr>
          <a:xfrm>
            <a:off x="777240" y="246888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“Resilience is built, not born.”</a:t>
            </a:r>
            <a:endParaRPr lang="en-US" sz="4000" dirty="0"/>
          </a:p>
        </p:txBody>
      </p:sp>
      <p:sp>
        <p:nvSpPr>
          <p:cNvPr id="4" name="Shape 2"/>
          <p:cNvSpPr/>
          <p:nvPr/>
        </p:nvSpPr>
        <p:spPr>
          <a:xfrm>
            <a:off x="822960" y="3657600"/>
            <a:ext cx="3108960" cy="0"/>
          </a:xfrm>
          <a:prstGeom prst="line">
            <a:avLst/>
          </a:prstGeom>
          <a:noFill/>
          <a:ln w="25400">
            <a:solidFill>
              <a:srgbClr val="C9922A"/>
            </a:solidFill>
            <a:prstDash val="solid"/>
          </a:ln>
        </p:spPr>
      </p:sp>
      <p:sp>
        <p:nvSpPr>
          <p:cNvPr id="5" name="Text 3"/>
          <p:cNvSpPr/>
          <p:nvPr/>
        </p:nvSpPr>
        <p:spPr>
          <a:xfrm>
            <a:off x="822960" y="3977640"/>
            <a:ext cx="100584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Sifiso Sibuyane</a:t>
            </a:r>
            <a:endParaRPr lang="en-US" sz="1800" dirty="0"/>
          </a:p>
        </p:txBody>
      </p:sp>
      <p:sp>
        <p:nvSpPr>
          <p:cNvPr id="6" name="Text 4"/>
          <p:cNvSpPr/>
          <p:nvPr/>
        </p:nvSpPr>
        <p:spPr>
          <a:xfrm>
            <a:off x="822960" y="4343400"/>
            <a:ext cx="10058400" cy="320040"/>
          </a:xfrm>
          <a:prstGeom prst="rect">
            <a:avLst/>
          </a:prstGeom>
          <a:noFill/>
          <a:ln/>
        </p:spPr>
        <p:txBody>
          <a:bodyPr wrap="square" lIns="0" tIns="0" rIns="0" bIns="0" rtlCol="0" anchor="ctr"/>
          <a:lstStyle/>
          <a:p>
            <a:pPr indent="0" marL="0">
              <a:buNone/>
            </a:pPr>
            <a:r>
              <a:rPr lang="en-US" sz="1400" dirty="0">
                <a:solidFill>
                  <a:srgbClr val="F4F1EA"/>
                </a:solidFill>
                <a:latin typeface="Calibri" pitchFamily="34" charset="0"/>
                <a:ea typeface="Calibri" pitchFamily="34" charset="-122"/>
                <a:cs typeface="Calibri" pitchFamily="34" charset="-120"/>
              </a:rPr>
              <a:t>Build Resilience (Pty) Ltd</a:t>
            </a:r>
            <a:endParaRPr lang="en-US" sz="1400" dirty="0"/>
          </a:p>
        </p:txBody>
      </p:sp>
      <p:sp>
        <p:nvSpPr>
          <p:cNvPr id="7" name="Text 5"/>
          <p:cNvSpPr/>
          <p:nvPr/>
        </p:nvSpPr>
        <p:spPr>
          <a:xfrm>
            <a:off x="822960" y="4709160"/>
            <a:ext cx="10058400" cy="320040"/>
          </a:xfrm>
          <a:prstGeom prst="rect">
            <a:avLst/>
          </a:prstGeom>
          <a:noFill/>
          <a:ln/>
        </p:spPr>
        <p:txBody>
          <a:bodyPr wrap="square" lIns="0" tIns="0" rIns="0" bIns="0" rtlCol="0" anchor="ctr"/>
          <a:lstStyle/>
          <a:p>
            <a:pPr indent="0" marL="0">
              <a:buNone/>
            </a:pPr>
            <a:r>
              <a:rPr lang="en-US" sz="1400" dirty="0">
                <a:solidFill>
                  <a:srgbClr val="F4F1EA"/>
                </a:solidFill>
                <a:latin typeface="Calibri" pitchFamily="34" charset="0"/>
                <a:ea typeface="Calibri" pitchFamily="34" charset="-122"/>
                <a:cs typeface="Calibri" pitchFamily="34" charset="-120"/>
              </a:rPr>
              <a:t>info@buildresilience.co.za    ·    078 044 3373</a:t>
            </a:r>
            <a:endParaRPr lang="en-US" sz="1400" dirty="0"/>
          </a:p>
        </p:txBody>
      </p:sp>
      <p:sp>
        <p:nvSpPr>
          <p:cNvPr id="8" name="Text 6"/>
          <p:cNvSpPr/>
          <p:nvPr/>
        </p:nvSpPr>
        <p:spPr>
          <a:xfrm>
            <a:off x="822960" y="5029200"/>
            <a:ext cx="10058400" cy="320040"/>
          </a:xfrm>
          <a:prstGeom prst="rect">
            <a:avLst/>
          </a:prstGeom>
          <a:noFill/>
          <a:ln/>
        </p:spPr>
        <p:txBody>
          <a:bodyPr wrap="square" lIns="0" tIns="0" rIns="0" bIns="0" rtlCol="0" anchor="ctr"/>
          <a:lstStyle/>
          <a:p>
            <a:pPr indent="0" marL="0">
              <a:buNone/>
            </a:pPr>
            <a:r>
              <a:rPr lang="en-US" sz="1400" dirty="0">
                <a:solidFill>
                  <a:srgbClr val="8A8A95"/>
                </a:solidFill>
                <a:latin typeface="Calibri" pitchFamily="34" charset="0"/>
                <a:ea typeface="Calibri" pitchFamily="34" charset="-122"/>
                <a:cs typeface="Calibri" pitchFamily="34" charset="-120"/>
              </a:rPr>
              <a:t>buildresilience.co.za    ·    Gauteng, South Africa</a:t>
            </a:r>
            <a:endParaRPr lang="en-US" sz="1400" dirty="0"/>
          </a:p>
        </p:txBody>
      </p:sp>
      <p:sp>
        <p:nvSpPr>
          <p:cNvPr id="9" name="Text 7"/>
          <p:cNvSpPr/>
          <p:nvPr/>
        </p:nvSpPr>
        <p:spPr>
          <a:xfrm>
            <a:off x="822960" y="5943600"/>
            <a:ext cx="10058400" cy="365760"/>
          </a:xfrm>
          <a:prstGeom prst="rect">
            <a:avLst/>
          </a:prstGeom>
          <a:noFill/>
          <a:ln/>
        </p:spPr>
        <p:txBody>
          <a:bodyPr wrap="square" lIns="0" tIns="0" rIns="0" bIns="0" rtlCol="0" anchor="ctr"/>
          <a:lstStyle/>
          <a:p>
            <a:pPr indent="0" marL="0">
              <a:buNone/>
            </a:pPr>
            <a:r>
              <a:rPr lang="en-US" sz="1600" dirty="0">
                <a:solidFill>
                  <a:srgbClr val="E4B44C"/>
                </a:solidFill>
                <a:latin typeface="Cambria" pitchFamily="34" charset="0"/>
                <a:ea typeface="Cambria" pitchFamily="34" charset="-122"/>
                <a:cs typeface="Cambria" pitchFamily="34" charset="-120"/>
              </a:rPr>
              <a:t>“Where leaders come to sharpen each other.”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2026-07-11T09:21:06Z</dcterms:created>
  <dcterms:modified xsi:type="dcterms:W3CDTF">2026-07-11T09:21:06Z</dcterms:modified>
</cp:coreProperties>
</file>