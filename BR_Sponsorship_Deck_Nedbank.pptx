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40080" y="1417320"/>
            <a:ext cx="8229600" cy="365760"/>
          </a:xfrm>
          <a:prstGeom prst="rect">
            <a:avLst/>
          </a:prstGeom>
          <a:noFill/>
          <a:ln/>
        </p:spPr>
        <p:txBody>
          <a:bodyPr wrap="square" rtlCol="0" anchor="ctr"/>
          <a:lstStyle/>
          <a:p>
            <a:pPr indent="0" marL="0">
              <a:buNone/>
            </a:pPr>
            <a:r>
              <a:rPr lang="en-US" sz="1400" b="1" spc="600" kern="0" dirty="0">
                <a:solidFill>
                  <a:srgbClr val="C9922A"/>
                </a:solidFill>
                <a:latin typeface="Calibri" pitchFamily="34" charset="0"/>
                <a:ea typeface="Calibri" pitchFamily="34" charset="-122"/>
                <a:cs typeface="Calibri" pitchFamily="34" charset="-120"/>
              </a:rPr>
              <a:t>SPONSORSHIP PROPOSAL</a:t>
            </a:r>
            <a:endParaRPr lang="en-US" sz="1400" dirty="0"/>
          </a:p>
        </p:txBody>
      </p:sp>
      <p:sp>
        <p:nvSpPr>
          <p:cNvPr id="3" name="Text 1"/>
          <p:cNvSpPr/>
          <p:nvPr/>
        </p:nvSpPr>
        <p:spPr>
          <a:xfrm>
            <a:off x="640080" y="1828800"/>
            <a:ext cx="10058400" cy="86868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Building Resilience</a:t>
            </a:r>
            <a:endParaRPr lang="en-US" sz="5200" dirty="0"/>
          </a:p>
        </p:txBody>
      </p:sp>
      <p:sp>
        <p:nvSpPr>
          <p:cNvPr id="4" name="Text 2"/>
          <p:cNvSpPr/>
          <p:nvPr/>
        </p:nvSpPr>
        <p:spPr>
          <a:xfrm>
            <a:off x="640080" y="2606040"/>
            <a:ext cx="10058400" cy="86868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Annual Conference 2026</a:t>
            </a:r>
            <a:endParaRPr lang="en-US" sz="5200" dirty="0"/>
          </a:p>
        </p:txBody>
      </p:sp>
      <p:sp>
        <p:nvSpPr>
          <p:cNvPr id="5" name="Text 3"/>
          <p:cNvSpPr/>
          <p:nvPr/>
        </p:nvSpPr>
        <p:spPr>
          <a:xfrm>
            <a:off x="640080" y="3611880"/>
            <a:ext cx="10058400" cy="411480"/>
          </a:xfrm>
          <a:prstGeom prst="rect">
            <a:avLst/>
          </a:prstGeom>
          <a:noFill/>
          <a:ln/>
        </p:spPr>
        <p:txBody>
          <a:bodyPr wrap="square" rtlCol="0" anchor="ctr"/>
          <a:lstStyle/>
          <a:p>
            <a:pPr indent="0" marL="0">
              <a:buNone/>
            </a:pPr>
            <a:r>
              <a:rPr lang="en-US" sz="1900" dirty="0">
                <a:solidFill>
                  <a:srgbClr val="EDEBE4"/>
                </a:solidFill>
                <a:latin typeface="Calibri" pitchFamily="34" charset="0"/>
                <a:ea typeface="Calibri" pitchFamily="34" charset="-122"/>
                <a:cs typeface="Calibri" pitchFamily="34" charset="-120"/>
              </a:rPr>
              <a:t>A Gold sponsorship, prepared for Nedbank Business.</a:t>
            </a:r>
            <a:endParaRPr lang="en-US" sz="1900" dirty="0"/>
          </a:p>
        </p:txBody>
      </p:sp>
      <p:sp>
        <p:nvSpPr>
          <p:cNvPr id="6" name="Text 4"/>
          <p:cNvSpPr/>
          <p:nvPr/>
        </p:nvSpPr>
        <p:spPr>
          <a:xfrm>
            <a:off x="640080" y="434340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Thursday, 29 October 2026</a:t>
            </a:r>
            <a:pPr indent="0" marL="0">
              <a:buNone/>
            </a:pPr>
            <a:r>
              <a:rPr lang="en-US" sz="1500" dirty="0">
                <a:solidFill>
                  <a:srgbClr val="9A99A2"/>
                </a:solidFill>
                <a:latin typeface="Calibri" pitchFamily="34" charset="0"/>
                <a:ea typeface="Calibri" pitchFamily="34" charset="-122"/>
                <a:cs typeface="Calibri" pitchFamily="34" charset="-120"/>
              </a:rPr>
              <a:t>     ·     full day     ·     in-person</a:t>
            </a:r>
            <a:endParaRPr lang="en-US" sz="1500" dirty="0"/>
          </a:p>
        </p:txBody>
      </p:sp>
      <p:sp>
        <p:nvSpPr>
          <p:cNvPr id="7" name="Text 5"/>
          <p:cNvSpPr/>
          <p:nvPr/>
        </p:nvSpPr>
        <p:spPr>
          <a:xfrm>
            <a:off x="640080" y="4709160"/>
            <a:ext cx="10058400" cy="365760"/>
          </a:xfrm>
          <a:prstGeom prst="rect">
            <a:avLst/>
          </a:prstGeom>
          <a:noFill/>
          <a:ln/>
        </p:spPr>
        <p:txBody>
          <a:bodyPr wrap="square" rtlCol="0" anchor="ctr"/>
          <a:lstStyle/>
          <a:p>
            <a:pPr indent="0" marL="0">
              <a:buNone/>
            </a:pPr>
            <a:r>
              <a:rPr lang="en-US" sz="1500" dirty="0">
                <a:solidFill>
                  <a:srgbClr val="9A99A2"/>
                </a:solidFill>
                <a:latin typeface="Calibri" pitchFamily="34" charset="0"/>
                <a:ea typeface="Calibri" pitchFamily="34" charset="-122"/>
                <a:cs typeface="Calibri" pitchFamily="34" charset="-120"/>
              </a:rPr>
              <a:t>Wits Theatre, Braamfontein, Gauteng (target venue)</a:t>
            </a:r>
            <a:endParaRPr lang="en-US" sz="1500" dirty="0"/>
          </a:p>
        </p:txBody>
      </p:sp>
      <p:sp>
        <p:nvSpPr>
          <p:cNvPr id="8" name="Text 6"/>
          <p:cNvSpPr/>
          <p:nvPr/>
        </p:nvSpPr>
        <p:spPr>
          <a:xfrm>
            <a:off x="640080" y="5623560"/>
            <a:ext cx="10058400" cy="457200"/>
          </a:xfrm>
          <a:prstGeom prst="rect">
            <a:avLst/>
          </a:prstGeom>
          <a:noFill/>
          <a:ln/>
        </p:spPr>
        <p:txBody>
          <a:bodyPr wrap="square" rtlCol="0" anchor="ctr"/>
          <a:lstStyle/>
          <a:p>
            <a:pPr indent="0" marL="0">
              <a:buNone/>
            </a:pPr>
            <a:r>
              <a:rPr lang="en-US" sz="1800" i="1" dirty="0">
                <a:solidFill>
                  <a:srgbClr val="C9922A"/>
                </a:solidFill>
                <a:latin typeface="Cambria" pitchFamily="34" charset="0"/>
                <a:ea typeface="Cambria" pitchFamily="34" charset="-122"/>
                <a:cs typeface="Cambria" pitchFamily="34" charset="-120"/>
              </a:rPr>
              <a:t>“Where leaders come to sharpen each other.”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THE SHORT VERSION</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A premium fit for a purpose-led bank</a:t>
            </a:r>
            <a:endParaRPr lang="en-US" sz="3200" dirty="0"/>
          </a:p>
        </p:txBody>
      </p:sp>
      <p:sp>
        <p:nvSpPr>
          <p:cNvPr id="4" name="Text 2"/>
          <p:cNvSpPr/>
          <p:nvPr/>
        </p:nvSpPr>
        <p:spPr>
          <a:xfrm>
            <a:off x="640080" y="1600200"/>
            <a:ext cx="10911535" cy="411480"/>
          </a:xfrm>
          <a:prstGeom prst="rect">
            <a:avLst/>
          </a:prstGeom>
          <a:noFill/>
          <a:ln/>
        </p:spPr>
        <p:txBody>
          <a:bodyPr wrap="square" rtlCol="0" anchor="ctr"/>
          <a:lstStyle/>
          <a:p>
            <a:pPr indent="0" marL="0">
              <a:buNone/>
            </a:pPr>
            <a:r>
              <a:rPr lang="en-US" sz="1900" i="1" dirty="0">
                <a:solidFill>
                  <a:srgbClr val="1A1A24"/>
                </a:solidFill>
                <a:latin typeface="Cambria" pitchFamily="34" charset="0"/>
                <a:ea typeface="Cambria" pitchFamily="34" charset="-122"/>
                <a:cs typeface="Cambria" pitchFamily="34" charset="-120"/>
              </a:rPr>
              <a:t>The stall holds one day. The name around it carries for months.</a:t>
            </a:r>
            <a:endParaRPr lang="en-US" sz="1900" dirty="0"/>
          </a:p>
        </p:txBody>
      </p:sp>
      <p:sp>
        <p:nvSpPr>
          <p:cNvPr id="5" name="Text 3"/>
          <p:cNvSpPr/>
          <p:nvPr/>
        </p:nvSpPr>
        <p:spPr>
          <a:xfrm>
            <a:off x="640080" y="2148840"/>
            <a:ext cx="10911535" cy="1097280"/>
          </a:xfrm>
          <a:prstGeom prst="rect">
            <a:avLst/>
          </a:prstGeom>
          <a:noFill/>
          <a:ln/>
        </p:spPr>
        <p:txBody>
          <a:bodyPr wrap="square" rtlCol="0" anchor="t"/>
          <a:lstStyle/>
          <a:p>
            <a:pPr indent="0" marL="0">
              <a:lnSpc>
                <a:spcPct val="115000"/>
              </a:lnSpc>
              <a:buNone/>
            </a:pPr>
            <a:r>
              <a:rPr lang="en-US" sz="1500" dirty="0">
                <a:solidFill>
                  <a:srgbClr val="222229"/>
                </a:solidFill>
                <a:latin typeface="Calibri" pitchFamily="34" charset="0"/>
                <a:ea typeface="Calibri" pitchFamily="34" charset="-122"/>
                <a:cs typeface="Calibri" pitchFamily="34" charset="-120"/>
              </a:rPr>
              <a:t>Build Resilience invites Nedbank Business to come on board as a Gold sponsor of the Building Resilience Annual Conference 2026, a full-day gathering on Thursday 29 October 2026 at the Wits Theatre in Braamfontein. The room is 300 to 400 senior delegates, the exact people Nedbank Business is built to serve, put in front of the bank whose whole idea is that money should be seen differently.</a:t>
            </a:r>
            <a:endParaRPr lang="en-US" sz="1500" dirty="0"/>
          </a:p>
        </p:txBody>
      </p:sp>
      <p:sp>
        <p:nvSpPr>
          <p:cNvPr id="6" name="Shape 4"/>
          <p:cNvSpPr/>
          <p:nvPr/>
        </p:nvSpPr>
        <p:spPr>
          <a:xfrm>
            <a:off x="640080" y="3703320"/>
            <a:ext cx="3454298" cy="1737360"/>
          </a:xfrm>
          <a:prstGeom prst="rect">
            <a:avLst/>
          </a:prstGeom>
          <a:solidFill>
            <a:srgbClr val="1A1A24"/>
          </a:solidFill>
          <a:ln/>
        </p:spPr>
      </p:sp>
      <p:sp>
        <p:nvSpPr>
          <p:cNvPr id="7" name="Text 5"/>
          <p:cNvSpPr/>
          <p:nvPr/>
        </p:nvSpPr>
        <p:spPr>
          <a:xfrm>
            <a:off x="640080" y="3977640"/>
            <a:ext cx="3454298" cy="822960"/>
          </a:xfrm>
          <a:prstGeom prst="rect">
            <a:avLst/>
          </a:prstGeom>
          <a:noFill/>
          <a:ln/>
        </p:spPr>
        <p:txBody>
          <a:bodyPr wrap="square" rtlCol="0" anchor="ctr"/>
          <a:lstStyle/>
          <a:p>
            <a:pPr algn="ctr" indent="0" marL="0">
              <a:buNone/>
            </a:pPr>
            <a:r>
              <a:rPr lang="en-US" sz="4000" b="1" dirty="0">
                <a:solidFill>
                  <a:srgbClr val="C9922A"/>
                </a:solidFill>
                <a:latin typeface="Cambria" pitchFamily="34" charset="0"/>
                <a:ea typeface="Cambria" pitchFamily="34" charset="-122"/>
                <a:cs typeface="Cambria" pitchFamily="34" charset="-120"/>
              </a:rPr>
              <a:t>300–400</a:t>
            </a:r>
            <a:endParaRPr lang="en-US" sz="4000" dirty="0"/>
          </a:p>
        </p:txBody>
      </p:sp>
      <p:sp>
        <p:nvSpPr>
          <p:cNvPr id="8" name="Text 6"/>
          <p:cNvSpPr/>
          <p:nvPr/>
        </p:nvSpPr>
        <p:spPr>
          <a:xfrm>
            <a:off x="777240" y="4800600"/>
            <a:ext cx="3179978" cy="457200"/>
          </a:xfrm>
          <a:prstGeom prst="rect">
            <a:avLst/>
          </a:prstGeom>
          <a:noFill/>
          <a:ln/>
        </p:spPr>
        <p:txBody>
          <a:bodyPr wrap="square" rtlCol="0" anchor="ctr"/>
          <a:lstStyle/>
          <a:p>
            <a:pPr algn="ctr" indent="0" marL="0">
              <a:buNone/>
            </a:pPr>
            <a:r>
              <a:rPr lang="en-US" sz="1200" dirty="0">
                <a:solidFill>
                  <a:srgbClr val="EDEBE4"/>
                </a:solidFill>
                <a:latin typeface="Calibri" pitchFamily="34" charset="0"/>
                <a:ea typeface="Calibri" pitchFamily="34" charset="-122"/>
                <a:cs typeface="Calibri" pitchFamily="34" charset="-120"/>
              </a:rPr>
              <a:t>senior delegates in the room</a:t>
            </a:r>
            <a:endParaRPr lang="en-US" sz="1200" dirty="0"/>
          </a:p>
        </p:txBody>
      </p:sp>
      <p:sp>
        <p:nvSpPr>
          <p:cNvPr id="9" name="Shape 7"/>
          <p:cNvSpPr/>
          <p:nvPr/>
        </p:nvSpPr>
        <p:spPr>
          <a:xfrm>
            <a:off x="4368698" y="3703320"/>
            <a:ext cx="3454298" cy="1737360"/>
          </a:xfrm>
          <a:prstGeom prst="rect">
            <a:avLst/>
          </a:prstGeom>
          <a:solidFill>
            <a:srgbClr val="1A1A24"/>
          </a:solidFill>
          <a:ln/>
        </p:spPr>
      </p:sp>
      <p:sp>
        <p:nvSpPr>
          <p:cNvPr id="10" name="Text 8"/>
          <p:cNvSpPr/>
          <p:nvPr/>
        </p:nvSpPr>
        <p:spPr>
          <a:xfrm>
            <a:off x="4368698" y="3977640"/>
            <a:ext cx="3454298" cy="822960"/>
          </a:xfrm>
          <a:prstGeom prst="rect">
            <a:avLst/>
          </a:prstGeom>
          <a:noFill/>
          <a:ln/>
        </p:spPr>
        <p:txBody>
          <a:bodyPr wrap="square" rtlCol="0" anchor="ctr"/>
          <a:lstStyle/>
          <a:p>
            <a:pPr algn="ctr" indent="0" marL="0">
              <a:buNone/>
            </a:pPr>
            <a:r>
              <a:rPr lang="en-US" sz="4000" b="1" dirty="0">
                <a:solidFill>
                  <a:srgbClr val="C9922A"/>
                </a:solidFill>
                <a:latin typeface="Cambria" pitchFamily="34" charset="0"/>
                <a:ea typeface="Cambria" pitchFamily="34" charset="-122"/>
                <a:cs typeface="Cambria" pitchFamily="34" charset="-120"/>
              </a:rPr>
              <a:t>10</a:t>
            </a:r>
            <a:endParaRPr lang="en-US" sz="4000" dirty="0"/>
          </a:p>
        </p:txBody>
      </p:sp>
      <p:sp>
        <p:nvSpPr>
          <p:cNvPr id="11" name="Text 9"/>
          <p:cNvSpPr/>
          <p:nvPr/>
        </p:nvSpPr>
        <p:spPr>
          <a:xfrm>
            <a:off x="4505858" y="4800600"/>
            <a:ext cx="3179978" cy="457200"/>
          </a:xfrm>
          <a:prstGeom prst="rect">
            <a:avLst/>
          </a:prstGeom>
          <a:noFill/>
          <a:ln/>
        </p:spPr>
        <p:txBody>
          <a:bodyPr wrap="square" rtlCol="0" anchor="ctr"/>
          <a:lstStyle/>
          <a:p>
            <a:pPr algn="ctr" indent="0" marL="0">
              <a:buNone/>
            </a:pPr>
            <a:r>
              <a:rPr lang="en-US" sz="1200" dirty="0">
                <a:solidFill>
                  <a:srgbClr val="EDEBE4"/>
                </a:solidFill>
                <a:latin typeface="Calibri" pitchFamily="34" charset="0"/>
                <a:ea typeface="Calibri" pitchFamily="34" charset="-122"/>
                <a:cs typeface="Calibri" pitchFamily="34" charset="-120"/>
              </a:rPr>
              <a:t>curated speakers, one full day</a:t>
            </a:r>
            <a:endParaRPr lang="en-US" sz="1200" dirty="0"/>
          </a:p>
        </p:txBody>
      </p:sp>
      <p:sp>
        <p:nvSpPr>
          <p:cNvPr id="12" name="Shape 10"/>
          <p:cNvSpPr/>
          <p:nvPr/>
        </p:nvSpPr>
        <p:spPr>
          <a:xfrm>
            <a:off x="8097317" y="3703320"/>
            <a:ext cx="3454298" cy="1737360"/>
          </a:xfrm>
          <a:prstGeom prst="rect">
            <a:avLst/>
          </a:prstGeom>
          <a:solidFill>
            <a:srgbClr val="1A1A24"/>
          </a:solidFill>
          <a:ln/>
        </p:spPr>
      </p:sp>
      <p:sp>
        <p:nvSpPr>
          <p:cNvPr id="13" name="Text 11"/>
          <p:cNvSpPr/>
          <p:nvPr/>
        </p:nvSpPr>
        <p:spPr>
          <a:xfrm>
            <a:off x="8097317" y="3977640"/>
            <a:ext cx="3454298" cy="822960"/>
          </a:xfrm>
          <a:prstGeom prst="rect">
            <a:avLst/>
          </a:prstGeom>
          <a:noFill/>
          <a:ln/>
        </p:spPr>
        <p:txBody>
          <a:bodyPr wrap="square" rtlCol="0" anchor="ctr"/>
          <a:lstStyle/>
          <a:p>
            <a:pPr algn="ctr" indent="0" marL="0">
              <a:buNone/>
            </a:pPr>
            <a:r>
              <a:rPr lang="en-US" sz="4000" b="1" dirty="0">
                <a:solidFill>
                  <a:srgbClr val="C9922A"/>
                </a:solidFill>
                <a:latin typeface="Cambria" pitchFamily="34" charset="0"/>
                <a:ea typeface="Cambria" pitchFamily="34" charset="-122"/>
                <a:cs typeface="Cambria" pitchFamily="34" charset="-120"/>
              </a:rPr>
              <a:t>3</a:t>
            </a:r>
            <a:endParaRPr lang="en-US" sz="4000" dirty="0"/>
          </a:p>
        </p:txBody>
      </p:sp>
      <p:sp>
        <p:nvSpPr>
          <p:cNvPr id="14" name="Text 12"/>
          <p:cNvSpPr/>
          <p:nvPr/>
        </p:nvSpPr>
        <p:spPr>
          <a:xfrm>
            <a:off x="8234477" y="4800600"/>
            <a:ext cx="3179978" cy="457200"/>
          </a:xfrm>
          <a:prstGeom prst="rect">
            <a:avLst/>
          </a:prstGeom>
          <a:noFill/>
          <a:ln/>
        </p:spPr>
        <p:txBody>
          <a:bodyPr wrap="square" rtlCol="0" anchor="ctr"/>
          <a:lstStyle/>
          <a:p>
            <a:pPr algn="ctr" indent="0" marL="0">
              <a:buNone/>
            </a:pPr>
            <a:r>
              <a:rPr lang="en-US" sz="1200" dirty="0">
                <a:solidFill>
                  <a:srgbClr val="EDEBE4"/>
                </a:solidFill>
                <a:latin typeface="Calibri" pitchFamily="34" charset="0"/>
                <a:ea typeface="Calibri" pitchFamily="34" charset="-122"/>
                <a:cs typeface="Calibri" pitchFamily="34" charset="-120"/>
              </a:rPr>
              <a:t>pillars: Strength · Structure · Growth</a:t>
            </a:r>
            <a:endParaRPr lang="en-US" sz="1200" dirty="0"/>
          </a:p>
        </p:txBody>
      </p:sp>
      <p:sp>
        <p:nvSpPr>
          <p:cNvPr id="15" name="Text 13"/>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6" name="Text 14"/>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WHY WE LEAD WITH FIT, NOT FOOTFALL</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A different kind of proposal</a:t>
            </a:r>
            <a:endParaRPr lang="en-US" sz="3200" dirty="0"/>
          </a:p>
        </p:txBody>
      </p:sp>
      <p:sp>
        <p:nvSpPr>
          <p:cNvPr id="4" name="Shape 2"/>
          <p:cNvSpPr/>
          <p:nvPr/>
        </p:nvSpPr>
        <p:spPr>
          <a:xfrm>
            <a:off x="640080" y="1828800"/>
            <a:ext cx="109728" cy="1234440"/>
          </a:xfrm>
          <a:prstGeom prst="rect">
            <a:avLst/>
          </a:prstGeom>
          <a:solidFill>
            <a:srgbClr val="C9922A"/>
          </a:solidFill>
          <a:ln/>
        </p:spPr>
      </p:sp>
      <p:sp>
        <p:nvSpPr>
          <p:cNvPr id="5" name="Text 3"/>
          <p:cNvSpPr/>
          <p:nvPr/>
        </p:nvSpPr>
        <p:spPr>
          <a:xfrm>
            <a:off x="932688" y="1783080"/>
            <a:ext cx="10618927" cy="365760"/>
          </a:xfrm>
          <a:prstGeom prst="rect">
            <a:avLst/>
          </a:prstGeom>
          <a:noFill/>
          <a:ln/>
        </p:spPr>
        <p:txBody>
          <a:bodyPr wrap="square"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Most proposals sell access.</a:t>
            </a:r>
            <a:endParaRPr lang="en-US" sz="1700" dirty="0"/>
          </a:p>
        </p:txBody>
      </p:sp>
      <p:sp>
        <p:nvSpPr>
          <p:cNvPr id="6" name="Text 4"/>
          <p:cNvSpPr/>
          <p:nvPr/>
        </p:nvSpPr>
        <p:spPr>
          <a:xfrm>
            <a:off x="932688" y="2194560"/>
            <a:ext cx="10618927" cy="822960"/>
          </a:xfrm>
          <a:prstGeom prst="rect">
            <a:avLst/>
          </a:prstGeom>
          <a:noFill/>
          <a:ln/>
        </p:spPr>
        <p:txBody>
          <a:bodyPr wrap="square" rtlCol="0" anchor="t"/>
          <a:lstStyle/>
          <a:p>
            <a:pPr indent="0" marL="0">
              <a:lnSpc>
                <a:spcPct val="110000"/>
              </a:lnSpc>
              <a:buNone/>
            </a:pPr>
            <a:r>
              <a:rPr lang="en-US" sz="1400" dirty="0">
                <a:solidFill>
                  <a:srgbClr val="222229"/>
                </a:solidFill>
                <a:latin typeface="Calibri" pitchFamily="34" charset="0"/>
                <a:ea typeface="Calibri" pitchFamily="34" charset="-122"/>
                <a:cs typeface="Calibri" pitchFamily="34" charset="-120"/>
              </a:rPr>
              <a:t>They open by promising a room full of leads. We could do that, and the room would deliver it. It just felt like the wrong opening for a conversation with Nedbank.</a:t>
            </a:r>
            <a:endParaRPr lang="en-US" sz="1400" dirty="0"/>
          </a:p>
        </p:txBody>
      </p:sp>
      <p:sp>
        <p:nvSpPr>
          <p:cNvPr id="7" name="Shape 5"/>
          <p:cNvSpPr/>
          <p:nvPr/>
        </p:nvSpPr>
        <p:spPr>
          <a:xfrm>
            <a:off x="640080" y="3291840"/>
            <a:ext cx="109728" cy="1234440"/>
          </a:xfrm>
          <a:prstGeom prst="rect">
            <a:avLst/>
          </a:prstGeom>
          <a:solidFill>
            <a:srgbClr val="C9922A"/>
          </a:solidFill>
          <a:ln/>
        </p:spPr>
      </p:sp>
      <p:sp>
        <p:nvSpPr>
          <p:cNvPr id="8" name="Text 6"/>
          <p:cNvSpPr/>
          <p:nvPr/>
        </p:nvSpPr>
        <p:spPr>
          <a:xfrm>
            <a:off x="932688" y="3246120"/>
            <a:ext cx="10618927" cy="365760"/>
          </a:xfrm>
          <a:prstGeom prst="rect">
            <a:avLst/>
          </a:prstGeom>
          <a:noFill/>
          <a:ln/>
        </p:spPr>
        <p:txBody>
          <a:bodyPr wrap="square"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“See money differently” is a claim about how a bank thinks.</a:t>
            </a:r>
            <a:endParaRPr lang="en-US" sz="1700" dirty="0"/>
          </a:p>
        </p:txBody>
      </p:sp>
      <p:sp>
        <p:nvSpPr>
          <p:cNvPr id="9" name="Text 7"/>
          <p:cNvSpPr/>
          <p:nvPr/>
        </p:nvSpPr>
        <p:spPr>
          <a:xfrm>
            <a:off x="932688" y="3657600"/>
            <a:ext cx="10618927" cy="822960"/>
          </a:xfrm>
          <a:prstGeom prst="rect">
            <a:avLst/>
          </a:prstGeom>
          <a:noFill/>
          <a:ln/>
        </p:spPr>
        <p:txBody>
          <a:bodyPr wrap="square" rtlCol="0" anchor="t"/>
          <a:lstStyle/>
          <a:p>
            <a:pPr indent="0" marL="0">
              <a:lnSpc>
                <a:spcPct val="110000"/>
              </a:lnSpc>
              <a:buNone/>
            </a:pPr>
            <a:r>
              <a:rPr lang="en-US" sz="1400" dirty="0">
                <a:solidFill>
                  <a:srgbClr val="222229"/>
                </a:solidFill>
                <a:latin typeface="Calibri" pitchFamily="34" charset="0"/>
                <a:ea typeface="Calibri" pitchFamily="34" charset="-122"/>
                <a:cs typeface="Calibri" pitchFamily="34" charset="-120"/>
              </a:rPr>
              <a:t>This room is full of people who have had no choice but to see money differently. So rather than count heads, we would rather talk about the company the Nedbank name would keep for a day.</a:t>
            </a:r>
            <a:endParaRPr lang="en-US" sz="1400" dirty="0"/>
          </a:p>
        </p:txBody>
      </p:sp>
      <p:sp>
        <p:nvSpPr>
          <p:cNvPr id="10" name="Shape 8"/>
          <p:cNvSpPr/>
          <p:nvPr/>
        </p:nvSpPr>
        <p:spPr>
          <a:xfrm>
            <a:off x="640080" y="4754880"/>
            <a:ext cx="109728" cy="1234440"/>
          </a:xfrm>
          <a:prstGeom prst="rect">
            <a:avLst/>
          </a:prstGeom>
          <a:solidFill>
            <a:srgbClr val="C9922A"/>
          </a:solidFill>
          <a:ln/>
        </p:spPr>
      </p:sp>
      <p:sp>
        <p:nvSpPr>
          <p:cNvPr id="11" name="Text 9"/>
          <p:cNvSpPr/>
          <p:nvPr/>
        </p:nvSpPr>
        <p:spPr>
          <a:xfrm>
            <a:off x="932688" y="4709160"/>
            <a:ext cx="10618927" cy="365760"/>
          </a:xfrm>
          <a:prstGeom prst="rect">
            <a:avLst/>
          </a:prstGeom>
          <a:noFill/>
          <a:ln/>
        </p:spPr>
        <p:txBody>
          <a:bodyPr wrap="square"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The commercial recognition is all here.</a:t>
            </a:r>
            <a:endParaRPr lang="en-US" sz="1700" dirty="0"/>
          </a:p>
        </p:txBody>
      </p:sp>
      <p:sp>
        <p:nvSpPr>
          <p:cNvPr id="12" name="Text 10"/>
          <p:cNvSpPr/>
          <p:nvPr/>
        </p:nvSpPr>
        <p:spPr>
          <a:xfrm>
            <a:off x="932688" y="5120640"/>
            <a:ext cx="10618927" cy="822960"/>
          </a:xfrm>
          <a:prstGeom prst="rect">
            <a:avLst/>
          </a:prstGeom>
          <a:noFill/>
          <a:ln/>
        </p:spPr>
        <p:txBody>
          <a:bodyPr wrap="square" rtlCol="0" anchor="t"/>
          <a:lstStyle/>
          <a:p>
            <a:pPr indent="0" marL="0">
              <a:lnSpc>
                <a:spcPct val="110000"/>
              </a:lnSpc>
              <a:buNone/>
            </a:pPr>
            <a:r>
              <a:rPr lang="en-US" sz="1400" dirty="0">
                <a:solidFill>
                  <a:srgbClr val="222229"/>
                </a:solidFill>
                <a:latin typeface="Calibri" pitchFamily="34" charset="0"/>
                <a:ea typeface="Calibri" pitchFamily="34" charset="-122"/>
                <a:cs typeface="Calibri" pitchFamily="34" charset="-120"/>
              </a:rPr>
              <a:t>Set out plainly further down, nothing hidden. Alongside it sits a quieter thing: Gauteng matriculants, in the room, watching what a built business looks like.</a:t>
            </a:r>
            <a:endParaRPr lang="en-US" sz="1400" dirty="0"/>
          </a:p>
        </p:txBody>
      </p:sp>
      <p:sp>
        <p:nvSpPr>
          <p:cNvPr id="13" name="Text 11"/>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4" name="Text 12"/>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WHO WE ARE</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About Build Resilience</a:t>
            </a:r>
            <a:endParaRPr lang="en-US" sz="3200" dirty="0"/>
          </a:p>
        </p:txBody>
      </p:sp>
      <p:sp>
        <p:nvSpPr>
          <p:cNvPr id="4" name="Text 2"/>
          <p:cNvSpPr/>
          <p:nvPr/>
        </p:nvSpPr>
        <p:spPr>
          <a:xfrm>
            <a:off x="640080" y="1645920"/>
            <a:ext cx="10911535" cy="822960"/>
          </a:xfrm>
          <a:prstGeom prst="rect">
            <a:avLst/>
          </a:prstGeom>
          <a:noFill/>
          <a:ln/>
        </p:spPr>
        <p:txBody>
          <a:bodyPr wrap="square" rtlCol="0" anchor="t"/>
          <a:lstStyle/>
          <a:p>
            <a:pPr indent="0" marL="0">
              <a:lnSpc>
                <a:spcPct val="115000"/>
              </a:lnSpc>
              <a:buNone/>
            </a:pPr>
            <a:r>
              <a:rPr lang="en-US" sz="1500" dirty="0">
                <a:solidFill>
                  <a:srgbClr val="222229"/>
                </a:solidFill>
                <a:latin typeface="Calibri" pitchFamily="34" charset="0"/>
                <a:ea typeface="Calibri" pitchFamily="34" charset="-122"/>
                <a:cs typeface="Calibri" pitchFamily="34" charset="-120"/>
              </a:rPr>
              <a:t>A Gauteng company, wholly owned by Kingdom Faith Worship Centre NPC (PBO status pending). We design and produce high-trust conferences, roundtables and workshops for founders, operators and organisational leaders.</a:t>
            </a:r>
            <a:endParaRPr lang="en-US" sz="1500" dirty="0"/>
          </a:p>
        </p:txBody>
      </p:sp>
      <p:sp>
        <p:nvSpPr>
          <p:cNvPr id="5" name="Text 3"/>
          <p:cNvSpPr/>
          <p:nvPr/>
        </p:nvSpPr>
        <p:spPr>
          <a:xfrm>
            <a:off x="640080" y="2514600"/>
            <a:ext cx="10911535" cy="457200"/>
          </a:xfrm>
          <a:prstGeom prst="rect">
            <a:avLst/>
          </a:prstGeom>
          <a:noFill/>
          <a:ln/>
        </p:spPr>
        <p:txBody>
          <a:bodyPr wrap="square" rtlCol="0" anchor="ctr"/>
          <a:lstStyle/>
          <a:p>
            <a:pPr indent="0" marL="0">
              <a:buNone/>
            </a:pPr>
            <a:r>
              <a:rPr lang="en-US" sz="1900" i="1" dirty="0">
                <a:solidFill>
                  <a:srgbClr val="C9922A"/>
                </a:solidFill>
                <a:latin typeface="Cambria" pitchFamily="34" charset="0"/>
                <a:ea typeface="Cambria" pitchFamily="34" charset="-122"/>
                <a:cs typeface="Cambria" pitchFamily="34" charset="-120"/>
              </a:rPr>
              <a:t>“We don’t host pitches. We host honest conversations.”</a:t>
            </a:r>
            <a:endParaRPr lang="en-US" sz="1900" dirty="0"/>
          </a:p>
        </p:txBody>
      </p:sp>
      <p:sp>
        <p:nvSpPr>
          <p:cNvPr id="6" name="Shape 4"/>
          <p:cNvSpPr/>
          <p:nvPr/>
        </p:nvSpPr>
        <p:spPr>
          <a:xfrm>
            <a:off x="640080" y="3246120"/>
            <a:ext cx="3454298" cy="1965960"/>
          </a:xfrm>
          <a:prstGeom prst="rect">
            <a:avLst/>
          </a:prstGeom>
          <a:solidFill>
            <a:srgbClr val="F4F1EA"/>
          </a:solidFill>
          <a:ln/>
        </p:spPr>
      </p:sp>
      <p:sp>
        <p:nvSpPr>
          <p:cNvPr id="7" name="Text 5"/>
          <p:cNvSpPr/>
          <p:nvPr/>
        </p:nvSpPr>
        <p:spPr>
          <a:xfrm>
            <a:off x="841248" y="3429000"/>
            <a:ext cx="3051962" cy="411480"/>
          </a:xfrm>
          <a:prstGeom prst="rect">
            <a:avLst/>
          </a:prstGeom>
          <a:noFill/>
          <a:ln/>
        </p:spPr>
        <p:txBody>
          <a:bodyPr wrap="square" rtlCol="0" anchor="ctr"/>
          <a:lstStyle/>
          <a:p>
            <a:pPr indent="0" marL="0">
              <a:buNone/>
            </a:pPr>
            <a:r>
              <a:rPr lang="en-US" sz="2000" b="1" dirty="0">
                <a:solidFill>
                  <a:srgbClr val="1A1A24"/>
                </a:solidFill>
                <a:latin typeface="Cambria" pitchFamily="34" charset="0"/>
                <a:ea typeface="Cambria" pitchFamily="34" charset="-122"/>
                <a:cs typeface="Cambria" pitchFamily="34" charset="-120"/>
              </a:rPr>
              <a:t>Strength</a:t>
            </a:r>
            <a:endParaRPr lang="en-US" sz="2000" dirty="0"/>
          </a:p>
        </p:txBody>
      </p:sp>
      <p:sp>
        <p:nvSpPr>
          <p:cNvPr id="8" name="Text 6"/>
          <p:cNvSpPr/>
          <p:nvPr/>
        </p:nvSpPr>
        <p:spPr>
          <a:xfrm>
            <a:off x="841248" y="3886200"/>
            <a:ext cx="3051962" cy="1188720"/>
          </a:xfrm>
          <a:prstGeom prst="rect">
            <a:avLst/>
          </a:prstGeom>
          <a:noFill/>
          <a:ln/>
        </p:spPr>
        <p:txBody>
          <a:bodyPr wrap="square" rtlCol="0" anchor="t"/>
          <a:lstStyle/>
          <a:p>
            <a:pPr indent="0" marL="0">
              <a:lnSpc>
                <a:spcPct val="110000"/>
              </a:lnSpc>
              <a:buNone/>
            </a:pPr>
            <a:r>
              <a:rPr lang="en-US" sz="1300" dirty="0">
                <a:solidFill>
                  <a:srgbClr val="222229"/>
                </a:solidFill>
                <a:latin typeface="Calibri" pitchFamily="34" charset="0"/>
                <a:ea typeface="Calibri" pitchFamily="34" charset="-122"/>
                <a:cs typeface="Calibri" pitchFamily="34" charset="-120"/>
              </a:rPr>
              <a:t>Honest, raw conversations about what nearly broke the business, and what saved it.</a:t>
            </a:r>
            <a:endParaRPr lang="en-US" sz="1300" dirty="0"/>
          </a:p>
        </p:txBody>
      </p:sp>
      <p:sp>
        <p:nvSpPr>
          <p:cNvPr id="9" name="Shape 7"/>
          <p:cNvSpPr/>
          <p:nvPr/>
        </p:nvSpPr>
        <p:spPr>
          <a:xfrm>
            <a:off x="4368698" y="3246120"/>
            <a:ext cx="3454298" cy="1965960"/>
          </a:xfrm>
          <a:prstGeom prst="rect">
            <a:avLst/>
          </a:prstGeom>
          <a:solidFill>
            <a:srgbClr val="F4F1EA"/>
          </a:solidFill>
          <a:ln/>
        </p:spPr>
      </p:sp>
      <p:sp>
        <p:nvSpPr>
          <p:cNvPr id="10" name="Text 8"/>
          <p:cNvSpPr/>
          <p:nvPr/>
        </p:nvSpPr>
        <p:spPr>
          <a:xfrm>
            <a:off x="4569866" y="3429000"/>
            <a:ext cx="3051962" cy="411480"/>
          </a:xfrm>
          <a:prstGeom prst="rect">
            <a:avLst/>
          </a:prstGeom>
          <a:noFill/>
          <a:ln/>
        </p:spPr>
        <p:txBody>
          <a:bodyPr wrap="square" rtlCol="0" anchor="ctr"/>
          <a:lstStyle/>
          <a:p>
            <a:pPr indent="0" marL="0">
              <a:buNone/>
            </a:pPr>
            <a:r>
              <a:rPr lang="en-US" sz="2000" b="1" dirty="0">
                <a:solidFill>
                  <a:srgbClr val="1A1A24"/>
                </a:solidFill>
                <a:latin typeface="Cambria" pitchFamily="34" charset="0"/>
                <a:ea typeface="Cambria" pitchFamily="34" charset="-122"/>
                <a:cs typeface="Cambria" pitchFamily="34" charset="-120"/>
              </a:rPr>
              <a:t>Structure</a:t>
            </a:r>
            <a:endParaRPr lang="en-US" sz="2000" dirty="0"/>
          </a:p>
        </p:txBody>
      </p:sp>
      <p:sp>
        <p:nvSpPr>
          <p:cNvPr id="11" name="Text 9"/>
          <p:cNvSpPr/>
          <p:nvPr/>
        </p:nvSpPr>
        <p:spPr>
          <a:xfrm>
            <a:off x="4569866" y="3886200"/>
            <a:ext cx="3051962" cy="1188720"/>
          </a:xfrm>
          <a:prstGeom prst="rect">
            <a:avLst/>
          </a:prstGeom>
          <a:noFill/>
          <a:ln/>
        </p:spPr>
        <p:txBody>
          <a:bodyPr wrap="square" rtlCol="0" anchor="t"/>
          <a:lstStyle/>
          <a:p>
            <a:pPr indent="0" marL="0">
              <a:lnSpc>
                <a:spcPct val="110000"/>
              </a:lnSpc>
              <a:buNone/>
            </a:pPr>
            <a:r>
              <a:rPr lang="en-US" sz="1300" dirty="0">
                <a:solidFill>
                  <a:srgbClr val="222229"/>
                </a:solidFill>
                <a:latin typeface="Calibri" pitchFamily="34" charset="0"/>
                <a:ea typeface="Calibri" pitchFamily="34" charset="-122"/>
                <a:cs typeface="Calibri" pitchFamily="34" charset="-120"/>
              </a:rPr>
              <a:t>The operating systems and frameworks that turn good intentions into repeatable outcomes.</a:t>
            </a:r>
            <a:endParaRPr lang="en-US" sz="1300" dirty="0"/>
          </a:p>
        </p:txBody>
      </p:sp>
      <p:sp>
        <p:nvSpPr>
          <p:cNvPr id="12" name="Shape 10"/>
          <p:cNvSpPr/>
          <p:nvPr/>
        </p:nvSpPr>
        <p:spPr>
          <a:xfrm>
            <a:off x="8097317" y="3246120"/>
            <a:ext cx="3454298" cy="1965960"/>
          </a:xfrm>
          <a:prstGeom prst="rect">
            <a:avLst/>
          </a:prstGeom>
          <a:solidFill>
            <a:srgbClr val="F4F1EA"/>
          </a:solidFill>
          <a:ln/>
        </p:spPr>
      </p:sp>
      <p:sp>
        <p:nvSpPr>
          <p:cNvPr id="13" name="Text 11"/>
          <p:cNvSpPr/>
          <p:nvPr/>
        </p:nvSpPr>
        <p:spPr>
          <a:xfrm>
            <a:off x="8298485" y="3429000"/>
            <a:ext cx="3051962" cy="411480"/>
          </a:xfrm>
          <a:prstGeom prst="rect">
            <a:avLst/>
          </a:prstGeom>
          <a:noFill/>
          <a:ln/>
        </p:spPr>
        <p:txBody>
          <a:bodyPr wrap="square" rtlCol="0" anchor="ctr"/>
          <a:lstStyle/>
          <a:p>
            <a:pPr indent="0" marL="0">
              <a:buNone/>
            </a:pPr>
            <a:r>
              <a:rPr lang="en-US" sz="2000" b="1" dirty="0">
                <a:solidFill>
                  <a:srgbClr val="1A1A24"/>
                </a:solidFill>
                <a:latin typeface="Cambria" pitchFamily="34" charset="0"/>
                <a:ea typeface="Cambria" pitchFamily="34" charset="-122"/>
                <a:cs typeface="Cambria" pitchFamily="34" charset="-120"/>
              </a:rPr>
              <a:t>Growth</a:t>
            </a:r>
            <a:endParaRPr lang="en-US" sz="2000" dirty="0"/>
          </a:p>
        </p:txBody>
      </p:sp>
      <p:sp>
        <p:nvSpPr>
          <p:cNvPr id="14" name="Text 12"/>
          <p:cNvSpPr/>
          <p:nvPr/>
        </p:nvSpPr>
        <p:spPr>
          <a:xfrm>
            <a:off x="8298485" y="3886200"/>
            <a:ext cx="3051962" cy="1188720"/>
          </a:xfrm>
          <a:prstGeom prst="rect">
            <a:avLst/>
          </a:prstGeom>
          <a:noFill/>
          <a:ln/>
        </p:spPr>
        <p:txBody>
          <a:bodyPr wrap="square" rtlCol="0" anchor="t"/>
          <a:lstStyle/>
          <a:p>
            <a:pPr indent="0" marL="0">
              <a:lnSpc>
                <a:spcPct val="110000"/>
              </a:lnSpc>
              <a:buNone/>
            </a:pPr>
            <a:r>
              <a:rPr lang="en-US" sz="1300" dirty="0">
                <a:solidFill>
                  <a:srgbClr val="222229"/>
                </a:solidFill>
                <a:latin typeface="Calibri" pitchFamily="34" charset="0"/>
                <a:ea typeface="Calibri" pitchFamily="34" charset="-122"/>
                <a:cs typeface="Calibri" pitchFamily="34" charset="-120"/>
              </a:rPr>
              <a:t>The right relationships, capital and timing that produce lasting growth.</a:t>
            </a:r>
            <a:endParaRPr lang="en-US" sz="1300" dirty="0"/>
          </a:p>
        </p:txBody>
      </p:sp>
      <p:sp>
        <p:nvSpPr>
          <p:cNvPr id="15" name="Text 13"/>
          <p:cNvSpPr/>
          <p:nvPr/>
        </p:nvSpPr>
        <p:spPr>
          <a:xfrm>
            <a:off x="640080" y="5440680"/>
            <a:ext cx="10911535" cy="365760"/>
          </a:xfrm>
          <a:prstGeom prst="rect">
            <a:avLst/>
          </a:prstGeom>
          <a:noFill/>
          <a:ln/>
        </p:spPr>
        <p:txBody>
          <a:bodyPr wrap="square" rtlCol="0" anchor="ctr"/>
          <a:lstStyle/>
          <a:p>
            <a:pPr algn="ctr" indent="0" marL="0">
              <a:buNone/>
            </a:pPr>
            <a:r>
              <a:rPr lang="en-US" sz="1200" i="1" dirty="0">
                <a:solidFill>
                  <a:srgbClr val="9A99A2"/>
                </a:solidFill>
                <a:latin typeface="Calibri" pitchFamily="34" charset="0"/>
                <a:ea typeface="Calibri" pitchFamily="34" charset="-122"/>
                <a:cs typeface="Calibri" pitchFamily="34" charset="-120"/>
              </a:rPr>
              <a:t>Ten curated speakers  ·  one full day  ·  Strength · Structure · Growth</a:t>
            </a:r>
            <a:endParaRPr lang="en-US" sz="1200" dirty="0"/>
          </a:p>
        </p:txBody>
      </p:sp>
      <p:sp>
        <p:nvSpPr>
          <p:cNvPr id="16" name="Text 14"/>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7" name="Text 15"/>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THE EVENT</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The conference at a glance</a:t>
            </a:r>
            <a:endParaRPr lang="en-US" sz="3200" dirty="0"/>
          </a:p>
        </p:txBody>
      </p:sp>
      <p:sp>
        <p:nvSpPr>
          <p:cNvPr id="4" name="Text 2"/>
          <p:cNvSpPr/>
          <p:nvPr/>
        </p:nvSpPr>
        <p:spPr>
          <a:xfrm>
            <a:off x="640080" y="1737360"/>
            <a:ext cx="2606040" cy="274320"/>
          </a:xfrm>
          <a:prstGeom prst="rect">
            <a:avLst/>
          </a:prstGeom>
          <a:noFill/>
          <a:ln/>
        </p:spPr>
        <p:txBody>
          <a:bodyPr wrap="square" rtlCol="0" anchor="ctr"/>
          <a:lstStyle/>
          <a:p>
            <a:pPr indent="0" marL="0">
              <a:buNone/>
            </a:pPr>
            <a:r>
              <a:rPr lang="en-US" sz="1100" b="1" spc="200" kern="0" dirty="0">
                <a:solidFill>
                  <a:srgbClr val="C9922A"/>
                </a:solidFill>
                <a:latin typeface="Calibri" pitchFamily="34" charset="0"/>
                <a:ea typeface="Calibri" pitchFamily="34" charset="-122"/>
                <a:cs typeface="Calibri" pitchFamily="34" charset="-120"/>
              </a:rPr>
              <a:t>DATE</a:t>
            </a:r>
            <a:endParaRPr lang="en-US" sz="1100" dirty="0"/>
          </a:p>
        </p:txBody>
      </p:sp>
      <p:sp>
        <p:nvSpPr>
          <p:cNvPr id="5" name="Text 3"/>
          <p:cNvSpPr/>
          <p:nvPr/>
        </p:nvSpPr>
        <p:spPr>
          <a:xfrm>
            <a:off x="640080" y="2011680"/>
            <a:ext cx="2606040" cy="548640"/>
          </a:xfrm>
          <a:prstGeom prst="rect">
            <a:avLst/>
          </a:prstGeom>
          <a:noFill/>
          <a:ln/>
        </p:spPr>
        <p:txBody>
          <a:bodyPr wrap="square" rtlCol="0" anchor="t"/>
          <a:lstStyle/>
          <a:p>
            <a:pPr indent="0" marL="0">
              <a:lnSpc>
                <a:spcPct val="105000"/>
              </a:lnSpc>
              <a:buNone/>
            </a:pPr>
            <a:r>
              <a:rPr lang="en-US" sz="1400" dirty="0">
                <a:solidFill>
                  <a:srgbClr val="222229"/>
                </a:solidFill>
                <a:latin typeface="Calibri" pitchFamily="34" charset="0"/>
                <a:ea typeface="Calibri" pitchFamily="34" charset="-122"/>
                <a:cs typeface="Calibri" pitchFamily="34" charset="-120"/>
              </a:rPr>
              <a:t>Thursday, 29 October 2026</a:t>
            </a:r>
            <a:endParaRPr lang="en-US" sz="1400" dirty="0"/>
          </a:p>
        </p:txBody>
      </p:sp>
      <p:sp>
        <p:nvSpPr>
          <p:cNvPr id="6" name="Text 4"/>
          <p:cNvSpPr/>
          <p:nvPr/>
        </p:nvSpPr>
        <p:spPr>
          <a:xfrm>
            <a:off x="3520440" y="1737360"/>
            <a:ext cx="2606040" cy="274320"/>
          </a:xfrm>
          <a:prstGeom prst="rect">
            <a:avLst/>
          </a:prstGeom>
          <a:noFill/>
          <a:ln/>
        </p:spPr>
        <p:txBody>
          <a:bodyPr wrap="square" rtlCol="0" anchor="ctr"/>
          <a:lstStyle/>
          <a:p>
            <a:pPr indent="0" marL="0">
              <a:buNone/>
            </a:pPr>
            <a:r>
              <a:rPr lang="en-US" sz="1100" b="1" spc="200" kern="0" dirty="0">
                <a:solidFill>
                  <a:srgbClr val="C9922A"/>
                </a:solidFill>
                <a:latin typeface="Calibri" pitchFamily="34" charset="0"/>
                <a:ea typeface="Calibri" pitchFamily="34" charset="-122"/>
                <a:cs typeface="Calibri" pitchFamily="34" charset="-120"/>
              </a:rPr>
              <a:t>VENUE</a:t>
            </a:r>
            <a:endParaRPr lang="en-US" sz="1100" dirty="0"/>
          </a:p>
        </p:txBody>
      </p:sp>
      <p:sp>
        <p:nvSpPr>
          <p:cNvPr id="7" name="Text 5"/>
          <p:cNvSpPr/>
          <p:nvPr/>
        </p:nvSpPr>
        <p:spPr>
          <a:xfrm>
            <a:off x="3520440" y="2011680"/>
            <a:ext cx="2606040" cy="548640"/>
          </a:xfrm>
          <a:prstGeom prst="rect">
            <a:avLst/>
          </a:prstGeom>
          <a:noFill/>
          <a:ln/>
        </p:spPr>
        <p:txBody>
          <a:bodyPr wrap="square" rtlCol="0" anchor="t"/>
          <a:lstStyle/>
          <a:p>
            <a:pPr indent="0" marL="0">
              <a:lnSpc>
                <a:spcPct val="105000"/>
              </a:lnSpc>
              <a:buNone/>
            </a:pPr>
            <a:r>
              <a:rPr lang="en-US" sz="1400" dirty="0">
                <a:solidFill>
                  <a:srgbClr val="222229"/>
                </a:solidFill>
                <a:latin typeface="Calibri" pitchFamily="34" charset="0"/>
                <a:ea typeface="Calibri" pitchFamily="34" charset="-122"/>
                <a:cs typeface="Calibri" pitchFamily="34" charset="-120"/>
              </a:rPr>
              <a:t>Wits Theatre, Braamfontein (target)</a:t>
            </a:r>
            <a:endParaRPr lang="en-US" sz="1400" dirty="0"/>
          </a:p>
        </p:txBody>
      </p:sp>
      <p:sp>
        <p:nvSpPr>
          <p:cNvPr id="8" name="Text 6"/>
          <p:cNvSpPr/>
          <p:nvPr/>
        </p:nvSpPr>
        <p:spPr>
          <a:xfrm>
            <a:off x="640080" y="2788920"/>
            <a:ext cx="2606040" cy="274320"/>
          </a:xfrm>
          <a:prstGeom prst="rect">
            <a:avLst/>
          </a:prstGeom>
          <a:noFill/>
          <a:ln/>
        </p:spPr>
        <p:txBody>
          <a:bodyPr wrap="square" rtlCol="0" anchor="ctr"/>
          <a:lstStyle/>
          <a:p>
            <a:pPr indent="0" marL="0">
              <a:buNone/>
            </a:pPr>
            <a:r>
              <a:rPr lang="en-US" sz="1100" b="1" spc="200" kern="0" dirty="0">
                <a:solidFill>
                  <a:srgbClr val="C9922A"/>
                </a:solidFill>
                <a:latin typeface="Calibri" pitchFamily="34" charset="0"/>
                <a:ea typeface="Calibri" pitchFamily="34" charset="-122"/>
                <a:cs typeface="Calibri" pitchFamily="34" charset="-120"/>
              </a:rPr>
              <a:t>FORMAT</a:t>
            </a:r>
            <a:endParaRPr lang="en-US" sz="1100" dirty="0"/>
          </a:p>
        </p:txBody>
      </p:sp>
      <p:sp>
        <p:nvSpPr>
          <p:cNvPr id="9" name="Text 7"/>
          <p:cNvSpPr/>
          <p:nvPr/>
        </p:nvSpPr>
        <p:spPr>
          <a:xfrm>
            <a:off x="640080" y="3063240"/>
            <a:ext cx="2606040" cy="548640"/>
          </a:xfrm>
          <a:prstGeom prst="rect">
            <a:avLst/>
          </a:prstGeom>
          <a:noFill/>
          <a:ln/>
        </p:spPr>
        <p:txBody>
          <a:bodyPr wrap="square" rtlCol="0" anchor="t"/>
          <a:lstStyle/>
          <a:p>
            <a:pPr indent="0" marL="0">
              <a:lnSpc>
                <a:spcPct val="105000"/>
              </a:lnSpc>
              <a:buNone/>
            </a:pPr>
            <a:r>
              <a:rPr lang="en-US" sz="1400" dirty="0">
                <a:solidFill>
                  <a:srgbClr val="222229"/>
                </a:solidFill>
                <a:latin typeface="Calibri" pitchFamily="34" charset="0"/>
                <a:ea typeface="Calibri" pitchFamily="34" charset="-122"/>
                <a:cs typeface="Calibri" pitchFamily="34" charset="-120"/>
              </a:rPr>
              <a:t>In-person, full day</a:t>
            </a:r>
            <a:endParaRPr lang="en-US" sz="1400" dirty="0"/>
          </a:p>
        </p:txBody>
      </p:sp>
      <p:sp>
        <p:nvSpPr>
          <p:cNvPr id="10" name="Text 8"/>
          <p:cNvSpPr/>
          <p:nvPr/>
        </p:nvSpPr>
        <p:spPr>
          <a:xfrm>
            <a:off x="3520440" y="2788920"/>
            <a:ext cx="2606040" cy="274320"/>
          </a:xfrm>
          <a:prstGeom prst="rect">
            <a:avLst/>
          </a:prstGeom>
          <a:noFill/>
          <a:ln/>
        </p:spPr>
        <p:txBody>
          <a:bodyPr wrap="square" rtlCol="0" anchor="ctr"/>
          <a:lstStyle/>
          <a:p>
            <a:pPr indent="0" marL="0">
              <a:buNone/>
            </a:pPr>
            <a:r>
              <a:rPr lang="en-US" sz="1100" b="1" spc="200" kern="0" dirty="0">
                <a:solidFill>
                  <a:srgbClr val="C9922A"/>
                </a:solidFill>
                <a:latin typeface="Calibri" pitchFamily="34" charset="0"/>
                <a:ea typeface="Calibri" pitchFamily="34" charset="-122"/>
                <a:cs typeface="Calibri" pitchFamily="34" charset="-120"/>
              </a:rPr>
              <a:t>SPEAKERS</a:t>
            </a:r>
            <a:endParaRPr lang="en-US" sz="1100" dirty="0"/>
          </a:p>
        </p:txBody>
      </p:sp>
      <p:sp>
        <p:nvSpPr>
          <p:cNvPr id="11" name="Text 9"/>
          <p:cNvSpPr/>
          <p:nvPr/>
        </p:nvSpPr>
        <p:spPr>
          <a:xfrm>
            <a:off x="3520440" y="3063240"/>
            <a:ext cx="2606040" cy="548640"/>
          </a:xfrm>
          <a:prstGeom prst="rect">
            <a:avLst/>
          </a:prstGeom>
          <a:noFill/>
          <a:ln/>
        </p:spPr>
        <p:txBody>
          <a:bodyPr wrap="square" rtlCol="0" anchor="t"/>
          <a:lstStyle/>
          <a:p>
            <a:pPr indent="0" marL="0">
              <a:lnSpc>
                <a:spcPct val="105000"/>
              </a:lnSpc>
              <a:buNone/>
            </a:pPr>
            <a:r>
              <a:rPr lang="en-US" sz="1400" dirty="0">
                <a:solidFill>
                  <a:srgbClr val="222229"/>
                </a:solidFill>
                <a:latin typeface="Calibri" pitchFamily="34" charset="0"/>
                <a:ea typeface="Calibri" pitchFamily="34" charset="-122"/>
                <a:cs typeface="Calibri" pitchFamily="34" charset="-120"/>
              </a:rPr>
              <a:t>10 curated speakers</a:t>
            </a:r>
            <a:endParaRPr lang="en-US" sz="1400" dirty="0"/>
          </a:p>
        </p:txBody>
      </p:sp>
      <p:sp>
        <p:nvSpPr>
          <p:cNvPr id="12" name="Text 10"/>
          <p:cNvSpPr/>
          <p:nvPr/>
        </p:nvSpPr>
        <p:spPr>
          <a:xfrm>
            <a:off x="640080" y="3840480"/>
            <a:ext cx="2606040" cy="274320"/>
          </a:xfrm>
          <a:prstGeom prst="rect">
            <a:avLst/>
          </a:prstGeom>
          <a:noFill/>
          <a:ln/>
        </p:spPr>
        <p:txBody>
          <a:bodyPr wrap="square" rtlCol="0" anchor="ctr"/>
          <a:lstStyle/>
          <a:p>
            <a:pPr indent="0" marL="0">
              <a:buNone/>
            </a:pPr>
            <a:r>
              <a:rPr lang="en-US" sz="1100" b="1" spc="200" kern="0" dirty="0">
                <a:solidFill>
                  <a:srgbClr val="C9922A"/>
                </a:solidFill>
                <a:latin typeface="Calibri" pitchFamily="34" charset="0"/>
                <a:ea typeface="Calibri" pitchFamily="34" charset="-122"/>
                <a:cs typeface="Calibri" pitchFamily="34" charset="-120"/>
              </a:rPr>
              <a:t>AUDIENCE</a:t>
            </a:r>
            <a:endParaRPr lang="en-US" sz="1100" dirty="0"/>
          </a:p>
        </p:txBody>
      </p:sp>
      <p:sp>
        <p:nvSpPr>
          <p:cNvPr id="13" name="Text 11"/>
          <p:cNvSpPr/>
          <p:nvPr/>
        </p:nvSpPr>
        <p:spPr>
          <a:xfrm>
            <a:off x="640080" y="4114800"/>
            <a:ext cx="2606040" cy="548640"/>
          </a:xfrm>
          <a:prstGeom prst="rect">
            <a:avLst/>
          </a:prstGeom>
          <a:noFill/>
          <a:ln/>
        </p:spPr>
        <p:txBody>
          <a:bodyPr wrap="square" rtlCol="0" anchor="t"/>
          <a:lstStyle/>
          <a:p>
            <a:pPr indent="0" marL="0">
              <a:lnSpc>
                <a:spcPct val="105000"/>
              </a:lnSpc>
              <a:buNone/>
            </a:pPr>
            <a:r>
              <a:rPr lang="en-US" sz="1400" dirty="0">
                <a:solidFill>
                  <a:srgbClr val="222229"/>
                </a:solidFill>
                <a:latin typeface="Calibri" pitchFamily="34" charset="0"/>
                <a:ea typeface="Calibri" pitchFamily="34" charset="-122"/>
                <a:cs typeface="Calibri" pitchFamily="34" charset="-120"/>
              </a:rPr>
              <a:t>300–400 senior delegates</a:t>
            </a:r>
            <a:endParaRPr lang="en-US" sz="1400" dirty="0"/>
          </a:p>
        </p:txBody>
      </p:sp>
      <p:sp>
        <p:nvSpPr>
          <p:cNvPr id="14" name="Text 12"/>
          <p:cNvSpPr/>
          <p:nvPr/>
        </p:nvSpPr>
        <p:spPr>
          <a:xfrm>
            <a:off x="3520440" y="3840480"/>
            <a:ext cx="2606040" cy="274320"/>
          </a:xfrm>
          <a:prstGeom prst="rect">
            <a:avLst/>
          </a:prstGeom>
          <a:noFill/>
          <a:ln/>
        </p:spPr>
        <p:txBody>
          <a:bodyPr wrap="square" rtlCol="0" anchor="ctr"/>
          <a:lstStyle/>
          <a:p>
            <a:pPr indent="0" marL="0">
              <a:buNone/>
            </a:pPr>
            <a:r>
              <a:rPr lang="en-US" sz="1100" b="1" spc="200" kern="0" dirty="0">
                <a:solidFill>
                  <a:srgbClr val="C9922A"/>
                </a:solidFill>
                <a:latin typeface="Calibri" pitchFamily="34" charset="0"/>
                <a:ea typeface="Calibri" pitchFamily="34" charset="-122"/>
                <a:cs typeface="Calibri" pitchFamily="34" charset="-120"/>
              </a:rPr>
              <a:t>PROGRAMME</a:t>
            </a:r>
            <a:endParaRPr lang="en-US" sz="1100" dirty="0"/>
          </a:p>
        </p:txBody>
      </p:sp>
      <p:sp>
        <p:nvSpPr>
          <p:cNvPr id="15" name="Text 13"/>
          <p:cNvSpPr/>
          <p:nvPr/>
        </p:nvSpPr>
        <p:spPr>
          <a:xfrm>
            <a:off x="3520440" y="4114800"/>
            <a:ext cx="2606040" cy="548640"/>
          </a:xfrm>
          <a:prstGeom prst="rect">
            <a:avLst/>
          </a:prstGeom>
          <a:noFill/>
          <a:ln/>
        </p:spPr>
        <p:txBody>
          <a:bodyPr wrap="square" rtlCol="0" anchor="t"/>
          <a:lstStyle/>
          <a:p>
            <a:pPr indent="0" marL="0">
              <a:lnSpc>
                <a:spcPct val="105000"/>
              </a:lnSpc>
              <a:buNone/>
            </a:pPr>
            <a:r>
              <a:rPr lang="en-US" sz="1400" dirty="0">
                <a:solidFill>
                  <a:srgbClr val="222229"/>
                </a:solidFill>
                <a:latin typeface="Calibri" pitchFamily="34" charset="0"/>
                <a:ea typeface="Calibri" pitchFamily="34" charset="-122"/>
                <a:cs typeface="Calibri" pitchFamily="34" charset="-120"/>
              </a:rPr>
              <a:t>Strength · Structure · Growth</a:t>
            </a:r>
            <a:endParaRPr lang="en-US" sz="1400" dirty="0"/>
          </a:p>
        </p:txBody>
      </p:sp>
      <p:sp>
        <p:nvSpPr>
          <p:cNvPr id="16" name="Shape 14"/>
          <p:cNvSpPr/>
          <p:nvPr/>
        </p:nvSpPr>
        <p:spPr>
          <a:xfrm>
            <a:off x="6492240" y="1737360"/>
            <a:ext cx="5059375" cy="4160520"/>
          </a:xfrm>
          <a:prstGeom prst="rect">
            <a:avLst/>
          </a:prstGeom>
          <a:solidFill>
            <a:srgbClr val="1A1A24"/>
          </a:solidFill>
          <a:ln/>
        </p:spPr>
      </p:sp>
      <p:sp>
        <p:nvSpPr>
          <p:cNvPr id="17" name="Text 15"/>
          <p:cNvSpPr/>
          <p:nvPr/>
        </p:nvSpPr>
        <p:spPr>
          <a:xfrm>
            <a:off x="6766560" y="1965960"/>
            <a:ext cx="4510735" cy="640080"/>
          </a:xfrm>
          <a:prstGeom prst="rect">
            <a:avLst/>
          </a:prstGeom>
          <a:noFill/>
          <a:ln/>
        </p:spPr>
        <p:txBody>
          <a:bodyPr wrap="square"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A partner is visible for months, not a single day</a:t>
            </a:r>
            <a:endParaRPr lang="en-US" sz="1800" dirty="0"/>
          </a:p>
        </p:txBody>
      </p:sp>
      <p:sp>
        <p:nvSpPr>
          <p:cNvPr id="18" name="Text 16"/>
          <p:cNvSpPr/>
          <p:nvPr/>
        </p:nvSpPr>
        <p:spPr>
          <a:xfrm>
            <a:off x="6766560" y="2788920"/>
            <a:ext cx="4510735" cy="292608"/>
          </a:xfrm>
          <a:prstGeom prst="rect">
            <a:avLst/>
          </a:prstGeom>
          <a:noFill/>
          <a:ln/>
        </p:spPr>
        <p:txBody>
          <a:bodyPr wrap="square" rtlCol="0" anchor="ctr"/>
          <a:lstStyle/>
          <a:p>
            <a:pPr indent="0" marL="0">
              <a:buNone/>
            </a:pPr>
            <a:r>
              <a:rPr lang="en-US" sz="1400" b="1" dirty="0">
                <a:solidFill>
                  <a:srgbClr val="E7C878"/>
                </a:solidFill>
                <a:latin typeface="Calibri" pitchFamily="34" charset="0"/>
                <a:ea typeface="Calibri" pitchFamily="34" charset="-122"/>
                <a:cs typeface="Calibri" pitchFamily="34" charset="-120"/>
              </a:rPr>
              <a:t>Book Wednesdays</a:t>
            </a:r>
            <a:endParaRPr lang="en-US" sz="1400" dirty="0"/>
          </a:p>
        </p:txBody>
      </p:sp>
      <p:sp>
        <p:nvSpPr>
          <p:cNvPr id="19" name="Text 17"/>
          <p:cNvSpPr/>
          <p:nvPr/>
        </p:nvSpPr>
        <p:spPr>
          <a:xfrm>
            <a:off x="6766560" y="3081528"/>
            <a:ext cx="4510735" cy="548640"/>
          </a:xfrm>
          <a:prstGeom prst="rect">
            <a:avLst/>
          </a:prstGeom>
          <a:noFill/>
          <a:ln/>
        </p:spPr>
        <p:txBody>
          <a:bodyPr wrap="square" rtlCol="0" anchor="t"/>
          <a:lstStyle/>
          <a:p>
            <a:pPr indent="0" marL="0">
              <a:lnSpc>
                <a:spcPct val="105000"/>
              </a:lnSpc>
              <a:buNone/>
            </a:pPr>
            <a:r>
              <a:rPr lang="en-US" sz="1200" dirty="0">
                <a:solidFill>
                  <a:srgbClr val="EDEBE4"/>
                </a:solidFill>
                <a:latin typeface="Calibri" pitchFamily="34" charset="0"/>
                <a:ea typeface="Calibri" pitchFamily="34" charset="-122"/>
                <a:cs typeface="Calibri" pitchFamily="34" charset="-120"/>
              </a:rPr>
              <a:t>Monthly webinar series running across the whole year.</a:t>
            </a:r>
            <a:endParaRPr lang="en-US" sz="1200" dirty="0"/>
          </a:p>
        </p:txBody>
      </p:sp>
      <p:sp>
        <p:nvSpPr>
          <p:cNvPr id="20" name="Text 18"/>
          <p:cNvSpPr/>
          <p:nvPr/>
        </p:nvSpPr>
        <p:spPr>
          <a:xfrm>
            <a:off x="6766560" y="3794760"/>
            <a:ext cx="4510735" cy="292608"/>
          </a:xfrm>
          <a:prstGeom prst="rect">
            <a:avLst/>
          </a:prstGeom>
          <a:noFill/>
          <a:ln/>
        </p:spPr>
        <p:txBody>
          <a:bodyPr wrap="square" rtlCol="0" anchor="ctr"/>
          <a:lstStyle/>
          <a:p>
            <a:pPr indent="0" marL="0">
              <a:buNone/>
            </a:pPr>
            <a:r>
              <a:rPr lang="en-US" sz="1400" b="1" dirty="0">
                <a:solidFill>
                  <a:srgbClr val="E7C878"/>
                </a:solidFill>
                <a:latin typeface="Calibri" pitchFamily="34" charset="0"/>
                <a:ea typeface="Calibri" pitchFamily="34" charset="-122"/>
                <a:cs typeface="Calibri" pitchFamily="34" charset="-120"/>
              </a:rPr>
              <a:t>Weekly Speaker Talks</a:t>
            </a:r>
            <a:endParaRPr lang="en-US" sz="1400" dirty="0"/>
          </a:p>
        </p:txBody>
      </p:sp>
      <p:sp>
        <p:nvSpPr>
          <p:cNvPr id="21" name="Text 19"/>
          <p:cNvSpPr/>
          <p:nvPr/>
        </p:nvSpPr>
        <p:spPr>
          <a:xfrm>
            <a:off x="6766560" y="4087368"/>
            <a:ext cx="4510735" cy="548640"/>
          </a:xfrm>
          <a:prstGeom prst="rect">
            <a:avLst/>
          </a:prstGeom>
          <a:noFill/>
          <a:ln/>
        </p:spPr>
        <p:txBody>
          <a:bodyPr wrap="square" rtlCol="0" anchor="t"/>
          <a:lstStyle/>
          <a:p>
            <a:pPr indent="0" marL="0">
              <a:lnSpc>
                <a:spcPct val="105000"/>
              </a:lnSpc>
              <a:buNone/>
            </a:pPr>
            <a:r>
              <a:rPr lang="en-US" sz="1200" dirty="0">
                <a:solidFill>
                  <a:srgbClr val="EDEBE4"/>
                </a:solidFill>
                <a:latin typeface="Calibri" pitchFamily="34" charset="0"/>
                <a:ea typeface="Calibri" pitchFamily="34" charset="-122"/>
                <a:cs typeface="Calibri" pitchFamily="34" charset="-120"/>
              </a:rPr>
              <a:t>Every Wednesday in the run-up, each previewing a speaker’s topic.</a:t>
            </a:r>
            <a:endParaRPr lang="en-US" sz="1200" dirty="0"/>
          </a:p>
        </p:txBody>
      </p:sp>
      <p:sp>
        <p:nvSpPr>
          <p:cNvPr id="22" name="Text 20"/>
          <p:cNvSpPr/>
          <p:nvPr/>
        </p:nvSpPr>
        <p:spPr>
          <a:xfrm>
            <a:off x="6766560" y="4800600"/>
            <a:ext cx="4510735" cy="292608"/>
          </a:xfrm>
          <a:prstGeom prst="rect">
            <a:avLst/>
          </a:prstGeom>
          <a:noFill/>
          <a:ln/>
        </p:spPr>
        <p:txBody>
          <a:bodyPr wrap="square" rtlCol="0" anchor="ctr"/>
          <a:lstStyle/>
          <a:p>
            <a:pPr indent="0" marL="0">
              <a:buNone/>
            </a:pPr>
            <a:r>
              <a:rPr lang="en-US" sz="1400" b="1" dirty="0">
                <a:solidFill>
                  <a:srgbClr val="E7C878"/>
                </a:solidFill>
                <a:latin typeface="Calibri" pitchFamily="34" charset="0"/>
                <a:ea typeface="Calibri" pitchFamily="34" charset="-122"/>
                <a:cs typeface="Calibri" pitchFamily="34" charset="-120"/>
              </a:rPr>
              <a:t>Impact reporting</a:t>
            </a:r>
            <a:endParaRPr lang="en-US" sz="1400" dirty="0"/>
          </a:p>
        </p:txBody>
      </p:sp>
      <p:sp>
        <p:nvSpPr>
          <p:cNvPr id="23" name="Text 21"/>
          <p:cNvSpPr/>
          <p:nvPr/>
        </p:nvSpPr>
        <p:spPr>
          <a:xfrm>
            <a:off x="6766560" y="5093208"/>
            <a:ext cx="4510735" cy="548640"/>
          </a:xfrm>
          <a:prstGeom prst="rect">
            <a:avLst/>
          </a:prstGeom>
          <a:noFill/>
          <a:ln/>
        </p:spPr>
        <p:txBody>
          <a:bodyPr wrap="square" rtlCol="0" anchor="t"/>
          <a:lstStyle/>
          <a:p>
            <a:pPr indent="0" marL="0">
              <a:lnSpc>
                <a:spcPct val="105000"/>
              </a:lnSpc>
              <a:buNone/>
            </a:pPr>
            <a:r>
              <a:rPr lang="en-US" sz="1200" dirty="0">
                <a:solidFill>
                  <a:srgbClr val="EDEBE4"/>
                </a:solidFill>
                <a:latin typeface="Calibri" pitchFamily="34" charset="0"/>
                <a:ea typeface="Calibri" pitchFamily="34" charset="-122"/>
                <a:cs typeface="Calibri" pitchFamily="34" charset="-120"/>
              </a:rPr>
              <a:t>Post-event reporting follows within the first week after.</a:t>
            </a:r>
            <a:endParaRPr lang="en-US" sz="1200" dirty="0"/>
          </a:p>
        </p:txBody>
      </p:sp>
      <p:sp>
        <p:nvSpPr>
          <p:cNvPr id="24" name="Text 22"/>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25" name="Text 23"/>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WHAT WE BUILD TOGETHER</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One room, two audiences that both matter to Nedbank</a:t>
            </a:r>
            <a:endParaRPr lang="en-US" sz="3200" dirty="0"/>
          </a:p>
        </p:txBody>
      </p:sp>
      <p:sp>
        <p:nvSpPr>
          <p:cNvPr id="4" name="Text 2"/>
          <p:cNvSpPr/>
          <p:nvPr/>
        </p:nvSpPr>
        <p:spPr>
          <a:xfrm>
            <a:off x="640080" y="1645920"/>
            <a:ext cx="10911535" cy="457200"/>
          </a:xfrm>
          <a:prstGeom prst="rect">
            <a:avLst/>
          </a:prstGeom>
          <a:noFill/>
          <a:ln/>
        </p:spPr>
        <p:txBody>
          <a:bodyPr wrap="square" rtlCol="0" anchor="t"/>
          <a:lstStyle/>
          <a:p>
            <a:pPr indent="0" marL="0">
              <a:buNone/>
            </a:pPr>
            <a:r>
              <a:rPr lang="en-US" sz="1400" dirty="0">
                <a:solidFill>
                  <a:srgbClr val="222229"/>
                </a:solidFill>
                <a:latin typeface="Calibri" pitchFamily="34" charset="0"/>
                <a:ea typeface="Calibri" pitchFamily="34" charset="-122"/>
                <a:cs typeface="Calibri" pitchFamily="34" charset="-120"/>
              </a:rPr>
              <a:t>Each audience gets something it could not easily get on its own. Both sit exactly where Nedbank Business already puts its energy.</a:t>
            </a:r>
            <a:endParaRPr lang="en-US" sz="1400" dirty="0"/>
          </a:p>
        </p:txBody>
      </p:sp>
      <p:sp>
        <p:nvSpPr>
          <p:cNvPr id="5" name="Shape 3"/>
          <p:cNvSpPr/>
          <p:nvPr/>
        </p:nvSpPr>
        <p:spPr>
          <a:xfrm>
            <a:off x="640080" y="2240280"/>
            <a:ext cx="5272888" cy="3246120"/>
          </a:xfrm>
          <a:prstGeom prst="rect">
            <a:avLst/>
          </a:prstGeom>
          <a:solidFill>
            <a:srgbClr val="1A1A24"/>
          </a:solidFill>
          <a:ln/>
        </p:spPr>
      </p:sp>
      <p:sp>
        <p:nvSpPr>
          <p:cNvPr id="6" name="Text 4"/>
          <p:cNvSpPr/>
          <p:nvPr/>
        </p:nvSpPr>
        <p:spPr>
          <a:xfrm>
            <a:off x="914400" y="2423160"/>
            <a:ext cx="4724248" cy="502920"/>
          </a:xfrm>
          <a:prstGeom prst="rect">
            <a:avLst/>
          </a:prstGeom>
          <a:noFill/>
          <a:ln/>
        </p:spPr>
        <p:txBody>
          <a:bodyPr wrap="square" rtlCol="0" anchor="ctr"/>
          <a:lstStyle/>
          <a:p>
            <a:pPr indent="0" marL="0">
              <a:buNone/>
            </a:pPr>
            <a:r>
              <a:rPr lang="en-US" sz="2800" b="1" dirty="0">
                <a:solidFill>
                  <a:srgbClr val="C9922A"/>
                </a:solidFill>
                <a:latin typeface="Cambria" pitchFamily="34" charset="0"/>
                <a:ea typeface="Cambria" pitchFamily="34" charset="-122"/>
                <a:cs typeface="Cambria" pitchFamily="34" charset="-120"/>
              </a:rPr>
              <a:t>01</a:t>
            </a:r>
            <a:endParaRPr lang="en-US" sz="2800" dirty="0"/>
          </a:p>
        </p:txBody>
      </p:sp>
      <p:sp>
        <p:nvSpPr>
          <p:cNvPr id="7" name="Text 5"/>
          <p:cNvSpPr/>
          <p:nvPr/>
        </p:nvSpPr>
        <p:spPr>
          <a:xfrm>
            <a:off x="914400" y="2971800"/>
            <a:ext cx="4724248"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room itself</a:t>
            </a:r>
            <a:endParaRPr lang="en-US" sz="1800" dirty="0"/>
          </a:p>
        </p:txBody>
      </p:sp>
      <p:sp>
        <p:nvSpPr>
          <p:cNvPr id="8" name="Text 6"/>
          <p:cNvSpPr/>
          <p:nvPr/>
        </p:nvSpPr>
        <p:spPr>
          <a:xfrm>
            <a:off x="914400" y="3429000"/>
            <a:ext cx="4724248" cy="1920240"/>
          </a:xfrm>
          <a:prstGeom prst="rect">
            <a:avLst/>
          </a:prstGeom>
          <a:noFill/>
          <a:ln/>
        </p:spPr>
        <p:txBody>
          <a:bodyPr wrap="square" rtlCol="0" anchor="t"/>
          <a:lstStyle/>
          <a:p>
            <a:pPr indent="0" marL="0">
              <a:lnSpc>
                <a:spcPct val="112000"/>
              </a:lnSpc>
              <a:buNone/>
            </a:pPr>
            <a:r>
              <a:rPr lang="en-US" sz="1300" dirty="0">
                <a:solidFill>
                  <a:srgbClr val="EDEBE4"/>
                </a:solidFill>
                <a:latin typeface="Calibri" pitchFamily="34" charset="0"/>
                <a:ea typeface="Calibri" pitchFamily="34" charset="-122"/>
                <a:cs typeface="Calibri" pitchFamily="34" charset="-120"/>
              </a:rPr>
              <a:t>300 to 400 founders, CEOs, investors and advisors at the growth stage, the exact segment Nedbank Business banks. The Gold stall puts a banker in the room, not a billboard: business specialists on the stand, SimplyBiz in front of people who would use it, real relationships started in a setting built for trust.</a:t>
            </a:r>
            <a:endParaRPr lang="en-US" sz="1300" dirty="0"/>
          </a:p>
        </p:txBody>
      </p:sp>
      <p:sp>
        <p:nvSpPr>
          <p:cNvPr id="9" name="Shape 7"/>
          <p:cNvSpPr/>
          <p:nvPr/>
        </p:nvSpPr>
        <p:spPr>
          <a:xfrm>
            <a:off x="6278728" y="2240280"/>
            <a:ext cx="5272888" cy="3246120"/>
          </a:xfrm>
          <a:prstGeom prst="rect">
            <a:avLst/>
          </a:prstGeom>
          <a:solidFill>
            <a:srgbClr val="1A1A24"/>
          </a:solidFill>
          <a:ln/>
        </p:spPr>
      </p:sp>
      <p:sp>
        <p:nvSpPr>
          <p:cNvPr id="10" name="Text 8"/>
          <p:cNvSpPr/>
          <p:nvPr/>
        </p:nvSpPr>
        <p:spPr>
          <a:xfrm>
            <a:off x="6553048" y="2423160"/>
            <a:ext cx="4724248" cy="502920"/>
          </a:xfrm>
          <a:prstGeom prst="rect">
            <a:avLst/>
          </a:prstGeom>
          <a:noFill/>
          <a:ln/>
        </p:spPr>
        <p:txBody>
          <a:bodyPr wrap="square" rtlCol="0" anchor="ctr"/>
          <a:lstStyle/>
          <a:p>
            <a:pPr indent="0" marL="0">
              <a:buNone/>
            </a:pPr>
            <a:r>
              <a:rPr lang="en-US" sz="2800" b="1" dirty="0">
                <a:solidFill>
                  <a:srgbClr val="C9922A"/>
                </a:solidFill>
                <a:latin typeface="Cambria" pitchFamily="34" charset="0"/>
                <a:ea typeface="Cambria" pitchFamily="34" charset="-122"/>
                <a:cs typeface="Cambria" pitchFamily="34" charset="-120"/>
              </a:rPr>
              <a:t>02</a:t>
            </a:r>
            <a:endParaRPr lang="en-US" sz="2800" dirty="0"/>
          </a:p>
        </p:txBody>
      </p:sp>
      <p:sp>
        <p:nvSpPr>
          <p:cNvPr id="11" name="Text 9"/>
          <p:cNvSpPr/>
          <p:nvPr/>
        </p:nvSpPr>
        <p:spPr>
          <a:xfrm>
            <a:off x="6553048" y="2971800"/>
            <a:ext cx="4724248"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next generation</a:t>
            </a:r>
            <a:endParaRPr lang="en-US" sz="1800" dirty="0"/>
          </a:p>
        </p:txBody>
      </p:sp>
      <p:sp>
        <p:nvSpPr>
          <p:cNvPr id="12" name="Text 10"/>
          <p:cNvSpPr/>
          <p:nvPr/>
        </p:nvSpPr>
        <p:spPr>
          <a:xfrm>
            <a:off x="6553048" y="3429000"/>
            <a:ext cx="4724248" cy="1920240"/>
          </a:xfrm>
          <a:prstGeom prst="rect">
            <a:avLst/>
          </a:prstGeom>
          <a:noFill/>
          <a:ln/>
        </p:spPr>
        <p:txBody>
          <a:bodyPr wrap="square" rtlCol="0" anchor="t"/>
          <a:lstStyle/>
          <a:p>
            <a:pPr indent="0" marL="0">
              <a:lnSpc>
                <a:spcPct val="112000"/>
              </a:lnSpc>
              <a:buNone/>
            </a:pPr>
            <a:r>
              <a:rPr lang="en-US" sz="1300" dirty="0">
                <a:solidFill>
                  <a:srgbClr val="EDEBE4"/>
                </a:solidFill>
                <a:latin typeface="Calibri" pitchFamily="34" charset="0"/>
                <a:ea typeface="Calibri" pitchFamily="34" charset="-122"/>
                <a:cs typeface="Calibri" pitchFamily="34" charset="-120"/>
              </a:rPr>
              <a:t>Top matriculants from two Gauteng commerce-and-entrepreneurship Schools of Specialisation, hosted with the Gauteng Department of Education. A day in the room can shift what a seventeen-year-old believes is possible, and it sits precisely where Nedbank’s enterprise development and education investment already lives.</a:t>
            </a:r>
            <a:endParaRPr lang="en-US" sz="1300" dirty="0"/>
          </a:p>
        </p:txBody>
      </p:sp>
      <p:sp>
        <p:nvSpPr>
          <p:cNvPr id="13" name="Text 11"/>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4" name="Text 12"/>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THE ALIGNMENT</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Why this fits Nedbank</a:t>
            </a:r>
            <a:endParaRPr lang="en-US" sz="3200" dirty="0"/>
          </a:p>
        </p:txBody>
      </p:sp>
      <p:sp>
        <p:nvSpPr>
          <p:cNvPr id="4" name="Text 2"/>
          <p:cNvSpPr/>
          <p:nvPr/>
        </p:nvSpPr>
        <p:spPr>
          <a:xfrm>
            <a:off x="640080" y="1691640"/>
            <a:ext cx="3454298" cy="365760"/>
          </a:xfrm>
          <a:prstGeom prst="rect">
            <a:avLst/>
          </a:prstGeom>
          <a:noFill/>
          <a:ln/>
        </p:spPr>
        <p:txBody>
          <a:bodyPr wrap="square" rtlCol="0" anchor="ctr"/>
          <a:lstStyle/>
          <a:p>
            <a:pPr indent="0" marL="0">
              <a:buNone/>
            </a:pPr>
            <a:r>
              <a:rPr lang="en-US" sz="1900" b="1" dirty="0">
                <a:solidFill>
                  <a:srgbClr val="C9922A"/>
                </a:solidFill>
                <a:latin typeface="Cambria" pitchFamily="34" charset="0"/>
                <a:ea typeface="Cambria" pitchFamily="34" charset="-122"/>
                <a:cs typeface="Cambria" pitchFamily="34" charset="-120"/>
              </a:rPr>
              <a:t>Brand</a:t>
            </a:r>
            <a:endParaRPr lang="en-US" sz="1900" dirty="0"/>
          </a:p>
        </p:txBody>
      </p:sp>
      <p:sp>
        <p:nvSpPr>
          <p:cNvPr id="5" name="Text 3"/>
          <p:cNvSpPr/>
          <p:nvPr/>
        </p:nvSpPr>
        <p:spPr>
          <a:xfrm>
            <a:off x="640080" y="2103120"/>
            <a:ext cx="3454298" cy="1828800"/>
          </a:xfrm>
          <a:prstGeom prst="rect">
            <a:avLst/>
          </a:prstGeom>
          <a:noFill/>
          <a:ln/>
        </p:spPr>
        <p:txBody>
          <a:bodyPr wrap="square" rtlCol="0" anchor="t"/>
          <a:lstStyle/>
          <a:p>
            <a:pPr indent="0" marL="0">
              <a:lnSpc>
                <a:spcPct val="115000"/>
              </a:lnSpc>
              <a:buNone/>
            </a:pPr>
            <a:r>
              <a:rPr lang="en-US" sz="1350" dirty="0">
                <a:solidFill>
                  <a:srgbClr val="222229"/>
                </a:solidFill>
                <a:latin typeface="Calibri" pitchFamily="34" charset="0"/>
                <a:ea typeface="Calibri" pitchFamily="34" charset="-122"/>
                <a:cs typeface="Calibri" pitchFamily="34" charset="-120"/>
              </a:rPr>
              <a:t>Nedbank’s “See money differently” is a promise to think about money more honestly. This room is full of people who have had no choice but to. Neither has to shout to reinforce the other.</a:t>
            </a:r>
            <a:endParaRPr lang="en-US" sz="1350" dirty="0"/>
          </a:p>
        </p:txBody>
      </p:sp>
      <p:sp>
        <p:nvSpPr>
          <p:cNvPr id="6" name="Text 4"/>
          <p:cNvSpPr/>
          <p:nvPr/>
        </p:nvSpPr>
        <p:spPr>
          <a:xfrm>
            <a:off x="4368698" y="1691640"/>
            <a:ext cx="3454298" cy="365760"/>
          </a:xfrm>
          <a:prstGeom prst="rect">
            <a:avLst/>
          </a:prstGeom>
          <a:noFill/>
          <a:ln/>
        </p:spPr>
        <p:txBody>
          <a:bodyPr wrap="square" rtlCol="0" anchor="ctr"/>
          <a:lstStyle/>
          <a:p>
            <a:pPr indent="0" marL="0">
              <a:buNone/>
            </a:pPr>
            <a:r>
              <a:rPr lang="en-US" sz="1900" b="1" dirty="0">
                <a:solidFill>
                  <a:srgbClr val="C9922A"/>
                </a:solidFill>
                <a:latin typeface="Cambria" pitchFamily="34" charset="0"/>
                <a:ea typeface="Cambria" pitchFamily="34" charset="-122"/>
                <a:cs typeface="Cambria" pitchFamily="34" charset="-120"/>
              </a:rPr>
              <a:t>Access</a:t>
            </a:r>
            <a:endParaRPr lang="en-US" sz="1900" dirty="0"/>
          </a:p>
        </p:txBody>
      </p:sp>
      <p:sp>
        <p:nvSpPr>
          <p:cNvPr id="7" name="Text 5"/>
          <p:cNvSpPr/>
          <p:nvPr/>
        </p:nvSpPr>
        <p:spPr>
          <a:xfrm>
            <a:off x="4368698" y="2103120"/>
            <a:ext cx="3454298" cy="1828800"/>
          </a:xfrm>
          <a:prstGeom prst="rect">
            <a:avLst/>
          </a:prstGeom>
          <a:noFill/>
          <a:ln/>
        </p:spPr>
        <p:txBody>
          <a:bodyPr wrap="square" rtlCol="0" anchor="t"/>
          <a:lstStyle/>
          <a:p>
            <a:pPr indent="0" marL="0">
              <a:lnSpc>
                <a:spcPct val="115000"/>
              </a:lnSpc>
              <a:buNone/>
            </a:pPr>
            <a:r>
              <a:rPr lang="en-US" sz="1350" dirty="0">
                <a:solidFill>
                  <a:srgbClr val="222229"/>
                </a:solidFill>
                <a:latin typeface="Calibri" pitchFamily="34" charset="0"/>
                <a:ea typeface="Calibri" pitchFamily="34" charset="-122"/>
                <a:cs typeface="Calibri" pitchFamily="34" charset="-120"/>
              </a:rPr>
              <a:t>The delegates are founders, CEOs, investors and advisors at the growth stage. Close to the exact segment Nedbank Business is built around, and the stall turns that access into conversations on the day.</a:t>
            </a:r>
            <a:endParaRPr lang="en-US" sz="1350" dirty="0"/>
          </a:p>
        </p:txBody>
      </p:sp>
      <p:sp>
        <p:nvSpPr>
          <p:cNvPr id="8" name="Text 6"/>
          <p:cNvSpPr/>
          <p:nvPr/>
        </p:nvSpPr>
        <p:spPr>
          <a:xfrm>
            <a:off x="8097317" y="1691640"/>
            <a:ext cx="3454298" cy="365760"/>
          </a:xfrm>
          <a:prstGeom prst="rect">
            <a:avLst/>
          </a:prstGeom>
          <a:noFill/>
          <a:ln/>
        </p:spPr>
        <p:txBody>
          <a:bodyPr wrap="square" rtlCol="0" anchor="ctr"/>
          <a:lstStyle/>
          <a:p>
            <a:pPr indent="0" marL="0">
              <a:buNone/>
            </a:pPr>
            <a:r>
              <a:rPr lang="en-US" sz="1900" b="1" dirty="0">
                <a:solidFill>
                  <a:srgbClr val="C9922A"/>
                </a:solidFill>
                <a:latin typeface="Cambria" pitchFamily="34" charset="0"/>
                <a:ea typeface="Cambria" pitchFamily="34" charset="-122"/>
                <a:cs typeface="Cambria" pitchFamily="34" charset="-120"/>
              </a:rPr>
              <a:t>Purpose</a:t>
            </a:r>
            <a:endParaRPr lang="en-US" sz="1900" dirty="0"/>
          </a:p>
        </p:txBody>
      </p:sp>
      <p:sp>
        <p:nvSpPr>
          <p:cNvPr id="9" name="Text 7"/>
          <p:cNvSpPr/>
          <p:nvPr/>
        </p:nvSpPr>
        <p:spPr>
          <a:xfrm>
            <a:off x="8097317" y="2103120"/>
            <a:ext cx="3454298" cy="1828800"/>
          </a:xfrm>
          <a:prstGeom prst="rect">
            <a:avLst/>
          </a:prstGeom>
          <a:noFill/>
          <a:ln/>
        </p:spPr>
        <p:txBody>
          <a:bodyPr wrap="square" rtlCol="0" anchor="t"/>
          <a:lstStyle/>
          <a:p>
            <a:pPr indent="0" marL="0">
              <a:lnSpc>
                <a:spcPct val="115000"/>
              </a:lnSpc>
              <a:buNone/>
            </a:pPr>
            <a:r>
              <a:rPr lang="en-US" sz="1350" dirty="0">
                <a:solidFill>
                  <a:srgbClr val="222229"/>
                </a:solidFill>
                <a:latin typeface="Calibri" pitchFamily="34" charset="0"/>
                <a:ea typeface="Calibri" pitchFamily="34" charset="-122"/>
                <a:cs typeface="Calibri" pitchFamily="34" charset="-120"/>
              </a:rPr>
              <a:t>Nedbank’s enterprise and supplier development, SimplyBiz, and education CSI all point one way: growing SMMEs and opening doors for young people. This room, and the matriculant stream, slot straight in.</a:t>
            </a:r>
            <a:endParaRPr lang="en-US" sz="1350" dirty="0"/>
          </a:p>
        </p:txBody>
      </p:sp>
      <p:sp>
        <p:nvSpPr>
          <p:cNvPr id="10" name="Shape 8"/>
          <p:cNvSpPr/>
          <p:nvPr/>
        </p:nvSpPr>
        <p:spPr>
          <a:xfrm>
            <a:off x="640080" y="4160520"/>
            <a:ext cx="10911535" cy="1463040"/>
          </a:xfrm>
          <a:prstGeom prst="rect">
            <a:avLst/>
          </a:prstGeom>
          <a:solidFill>
            <a:srgbClr val="1A1A24"/>
          </a:solidFill>
          <a:ln/>
        </p:spPr>
      </p:sp>
      <p:sp>
        <p:nvSpPr>
          <p:cNvPr id="11" name="Text 9"/>
          <p:cNvSpPr/>
          <p:nvPr/>
        </p:nvSpPr>
        <p:spPr>
          <a:xfrm>
            <a:off x="914400" y="4389120"/>
            <a:ext cx="3017520" cy="1005840"/>
          </a:xfrm>
          <a:prstGeom prst="rect">
            <a:avLst/>
          </a:prstGeom>
          <a:noFill/>
          <a:ln/>
        </p:spPr>
        <p:txBody>
          <a:bodyPr wrap="square" rtlCol="0" anchor="ctr"/>
          <a:lstStyle/>
          <a:p>
            <a:pPr indent="0" marL="0">
              <a:buNone/>
            </a:pPr>
            <a:r>
              <a:rPr lang="en-US" sz="4200" b="1" dirty="0">
                <a:solidFill>
                  <a:srgbClr val="C9922A"/>
                </a:solidFill>
                <a:latin typeface="Cambria" pitchFamily="34" charset="0"/>
                <a:ea typeface="Cambria" pitchFamily="34" charset="-122"/>
                <a:cs typeface="Cambria" pitchFamily="34" charset="-120"/>
              </a:rPr>
              <a:t>70–80%</a:t>
            </a:r>
            <a:endParaRPr lang="en-US" sz="4200" dirty="0"/>
          </a:p>
        </p:txBody>
      </p:sp>
      <p:sp>
        <p:nvSpPr>
          <p:cNvPr id="12" name="Text 10"/>
          <p:cNvSpPr/>
          <p:nvPr/>
        </p:nvSpPr>
        <p:spPr>
          <a:xfrm>
            <a:off x="4114800" y="4343400"/>
            <a:ext cx="7162495" cy="1097280"/>
          </a:xfrm>
          <a:prstGeom prst="rect">
            <a:avLst/>
          </a:prstGeom>
          <a:noFill/>
          <a:ln/>
        </p:spPr>
        <p:txBody>
          <a:bodyPr wrap="square" rtlCol="0" anchor="ctr"/>
          <a:lstStyle/>
          <a:p>
            <a:pPr indent="0" marL="0">
              <a:lnSpc>
                <a:spcPct val="112000"/>
              </a:lnSpc>
              <a:buNone/>
            </a:pPr>
            <a:r>
              <a:rPr lang="en-US" sz="1350" dirty="0">
                <a:solidFill>
                  <a:srgbClr val="EDEBE4"/>
                </a:solidFill>
                <a:latin typeface="Calibri" pitchFamily="34" charset="0"/>
                <a:ea typeface="Calibri" pitchFamily="34" charset="-122"/>
                <a:cs typeface="Calibri" pitchFamily="34" charset="-120"/>
              </a:rPr>
              <a:t>of South African small businesses close within their first five years. That failure rate is the exact problem this room is built to chip away at, and it is, more or less, Nedbank’s enterprise-development problem stated as one number.</a:t>
            </a:r>
            <a:endParaRPr lang="en-US" sz="1350" dirty="0"/>
          </a:p>
        </p:txBody>
      </p:sp>
      <p:sp>
        <p:nvSpPr>
          <p:cNvPr id="13" name="Text 11"/>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4" name="Text 12"/>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What we are asking Nedbank for</a:t>
            </a:r>
            <a:endParaRPr lang="en-US" sz="3200" dirty="0"/>
          </a:p>
        </p:txBody>
      </p:sp>
      <p:sp>
        <p:nvSpPr>
          <p:cNvPr id="4" name="Text 2"/>
          <p:cNvSpPr/>
          <p:nvPr/>
        </p:nvSpPr>
        <p:spPr>
          <a:xfrm>
            <a:off x="640080" y="1645920"/>
            <a:ext cx="6400800" cy="914400"/>
          </a:xfrm>
          <a:prstGeom prst="rect">
            <a:avLst/>
          </a:prstGeom>
          <a:noFill/>
          <a:ln/>
        </p:spPr>
        <p:txBody>
          <a:bodyPr wrap="square" rtlCol="0" anchor="t"/>
          <a:lstStyle/>
          <a:p>
            <a:pPr indent="0" marL="0">
              <a:lnSpc>
                <a:spcPct val="115000"/>
              </a:lnSpc>
              <a:buNone/>
            </a:pPr>
            <a:r>
              <a:rPr lang="en-US" sz="1500" dirty="0">
                <a:solidFill>
                  <a:srgbClr val="222229"/>
                </a:solidFill>
                <a:latin typeface="Calibri" pitchFamily="34" charset="0"/>
                <a:ea typeface="Calibri" pitchFamily="34" charset="-122"/>
                <a:cs typeface="Calibri" pitchFamily="34" charset="-120"/>
              </a:rPr>
              <a:t>Come on board as a Gold sponsor of the Building Resilience Annual Conference 2026. Two Gold sponsorships are available, and we are offering Nedbank first look at one of them.</a:t>
            </a:r>
            <a:endParaRPr lang="en-US" sz="1500" dirty="0"/>
          </a:p>
        </p:txBody>
      </p:sp>
      <p:sp>
        <p:nvSpPr>
          <p:cNvPr id="5" name="Text 3"/>
          <p:cNvSpPr/>
          <p:nvPr/>
        </p:nvSpPr>
        <p:spPr>
          <a:xfrm>
            <a:off x="640080" y="2697480"/>
            <a:ext cx="6400800" cy="320040"/>
          </a:xfrm>
          <a:prstGeom prst="rect">
            <a:avLst/>
          </a:prstGeom>
          <a:noFill/>
          <a:ln/>
        </p:spPr>
        <p:txBody>
          <a:bodyPr wrap="square" rtlCol="0" anchor="ctr"/>
          <a:lstStyle/>
          <a:p>
            <a:pPr indent="0" marL="0">
              <a:buNone/>
            </a:pPr>
            <a:r>
              <a:rPr lang="en-US" sz="1400" b="1" dirty="0">
                <a:solidFill>
                  <a:srgbClr val="1A1A24"/>
                </a:solidFill>
                <a:latin typeface="Calibri" pitchFamily="34" charset="0"/>
                <a:ea typeface="Calibri" pitchFamily="34" charset="-122"/>
                <a:cs typeface="Calibri" pitchFamily="34" charset="-120"/>
              </a:rPr>
              <a:t>In return, Nedbank takes:</a:t>
            </a:r>
            <a:endParaRPr lang="en-US" sz="1400" dirty="0"/>
          </a:p>
        </p:txBody>
      </p:sp>
      <p:sp>
        <p:nvSpPr>
          <p:cNvPr id="6" name="Text 4"/>
          <p:cNvSpPr/>
          <p:nvPr/>
        </p:nvSpPr>
        <p:spPr>
          <a:xfrm>
            <a:off x="640080" y="3063240"/>
            <a:ext cx="6400800" cy="1828800"/>
          </a:xfrm>
          <a:prstGeom prst="rect">
            <a:avLst/>
          </a:prstGeom>
          <a:noFill/>
          <a:ln/>
        </p:spPr>
        <p:txBody>
          <a:bodyPr wrap="square" rtlCol="0" anchor="t"/>
          <a:lstStyle/>
          <a:p>
            <a:pPr marL="177800" indent="-177800">
              <a:spcAft>
                <a:spcPts val="600"/>
              </a:spcAft>
              <a:buSzPct val="100000"/>
              <a:buChar char="•"/>
            </a:pPr>
            <a:r>
              <a:rPr lang="en-US" sz="1400" dirty="0">
                <a:solidFill>
                  <a:srgbClr val="222229"/>
                </a:solidFill>
                <a:latin typeface="Calibri" pitchFamily="34" charset="0"/>
                <a:ea typeface="Calibri" pitchFamily="34" charset="-122"/>
                <a:cs typeface="Calibri" pitchFamily="34" charset="-120"/>
              </a:rPr>
              <a:t>Stage and programme logo</a:t>
            </a:r>
            <a:endParaRPr lang="en-US" sz="1400" dirty="0"/>
          </a:p>
          <a:p>
            <a:pPr marL="177800" indent="-177800">
              <a:spcAft>
                <a:spcPts val="600"/>
              </a:spcAft>
              <a:buSzPct val="100000"/>
              <a:buChar char="•"/>
            </a:pPr>
            <a:r>
              <a:rPr lang="en-US" sz="1400" dirty="0">
                <a:solidFill>
                  <a:srgbClr val="222229"/>
                </a:solidFill>
                <a:latin typeface="Calibri" pitchFamily="34" charset="0"/>
                <a:ea typeface="Calibri" pitchFamily="34" charset="-122"/>
                <a:cs typeface="Calibri" pitchFamily="34" charset="-120"/>
              </a:rPr>
              <a:t>A 3x3m exhibitor stall in the delegate space</a:t>
            </a:r>
            <a:endParaRPr lang="en-US" sz="1400" dirty="0"/>
          </a:p>
          <a:p>
            <a:pPr marL="177800" indent="-177800">
              <a:spcAft>
                <a:spcPts val="600"/>
              </a:spcAft>
              <a:buSzPct val="100000"/>
              <a:buChar char="•"/>
            </a:pPr>
            <a:r>
              <a:rPr lang="en-US" sz="1400" dirty="0">
                <a:solidFill>
                  <a:srgbClr val="222229"/>
                </a:solidFill>
                <a:latin typeface="Calibri" pitchFamily="34" charset="0"/>
                <a:ea typeface="Calibri" pitchFamily="34" charset="-122"/>
                <a:cs typeface="Calibri" pitchFamily="34" charset="-120"/>
              </a:rPr>
              <a:t>Three VIP delegate tickets</a:t>
            </a:r>
            <a:endParaRPr lang="en-US" sz="1400" dirty="0"/>
          </a:p>
          <a:p>
            <a:pPr marL="177800" indent="-177800">
              <a:spcAft>
                <a:spcPts val="600"/>
              </a:spcAft>
              <a:buSzPct val="100000"/>
              <a:buChar char="•"/>
            </a:pPr>
            <a:r>
              <a:rPr lang="en-US" sz="1400" dirty="0">
                <a:solidFill>
                  <a:srgbClr val="222229"/>
                </a:solidFill>
                <a:latin typeface="Calibri" pitchFamily="34" charset="0"/>
                <a:ea typeface="Calibri" pitchFamily="34" charset="-122"/>
                <a:cs typeface="Calibri" pitchFamily="34" charset="-120"/>
              </a:rPr>
              <a:t>Three social mentions across our channels</a:t>
            </a:r>
            <a:endParaRPr lang="en-US" sz="1400" dirty="0"/>
          </a:p>
          <a:p>
            <a:pPr marL="177800" indent="-177800">
              <a:spcAft>
                <a:spcPts val="600"/>
              </a:spcAft>
              <a:buSzPct val="100000"/>
              <a:buChar char="•"/>
            </a:pPr>
            <a:r>
              <a:rPr lang="en-US" sz="1400" dirty="0">
                <a:solidFill>
                  <a:srgbClr val="222229"/>
                </a:solidFill>
                <a:latin typeface="Calibri" pitchFamily="34" charset="0"/>
                <a:ea typeface="Calibri" pitchFamily="34" charset="-122"/>
                <a:cs typeface="Calibri" pitchFamily="34" charset="-120"/>
              </a:rPr>
              <a:t>Inclusion in the weekly Speaker Talks run-up</a:t>
            </a:r>
            <a:endParaRPr lang="en-US" sz="1400" dirty="0"/>
          </a:p>
        </p:txBody>
      </p:sp>
      <p:sp>
        <p:nvSpPr>
          <p:cNvPr id="7" name="Text 5"/>
          <p:cNvSpPr/>
          <p:nvPr/>
        </p:nvSpPr>
        <p:spPr>
          <a:xfrm>
            <a:off x="640080" y="5074920"/>
            <a:ext cx="6400800" cy="822960"/>
          </a:xfrm>
          <a:prstGeom prst="rect">
            <a:avLst/>
          </a:prstGeom>
          <a:noFill/>
          <a:ln/>
        </p:spPr>
        <p:txBody>
          <a:bodyPr wrap="square" rtlCol="0" anchor="t"/>
          <a:lstStyle/>
          <a:p>
            <a:pPr indent="0" marL="0">
              <a:lnSpc>
                <a:spcPct val="110000"/>
              </a:lnSpc>
              <a:buNone/>
            </a:pPr>
            <a:r>
              <a:rPr lang="en-US" sz="1250" i="1" dirty="0">
                <a:solidFill>
                  <a:srgbClr val="9A99A2"/>
                </a:solidFill>
                <a:latin typeface="Calibri" pitchFamily="34" charset="0"/>
                <a:ea typeface="Calibri" pitchFamily="34" charset="-122"/>
                <a:cs typeface="Calibri" pitchFamily="34" charset="-120"/>
              </a:rPr>
              <a:t>The single Title tier is still open if Nedbank would rather anchor the whole room. A bespoke or in-kind blend is open too. [Bespoke value to confirm together.]</a:t>
            </a:r>
            <a:endParaRPr lang="en-US" sz="1250" dirty="0"/>
          </a:p>
        </p:txBody>
      </p:sp>
      <p:sp>
        <p:nvSpPr>
          <p:cNvPr id="8" name="Shape 6"/>
          <p:cNvSpPr/>
          <p:nvPr/>
        </p:nvSpPr>
        <p:spPr>
          <a:xfrm>
            <a:off x="7589520" y="1691640"/>
            <a:ext cx="3962095" cy="3977640"/>
          </a:xfrm>
          <a:prstGeom prst="rect">
            <a:avLst/>
          </a:prstGeom>
          <a:solidFill>
            <a:srgbClr val="1A1A24"/>
          </a:solidFill>
          <a:ln/>
        </p:spPr>
      </p:sp>
      <p:sp>
        <p:nvSpPr>
          <p:cNvPr id="9" name="Text 7"/>
          <p:cNvSpPr/>
          <p:nvPr/>
        </p:nvSpPr>
        <p:spPr>
          <a:xfrm>
            <a:off x="7589520" y="2148840"/>
            <a:ext cx="3962095" cy="457200"/>
          </a:xfrm>
          <a:prstGeom prst="rect">
            <a:avLst/>
          </a:prstGeom>
          <a:noFill/>
          <a:ln/>
        </p:spPr>
        <p:txBody>
          <a:bodyPr wrap="square" rtlCol="0" anchor="ctr"/>
          <a:lstStyle/>
          <a:p>
            <a:pPr algn="ctr" indent="0" marL="0">
              <a:buNone/>
            </a:pPr>
            <a:r>
              <a:rPr lang="en-US" sz="1800" b="1" spc="400" kern="0" dirty="0">
                <a:solidFill>
                  <a:srgbClr val="E7C878"/>
                </a:solidFill>
                <a:latin typeface="Calibri" pitchFamily="34" charset="0"/>
                <a:ea typeface="Calibri" pitchFamily="34" charset="-122"/>
                <a:cs typeface="Calibri" pitchFamily="34" charset="-120"/>
              </a:rPr>
              <a:t>GOLD</a:t>
            </a:r>
            <a:endParaRPr lang="en-US" sz="1800" dirty="0"/>
          </a:p>
        </p:txBody>
      </p:sp>
      <p:sp>
        <p:nvSpPr>
          <p:cNvPr id="10" name="Text 8"/>
          <p:cNvSpPr/>
          <p:nvPr/>
        </p:nvSpPr>
        <p:spPr>
          <a:xfrm>
            <a:off x="7589520" y="2697480"/>
            <a:ext cx="3962095" cy="73152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R40,000</a:t>
            </a:r>
            <a:endParaRPr lang="en-US" sz="4000" dirty="0"/>
          </a:p>
        </p:txBody>
      </p:sp>
      <p:sp>
        <p:nvSpPr>
          <p:cNvPr id="11" name="Text 9"/>
          <p:cNvSpPr/>
          <p:nvPr/>
        </p:nvSpPr>
        <p:spPr>
          <a:xfrm>
            <a:off x="7589520" y="3520440"/>
            <a:ext cx="3962095" cy="365760"/>
          </a:xfrm>
          <a:prstGeom prst="rect">
            <a:avLst/>
          </a:prstGeom>
          <a:noFill/>
          <a:ln/>
        </p:spPr>
        <p:txBody>
          <a:bodyPr wrap="square" rtlCol="0" anchor="ctr"/>
          <a:lstStyle/>
          <a:p>
            <a:pPr algn="ctr" indent="0" marL="0">
              <a:buNone/>
            </a:pPr>
            <a:r>
              <a:rPr lang="en-US" sz="1400" dirty="0">
                <a:solidFill>
                  <a:srgbClr val="EDEBE4"/>
                </a:solidFill>
                <a:latin typeface="Calibri" pitchFamily="34" charset="0"/>
                <a:ea typeface="Calibri" pitchFamily="34" charset="-122"/>
                <a:cs typeface="Calibri" pitchFamily="34" charset="-120"/>
              </a:rPr>
              <a:t>2 available</a:t>
            </a:r>
            <a:endParaRPr lang="en-US" sz="1400" dirty="0"/>
          </a:p>
        </p:txBody>
      </p:sp>
      <p:sp>
        <p:nvSpPr>
          <p:cNvPr id="12" name="Shape 10"/>
          <p:cNvSpPr/>
          <p:nvPr/>
        </p:nvSpPr>
        <p:spPr>
          <a:xfrm>
            <a:off x="8138160" y="4023360"/>
            <a:ext cx="2864815" cy="0"/>
          </a:xfrm>
          <a:prstGeom prst="line">
            <a:avLst/>
          </a:prstGeom>
          <a:noFill/>
          <a:ln w="12700">
            <a:solidFill>
              <a:srgbClr val="C9922A"/>
            </a:solidFill>
            <a:prstDash val="solid"/>
          </a:ln>
        </p:spPr>
      </p:sp>
      <p:sp>
        <p:nvSpPr>
          <p:cNvPr id="13" name="Text 11"/>
          <p:cNvSpPr/>
          <p:nvPr/>
        </p:nvSpPr>
        <p:spPr>
          <a:xfrm>
            <a:off x="7909560" y="4206240"/>
            <a:ext cx="3322015" cy="1280160"/>
          </a:xfrm>
          <a:prstGeom prst="rect">
            <a:avLst/>
          </a:prstGeom>
          <a:noFill/>
          <a:ln/>
        </p:spPr>
        <p:txBody>
          <a:bodyPr wrap="square" rtlCol="0" anchor="t"/>
          <a:lstStyle/>
          <a:p>
            <a:pPr algn="ctr" indent="0" marL="0">
              <a:lnSpc>
                <a:spcPct val="115000"/>
              </a:lnSpc>
              <a:buNone/>
            </a:pPr>
            <a:r>
              <a:rPr lang="en-US" sz="1300" dirty="0">
                <a:solidFill>
                  <a:srgbClr val="EDEBE4"/>
                </a:solidFill>
                <a:latin typeface="Calibri" pitchFamily="34" charset="0"/>
                <a:ea typeface="Calibri" pitchFamily="34" charset="-122"/>
                <a:cs typeface="Calibri" pitchFamily="34" charset="-120"/>
              </a:rPr>
              <a:t>A working stand in a room of exactly the right people.</a:t>
            </a:r>
            <a:endParaRPr lang="en-US" sz="1300" dirty="0"/>
          </a:p>
        </p:txBody>
      </p:sp>
      <p:sp>
        <p:nvSpPr>
          <p:cNvPr id="14" name="Text 12"/>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5" name="Text 13"/>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RECOGNITION</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What Nedbank receives</a:t>
            </a:r>
            <a:endParaRPr lang="en-US" sz="3200" dirty="0"/>
          </a:p>
        </p:txBody>
      </p:sp>
      <p:sp>
        <p:nvSpPr>
          <p:cNvPr id="4" name="Text 2"/>
          <p:cNvSpPr/>
          <p:nvPr/>
        </p:nvSpPr>
        <p:spPr>
          <a:xfrm>
            <a:off x="640080" y="1737360"/>
            <a:ext cx="4846320" cy="2011680"/>
          </a:xfrm>
          <a:prstGeom prst="rect">
            <a:avLst/>
          </a:prstGeom>
          <a:noFill/>
          <a:ln/>
        </p:spPr>
        <p:txBody>
          <a:bodyPr wrap="square" rtlCol="0" anchor="t"/>
          <a:lstStyle/>
          <a:p>
            <a:pPr marL="177800" indent="-177800">
              <a:spcAft>
                <a:spcPts val="1000"/>
              </a:spcAft>
              <a:buSzPct val="100000"/>
              <a:buChar char="•"/>
            </a:pPr>
            <a:r>
              <a:rPr lang="en-US" sz="1400" dirty="0">
                <a:solidFill>
                  <a:srgbClr val="222229"/>
                </a:solidFill>
                <a:latin typeface="Calibri" pitchFamily="34" charset="0"/>
                <a:ea typeface="Calibri" pitchFamily="34" charset="-122"/>
                <a:cs typeface="Calibri" pitchFamily="34" charset="-120"/>
              </a:rPr>
              <a:t>Nedbank Business logo on stage and throughout the programme.</a:t>
            </a:r>
            <a:endParaRPr lang="en-US" sz="1400" dirty="0"/>
          </a:p>
          <a:p>
            <a:pPr marL="177800" indent="-177800">
              <a:spcAft>
                <a:spcPts val="1000"/>
              </a:spcAft>
              <a:buSzPct val="100000"/>
              <a:buChar char="•"/>
            </a:pPr>
            <a:r>
              <a:rPr lang="en-US" sz="1400" dirty="0">
                <a:solidFill>
                  <a:srgbClr val="222229"/>
                </a:solidFill>
                <a:latin typeface="Calibri" pitchFamily="34" charset="0"/>
                <a:ea typeface="Calibri" pitchFamily="34" charset="-122"/>
                <a:cs typeface="Calibri" pitchFamily="34" charset="-120"/>
              </a:rPr>
              <a:t>A 3x3m exhibitor stall, staffed by your own team all day.</a:t>
            </a:r>
            <a:endParaRPr lang="en-US" sz="1400" dirty="0"/>
          </a:p>
          <a:p>
            <a:pPr marL="177800" indent="-177800">
              <a:spcAft>
                <a:spcPts val="1000"/>
              </a:spcAft>
              <a:buSzPct val="100000"/>
              <a:buChar char="•"/>
            </a:pPr>
            <a:r>
              <a:rPr lang="en-US" sz="1400" dirty="0">
                <a:solidFill>
                  <a:srgbClr val="222229"/>
                </a:solidFill>
                <a:latin typeface="Calibri" pitchFamily="34" charset="0"/>
                <a:ea typeface="Calibri" pitchFamily="34" charset="-122"/>
                <a:cs typeface="Calibri" pitchFamily="34" charset="-120"/>
              </a:rPr>
              <a:t>Three VIP delegate tickets for the conference.</a:t>
            </a:r>
            <a:endParaRPr lang="en-US" sz="1400" dirty="0"/>
          </a:p>
        </p:txBody>
      </p:sp>
      <p:sp>
        <p:nvSpPr>
          <p:cNvPr id="5" name="Text 3"/>
          <p:cNvSpPr/>
          <p:nvPr/>
        </p:nvSpPr>
        <p:spPr>
          <a:xfrm>
            <a:off x="5852160" y="1737360"/>
            <a:ext cx="4846320" cy="2011680"/>
          </a:xfrm>
          <a:prstGeom prst="rect">
            <a:avLst/>
          </a:prstGeom>
          <a:noFill/>
          <a:ln/>
        </p:spPr>
        <p:txBody>
          <a:bodyPr wrap="square" rtlCol="0" anchor="t"/>
          <a:lstStyle/>
          <a:p>
            <a:pPr marL="177800" indent="-177800">
              <a:spcAft>
                <a:spcPts val="1000"/>
              </a:spcAft>
              <a:buSzPct val="100000"/>
              <a:buChar char="•"/>
            </a:pPr>
            <a:r>
              <a:rPr lang="en-US" sz="1400" dirty="0">
                <a:solidFill>
                  <a:srgbClr val="222229"/>
                </a:solidFill>
                <a:latin typeface="Calibri" pitchFamily="34" charset="0"/>
                <a:ea typeface="Calibri" pitchFamily="34" charset="-122"/>
                <a:cs typeface="Calibri" pitchFamily="34" charset="-120"/>
              </a:rPr>
              <a:t>Three social mentions across Build Resilience channels.</a:t>
            </a:r>
            <a:endParaRPr lang="en-US" sz="1400" dirty="0"/>
          </a:p>
          <a:p>
            <a:pPr marL="177800" indent="-177800">
              <a:spcAft>
                <a:spcPts val="1000"/>
              </a:spcAft>
              <a:buSzPct val="100000"/>
              <a:buChar char="•"/>
            </a:pPr>
            <a:r>
              <a:rPr lang="en-US" sz="1400" dirty="0">
                <a:solidFill>
                  <a:srgbClr val="222229"/>
                </a:solidFill>
                <a:latin typeface="Calibri" pitchFamily="34" charset="0"/>
                <a:ea typeface="Calibri" pitchFamily="34" charset="-122"/>
                <a:cs typeface="Calibri" pitchFamily="34" charset="-120"/>
              </a:rPr>
              <a:t>Inclusion in the weekly Speaker Talks run-up.</a:t>
            </a:r>
            <a:endParaRPr lang="en-US" sz="1400" dirty="0"/>
          </a:p>
          <a:p>
            <a:pPr marL="177800" indent="-177800">
              <a:spcAft>
                <a:spcPts val="1000"/>
              </a:spcAft>
              <a:buSzPct val="100000"/>
              <a:buChar char="•"/>
            </a:pPr>
            <a:r>
              <a:rPr lang="en-US" sz="1400" dirty="0">
                <a:solidFill>
                  <a:srgbClr val="222229"/>
                </a:solidFill>
                <a:latin typeface="Calibri" pitchFamily="34" charset="0"/>
                <a:ea typeface="Calibri" pitchFamily="34" charset="-122"/>
                <a:cs typeface="Calibri" pitchFamily="34" charset="-120"/>
              </a:rPr>
              <a:t>A share of the post-event impact report.</a:t>
            </a:r>
            <a:endParaRPr lang="en-US" sz="1400" dirty="0"/>
          </a:p>
        </p:txBody>
      </p:sp>
      <p:sp>
        <p:nvSpPr>
          <p:cNvPr id="6" name="Shape 4"/>
          <p:cNvSpPr/>
          <p:nvPr/>
        </p:nvSpPr>
        <p:spPr>
          <a:xfrm>
            <a:off x="640080" y="3977640"/>
            <a:ext cx="10911535" cy="1645920"/>
          </a:xfrm>
          <a:prstGeom prst="rect">
            <a:avLst/>
          </a:prstGeom>
          <a:solidFill>
            <a:srgbClr val="1A1A24"/>
          </a:solidFill>
          <a:ln/>
        </p:spPr>
      </p:sp>
      <p:sp>
        <p:nvSpPr>
          <p:cNvPr id="7" name="Text 5"/>
          <p:cNvSpPr/>
          <p:nvPr/>
        </p:nvSpPr>
        <p:spPr>
          <a:xfrm>
            <a:off x="960120" y="4206240"/>
            <a:ext cx="10271455" cy="365760"/>
          </a:xfrm>
          <a:prstGeom prst="rect">
            <a:avLst/>
          </a:prstGeom>
          <a:noFill/>
          <a:ln/>
        </p:spPr>
        <p:txBody>
          <a:bodyPr wrap="square" rtlCol="0" anchor="ctr"/>
          <a:lstStyle/>
          <a:p>
            <a:pPr indent="0" marL="0">
              <a:buNone/>
            </a:pPr>
            <a:r>
              <a:rPr lang="en-US" sz="1300" dirty="0">
                <a:solidFill>
                  <a:srgbClr val="E7C878"/>
                </a:solidFill>
                <a:latin typeface="Calibri" pitchFamily="34" charset="0"/>
                <a:ea typeface="Calibri" pitchFamily="34" charset="-122"/>
                <a:cs typeface="Calibri" pitchFamily="34" charset="-120"/>
              </a:rPr>
              <a:t>And the part that does not fit on a benefits list:</a:t>
            </a:r>
            <a:endParaRPr lang="en-US" sz="1300" dirty="0"/>
          </a:p>
        </p:txBody>
      </p:sp>
      <p:sp>
        <p:nvSpPr>
          <p:cNvPr id="8" name="Text 6"/>
          <p:cNvSpPr/>
          <p:nvPr/>
        </p:nvSpPr>
        <p:spPr>
          <a:xfrm>
            <a:off x="960120" y="4572000"/>
            <a:ext cx="10271455" cy="914400"/>
          </a:xfrm>
          <a:prstGeom prst="rect">
            <a:avLst/>
          </a:prstGeom>
          <a:noFill/>
          <a:ln/>
        </p:spPr>
        <p:txBody>
          <a:bodyPr wrap="square" rtlCol="0" anchor="t"/>
          <a:lstStyle/>
          <a:p>
            <a:pPr indent="0" marL="0">
              <a:lnSpc>
                <a:spcPct val="112000"/>
              </a:lnSpc>
              <a:buNone/>
            </a:pPr>
            <a:r>
              <a:rPr lang="en-US" sz="1600" i="1" dirty="0">
                <a:solidFill>
                  <a:srgbClr val="FFFFFF"/>
                </a:solidFill>
                <a:latin typeface="Cambria" pitchFamily="34" charset="0"/>
                <a:ea typeface="Cambria" pitchFamily="34" charset="-122"/>
                <a:cs typeface="Cambria" pitchFamily="34" charset="-120"/>
              </a:rPr>
              <a:t>A group of Gauteng matriculants hosted in the room, associated with Nedbank’s support. A genuine development outcome, not a line item, mapping cleanly onto Nedbank’s own enterprise-development and education story.</a:t>
            </a:r>
            <a:endParaRPr lang="en-US" sz="1600" dirty="0"/>
          </a:p>
        </p:txBody>
      </p:sp>
      <p:sp>
        <p:nvSpPr>
          <p:cNvPr id="9" name="Text 7"/>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0" name="Text 8"/>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THE FULL PICTURE</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Sponsorship tiers</a:t>
            </a:r>
            <a:endParaRPr lang="en-US" sz="3200" dirty="0"/>
          </a:p>
        </p:txBody>
      </p:sp>
      <p:sp>
        <p:nvSpPr>
          <p:cNvPr id="4" name="Text 2"/>
          <p:cNvSpPr/>
          <p:nvPr/>
        </p:nvSpPr>
        <p:spPr>
          <a:xfrm>
            <a:off x="640080" y="1645920"/>
            <a:ext cx="10911535" cy="320040"/>
          </a:xfrm>
          <a:prstGeom prst="rect">
            <a:avLst/>
          </a:prstGeom>
          <a:noFill/>
          <a:ln/>
        </p:spPr>
        <p:txBody>
          <a:bodyPr wrap="square" rtlCol="0" anchor="ctr"/>
          <a:lstStyle/>
          <a:p>
            <a:pPr indent="0" marL="0">
              <a:buNone/>
            </a:pPr>
            <a:r>
              <a:rPr lang="en-US" sz="1350" dirty="0">
                <a:solidFill>
                  <a:srgbClr val="9A99A2"/>
                </a:solidFill>
                <a:latin typeface="Calibri" pitchFamily="34" charset="0"/>
                <a:ea typeface="Calibri" pitchFamily="34" charset="-122"/>
                <a:cs typeface="Calibri" pitchFamily="34" charset="-120"/>
              </a:rPr>
              <a:t>Gold is the tier we are proposing to Nedbank. The full menu is below.</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911535" cy="914400"/>
        </p:xfrm>
        <a:graphic>
          <a:graphicData uri="http://schemas.openxmlformats.org/drawingml/2006/table">
            <a:tbl>
              <a:tblPr/>
              <a:tblGrid>
                <a:gridCol w="2377440"/>
                <a:gridCol w="2011680"/>
                <a:gridCol w="1005840"/>
                <a:gridCol w="5513832"/>
              </a:tblGrid>
              <a:tr h="365760">
                <a:tc>
                  <a:txBody>
                    <a:bodyPr/>
                    <a:lstStyle/>
                    <a:p>
                      <a:pPr algn="l" indent="0" marL="0">
                        <a:buNone/>
                      </a:pPr>
                      <a:r>
                        <a:rPr lang="en-US" sz="1250" b="1" dirty="0">
                          <a:solidFill>
                            <a:srgbClr val="C9922A"/>
                          </a:solidFill>
                          <a:latin typeface="Calibri" pitchFamily="34" charset="0"/>
                          <a:ea typeface="Calibri" pitchFamily="34" charset="-122"/>
                          <a:cs typeface="Calibri" pitchFamily="34" charset="-120"/>
                        </a:rPr>
                        <a:t>Tier</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1A1A24"/>
                    </a:solidFill>
                  </a:tcPr>
                </a:tc>
                <a:tc>
                  <a:txBody>
                    <a:bodyPr/>
                    <a:lstStyle/>
                    <a:p>
                      <a:pPr algn="l" indent="0" marL="0">
                        <a:buNone/>
                      </a:pPr>
                      <a:r>
                        <a:rPr lang="en-US" sz="1250" b="1" dirty="0">
                          <a:solidFill>
                            <a:srgbClr val="C9922A"/>
                          </a:solidFill>
                          <a:latin typeface="Calibri" pitchFamily="34" charset="0"/>
                          <a:ea typeface="Calibri" pitchFamily="34" charset="-122"/>
                          <a:cs typeface="Calibri" pitchFamily="34" charset="-120"/>
                        </a:rPr>
                        <a:t>Investment</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1A1A24"/>
                    </a:solidFill>
                  </a:tcPr>
                </a:tc>
                <a:tc>
                  <a:txBody>
                    <a:bodyPr/>
                    <a:lstStyle/>
                    <a:p>
                      <a:pPr algn="l" indent="0" marL="0">
                        <a:buNone/>
                      </a:pPr>
                      <a:r>
                        <a:rPr lang="en-US" sz="1250" b="1" dirty="0">
                          <a:solidFill>
                            <a:srgbClr val="C9922A"/>
                          </a:solidFill>
                          <a:latin typeface="Calibri" pitchFamily="34" charset="0"/>
                          <a:ea typeface="Calibri" pitchFamily="34" charset="-122"/>
                          <a:cs typeface="Calibri" pitchFamily="34" charset="-120"/>
                        </a:rPr>
                        <a:t>Avail.</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1A1A24"/>
                    </a:solidFill>
                  </a:tcPr>
                </a:tc>
                <a:tc>
                  <a:txBody>
                    <a:bodyPr/>
                    <a:lstStyle/>
                    <a:p>
                      <a:pPr algn="l" indent="0" marL="0">
                        <a:buNone/>
                      </a:pPr>
                      <a:r>
                        <a:rPr lang="en-US" sz="1250" b="1" dirty="0">
                          <a:solidFill>
                            <a:srgbClr val="C9922A"/>
                          </a:solidFill>
                          <a:latin typeface="Calibri" pitchFamily="34" charset="0"/>
                          <a:ea typeface="Calibri" pitchFamily="34" charset="-122"/>
                          <a:cs typeface="Calibri" pitchFamily="34" charset="-120"/>
                        </a:rPr>
                        <a:t>What it includes</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1A1A24"/>
                    </a:solidFill>
                  </a:tcPr>
                </a:tc>
              </a:tr>
              <a:tr h="685800">
                <a:tc>
                  <a:txBody>
                    <a:bodyPr/>
                    <a:lstStyle/>
                    <a:p>
                      <a:pPr algn="l" indent="0" marL="0">
                        <a:buNone/>
                      </a:pPr>
                      <a:r>
                        <a:rPr lang="en-US" sz="1250" b="1" dirty="0">
                          <a:solidFill>
                            <a:srgbClr val="1A1A24"/>
                          </a:solidFill>
                          <a:latin typeface="Calibri" pitchFamily="34" charset="0"/>
                          <a:ea typeface="Calibri" pitchFamily="34" charset="-122"/>
                          <a:cs typeface="Calibri" pitchFamily="34" charset="-120"/>
                        </a:rPr>
                        <a:t>Title / Platinum</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R85,000</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9"/>
                          </a:solidFill>
                          <a:latin typeface="Calibri" pitchFamily="34" charset="0"/>
                          <a:ea typeface="Calibri" pitchFamily="34" charset="-122"/>
                          <a:cs typeface="Calibri" pitchFamily="34" charset="-120"/>
                        </a:rPr>
                        <a:t>Naming rights, 10-min stage address, premium branding, 5 VIP tickets, logo on all digital, impact report in 5 days.</a:t>
                      </a:r>
                      <a:endParaRPr lang="en-US" sz="110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A1A24"/>
                          </a:solidFill>
                          <a:latin typeface="Calibri" pitchFamily="34" charset="0"/>
                          <a:ea typeface="Calibri" pitchFamily="34" charset="-122"/>
                          <a:cs typeface="Calibri" pitchFamily="34" charset="-120"/>
                        </a:rPr>
                        <a:t>Gold</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6ECD8"/>
                    </a:solidFill>
                  </a:tcPr>
                </a:tc>
                <a:tc>
                  <a:txBody>
                    <a:bodyPr/>
                    <a:lstStyle/>
                    <a:p>
                      <a:pPr algn="l" indent="0" marL="0">
                        <a:buNone/>
                      </a:pPr>
                      <a:r>
                        <a:rPr lang="en-US" sz="1250" b="1" dirty="0">
                          <a:solidFill>
                            <a:srgbClr val="222229"/>
                          </a:solidFill>
                          <a:latin typeface="Calibri" pitchFamily="34" charset="0"/>
                          <a:ea typeface="Calibri" pitchFamily="34" charset="-122"/>
                          <a:cs typeface="Calibri" pitchFamily="34" charset="-120"/>
                        </a:rPr>
                        <a:t>R40,000</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6ECD8"/>
                    </a:solidFill>
                  </a:tcPr>
                </a:tc>
                <a:tc>
                  <a:txBody>
                    <a:bodyPr/>
                    <a:lstStyle/>
                    <a:p>
                      <a:pPr algn="l" indent="0" marL="0">
                        <a:buNone/>
                      </a:pPr>
                      <a:r>
                        <a:rPr lang="en-US" sz="1250" b="1" dirty="0">
                          <a:solidFill>
                            <a:srgbClr val="22222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6ECD8"/>
                    </a:solidFill>
                  </a:tcPr>
                </a:tc>
                <a:tc>
                  <a:txBody>
                    <a:bodyPr/>
                    <a:lstStyle/>
                    <a:p>
                      <a:pPr algn="l" indent="0" marL="0">
                        <a:buNone/>
                      </a:pPr>
                      <a:r>
                        <a:rPr lang="en-US" sz="1100" b="1" dirty="0">
                          <a:solidFill>
                            <a:srgbClr val="222229"/>
                          </a:solidFill>
                          <a:latin typeface="Calibri" pitchFamily="34" charset="0"/>
                          <a:ea typeface="Calibri" pitchFamily="34" charset="-122"/>
                          <a:cs typeface="Calibri" pitchFamily="34" charset="-120"/>
                        </a:rPr>
                        <a:t>Stage &amp; programme logo, a 3x3m exhibitor stall, 3 VIP tickets, 3 social mentions.</a:t>
                      </a:r>
                      <a:endParaRPr lang="en-US" sz="110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6ECD8"/>
                    </a:solidFill>
                  </a:tcPr>
                </a:tc>
              </a:tr>
              <a:tr h="502920">
                <a:tc>
                  <a:txBody>
                    <a:bodyPr/>
                    <a:lstStyle/>
                    <a:p>
                      <a:pPr algn="l" indent="0" marL="0">
                        <a:buNone/>
                      </a:pPr>
                      <a:r>
                        <a:rPr lang="en-US" sz="1250" b="1" dirty="0">
                          <a:solidFill>
                            <a:srgbClr val="1A1A24"/>
                          </a:solidFill>
                          <a:latin typeface="Calibri" pitchFamily="34" charset="0"/>
                          <a:ea typeface="Calibri" pitchFamily="34" charset="-122"/>
                          <a:cs typeface="Calibri" pitchFamily="34" charset="-120"/>
                        </a:rPr>
                        <a:t>Silver</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R20,000</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9"/>
                          </a:solidFill>
                          <a:latin typeface="Calibri" pitchFamily="34" charset="0"/>
                          <a:ea typeface="Calibri" pitchFamily="34" charset="-122"/>
                          <a:cs typeface="Calibri" pitchFamily="34" charset="-120"/>
                        </a:rPr>
                        <a:t>Programme &amp; backdrop logo, 2 standard tickets, an event-day social mention.</a:t>
                      </a:r>
                      <a:endParaRPr lang="en-US" sz="110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A1A24"/>
                          </a:solidFill>
                          <a:latin typeface="Calibri" pitchFamily="34" charset="0"/>
                          <a:ea typeface="Calibri" pitchFamily="34" charset="-122"/>
                          <a:cs typeface="Calibri" pitchFamily="34" charset="-120"/>
                        </a:rPr>
                        <a:t>Bronze</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R8,000</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9"/>
                          </a:solidFill>
                          <a:latin typeface="Calibri" pitchFamily="34" charset="0"/>
                          <a:ea typeface="Calibri" pitchFamily="34" charset="-122"/>
                          <a:cs typeface="Calibri" pitchFamily="34" charset="-120"/>
                        </a:rPr>
                        <a:t>Programme logo, 1 standard ticket, a stage acknowledgement.</a:t>
                      </a:r>
                      <a:endParaRPr lang="en-US" sz="110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A1A24"/>
                          </a:solidFill>
                          <a:latin typeface="Calibri" pitchFamily="34" charset="0"/>
                          <a:ea typeface="Calibri" pitchFamily="34" charset="-122"/>
                          <a:cs typeface="Calibri" pitchFamily="34" charset="-120"/>
                        </a:rPr>
                        <a:t>In-kind / Supporting</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Contribution-based</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9"/>
                          </a:solidFill>
                          <a:latin typeface="Calibri" pitchFamily="34" charset="0"/>
                          <a:ea typeface="Calibri" pitchFamily="34" charset="-122"/>
                          <a:cs typeface="Calibri" pitchFamily="34" charset="-120"/>
                        </a:rPr>
                        <a:t>Acknowledged from the stage and in the programme.</a:t>
                      </a:r>
                      <a:endParaRPr lang="en-US" sz="1100" dirty="0">
                        <a:latin typeface="Calibri" charset="0"/>
                        <a:ea typeface="Calibri" charset="0"/>
                        <a:cs typeface="Calibri" charset="0"/>
                      </a:endParaRPr>
                    </a:p>
                  </a:txBody>
                  <a:tcPr marL="76200" marR="76200" marT="38100" marB="38100" anchor="ctr">
                    <a:lnL w="6350" cap="flat" cmpd="sng" algn="ctr">
                      <a:solidFill>
                        <a:srgbClr val="DFDACE"/>
                      </a:solidFill>
                      <a:prstDash val="solid"/>
                      <a:round/>
                      <a:headEnd type="none" w="med" len="med"/>
                      <a:tailEnd type="none" w="med" len="med"/>
                    </a:lnL>
                    <a:lnR w="6350" cap="flat" cmpd="sng" algn="ctr">
                      <a:solidFill>
                        <a:srgbClr val="DFDACE"/>
                      </a:solidFill>
                      <a:prstDash val="solid"/>
                      <a:round/>
                      <a:headEnd type="none" w="med" len="med"/>
                      <a:tailEnd type="none" w="med" len="med"/>
                    </a:lnR>
                    <a:lnT w="6350" cap="flat" cmpd="sng" algn="ctr">
                      <a:solidFill>
                        <a:srgbClr val="DFDACE"/>
                      </a:solidFill>
                      <a:prstDash val="solid"/>
                      <a:round/>
                      <a:headEnd type="none" w="med" len="med"/>
                      <a:tailEnd type="none" w="med" len="med"/>
                    </a:lnT>
                    <a:lnB w="6350" cap="flat" cmpd="sng" algn="ctr">
                      <a:solidFill>
                        <a:srgbClr val="DFDACE"/>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760720"/>
            <a:ext cx="10911535" cy="320040"/>
          </a:xfrm>
          <a:prstGeom prst="rect">
            <a:avLst/>
          </a:prstGeom>
          <a:noFill/>
          <a:ln/>
        </p:spPr>
        <p:txBody>
          <a:bodyPr wrap="square" rtlCol="0" anchor="ctr"/>
          <a:lstStyle/>
          <a:p>
            <a:pPr indent="0" marL="0">
              <a:buNone/>
            </a:pPr>
            <a:r>
              <a:rPr lang="en-US" sz="1100" i="1" dirty="0">
                <a:solidFill>
                  <a:srgbClr val="9A99A2"/>
                </a:solidFill>
                <a:latin typeface="Calibri" pitchFamily="34" charset="0"/>
                <a:ea typeface="Calibri" pitchFamily="34" charset="-122"/>
                <a:cs typeface="Calibri" pitchFamily="34" charset="-120"/>
              </a:rPr>
              <a:t>In-kind and supporting partners are welcome too, acknowledged from the stage and in the programme.</a:t>
            </a:r>
            <a:endParaRPr lang="en-US" sz="1100" dirty="0"/>
          </a:p>
        </p:txBody>
      </p:sp>
      <p:sp>
        <p:nvSpPr>
          <p:cNvPr id="7" name="Text 4"/>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8" name="Text 5"/>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THE PROPOSED ROLE-PLAYERS</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Who we would convene</a:t>
            </a:r>
            <a:endParaRPr lang="en-US" sz="3200" dirty="0"/>
          </a:p>
        </p:txBody>
      </p:sp>
      <p:sp>
        <p:nvSpPr>
          <p:cNvPr id="4" name="Shape 2"/>
          <p:cNvSpPr/>
          <p:nvPr/>
        </p:nvSpPr>
        <p:spPr>
          <a:xfrm>
            <a:off x="640080" y="1783080"/>
            <a:ext cx="5272888" cy="1783080"/>
          </a:xfrm>
          <a:prstGeom prst="rect">
            <a:avLst/>
          </a:prstGeom>
          <a:solidFill>
            <a:srgbClr val="F4F1EA"/>
          </a:solidFill>
          <a:ln/>
        </p:spPr>
      </p:sp>
      <p:sp>
        <p:nvSpPr>
          <p:cNvPr id="5" name="Text 3"/>
          <p:cNvSpPr/>
          <p:nvPr/>
        </p:nvSpPr>
        <p:spPr>
          <a:xfrm>
            <a:off x="868680" y="1965960"/>
            <a:ext cx="4815688" cy="548640"/>
          </a:xfrm>
          <a:prstGeom prst="rect">
            <a:avLst/>
          </a:prstGeom>
          <a:noFill/>
          <a:ln/>
        </p:spPr>
        <p:txBody>
          <a:bodyPr wrap="square" rtlCol="0" anchor="t"/>
          <a:lstStyle/>
          <a:p>
            <a:pPr indent="0" marL="0">
              <a:buNone/>
            </a:pPr>
            <a:r>
              <a:rPr lang="en-US" sz="1600" b="1" dirty="0">
                <a:solidFill>
                  <a:srgbClr val="1A1A24"/>
                </a:solidFill>
                <a:latin typeface="Cambria" pitchFamily="34" charset="0"/>
                <a:ea typeface="Cambria" pitchFamily="34" charset="-122"/>
                <a:cs typeface="Cambria" pitchFamily="34" charset="-120"/>
              </a:rPr>
              <a:t>Build Resilience (Pty) Ltd</a:t>
            </a:r>
            <a:endParaRPr lang="en-US" sz="1600" dirty="0"/>
          </a:p>
        </p:txBody>
      </p:sp>
      <p:sp>
        <p:nvSpPr>
          <p:cNvPr id="6" name="Text 4"/>
          <p:cNvSpPr/>
          <p:nvPr/>
        </p:nvSpPr>
        <p:spPr>
          <a:xfrm>
            <a:off x="868680" y="2514600"/>
            <a:ext cx="4815688" cy="914400"/>
          </a:xfrm>
          <a:prstGeom prst="rect">
            <a:avLst/>
          </a:prstGeom>
          <a:noFill/>
          <a:ln/>
        </p:spPr>
        <p:txBody>
          <a:bodyPr wrap="square" rtlCol="0" anchor="t"/>
          <a:lstStyle/>
          <a:p>
            <a:pPr indent="0" marL="0">
              <a:lnSpc>
                <a:spcPct val="112000"/>
              </a:lnSpc>
              <a:buNone/>
            </a:pPr>
            <a:r>
              <a:rPr lang="en-US" sz="1250" dirty="0">
                <a:solidFill>
                  <a:srgbClr val="222229"/>
                </a:solidFill>
                <a:latin typeface="Calibri" pitchFamily="34" charset="0"/>
                <a:ea typeface="Calibri" pitchFamily="34" charset="-122"/>
                <a:cs typeface="Calibri" pitchFamily="34" charset="-120"/>
              </a:rPr>
              <a:t>The Gauteng company producing the conference and the year-round content programme. Wholly owned by Kingdom Faith Worship Centre NPC (PBO status pending).</a:t>
            </a:r>
            <a:endParaRPr lang="en-US" sz="1250" dirty="0"/>
          </a:p>
        </p:txBody>
      </p:sp>
      <p:sp>
        <p:nvSpPr>
          <p:cNvPr id="7" name="Shape 5"/>
          <p:cNvSpPr/>
          <p:nvPr/>
        </p:nvSpPr>
        <p:spPr>
          <a:xfrm>
            <a:off x="6278728" y="1783080"/>
            <a:ext cx="5272888" cy="1783080"/>
          </a:xfrm>
          <a:prstGeom prst="rect">
            <a:avLst/>
          </a:prstGeom>
          <a:solidFill>
            <a:srgbClr val="F4F1EA"/>
          </a:solidFill>
          <a:ln/>
        </p:spPr>
      </p:sp>
      <p:sp>
        <p:nvSpPr>
          <p:cNvPr id="8" name="Text 6"/>
          <p:cNvSpPr/>
          <p:nvPr/>
        </p:nvSpPr>
        <p:spPr>
          <a:xfrm>
            <a:off x="6507328" y="1965960"/>
            <a:ext cx="4815688" cy="548640"/>
          </a:xfrm>
          <a:prstGeom prst="rect">
            <a:avLst/>
          </a:prstGeom>
          <a:noFill/>
          <a:ln/>
        </p:spPr>
        <p:txBody>
          <a:bodyPr wrap="square" rtlCol="0" anchor="t"/>
          <a:lstStyle/>
          <a:p>
            <a:pPr indent="0" marL="0">
              <a:buNone/>
            </a:pPr>
            <a:r>
              <a:rPr lang="en-US" sz="1600" b="1" dirty="0">
                <a:solidFill>
                  <a:srgbClr val="1A1A24"/>
                </a:solidFill>
                <a:latin typeface="Cambria" pitchFamily="34" charset="0"/>
                <a:ea typeface="Cambria" pitchFamily="34" charset="-122"/>
                <a:cs typeface="Cambria" pitchFamily="34" charset="-120"/>
              </a:rPr>
              <a:t>Tembisa Commerce &amp; Entrepreneurship SoS</a:t>
            </a:r>
            <a:endParaRPr lang="en-US" sz="1600" dirty="0"/>
          </a:p>
        </p:txBody>
      </p:sp>
      <p:sp>
        <p:nvSpPr>
          <p:cNvPr id="9" name="Text 7"/>
          <p:cNvSpPr/>
          <p:nvPr/>
        </p:nvSpPr>
        <p:spPr>
          <a:xfrm>
            <a:off x="6507328" y="2514600"/>
            <a:ext cx="4815688" cy="914400"/>
          </a:xfrm>
          <a:prstGeom prst="rect">
            <a:avLst/>
          </a:prstGeom>
          <a:noFill/>
          <a:ln/>
        </p:spPr>
        <p:txBody>
          <a:bodyPr wrap="square" rtlCol="0" anchor="t"/>
          <a:lstStyle/>
          <a:p>
            <a:pPr indent="0" marL="0">
              <a:lnSpc>
                <a:spcPct val="112000"/>
              </a:lnSpc>
              <a:buNone/>
            </a:pPr>
            <a:r>
              <a:rPr lang="en-US" sz="1250" dirty="0">
                <a:solidFill>
                  <a:srgbClr val="222229"/>
                </a:solidFill>
                <a:latin typeface="Calibri" pitchFamily="34" charset="0"/>
                <a:ea typeface="Calibri" pitchFamily="34" charset="-122"/>
                <a:cs typeface="Calibri" pitchFamily="34" charset="-120"/>
              </a:rPr>
              <a:t>Ekurhuleni’s first entrepreneurship-focused School of Specialisation, teaching commerce, finance, hospitality and tourism through venture-based facilities.</a:t>
            </a:r>
            <a:endParaRPr lang="en-US" sz="1250" dirty="0"/>
          </a:p>
        </p:txBody>
      </p:sp>
      <p:sp>
        <p:nvSpPr>
          <p:cNvPr id="10" name="Shape 8"/>
          <p:cNvSpPr/>
          <p:nvPr/>
        </p:nvSpPr>
        <p:spPr>
          <a:xfrm>
            <a:off x="640080" y="3840480"/>
            <a:ext cx="5272888" cy="1783080"/>
          </a:xfrm>
          <a:prstGeom prst="rect">
            <a:avLst/>
          </a:prstGeom>
          <a:solidFill>
            <a:srgbClr val="F4F1EA"/>
          </a:solidFill>
          <a:ln/>
        </p:spPr>
      </p:sp>
      <p:sp>
        <p:nvSpPr>
          <p:cNvPr id="11" name="Text 9"/>
          <p:cNvSpPr/>
          <p:nvPr/>
        </p:nvSpPr>
        <p:spPr>
          <a:xfrm>
            <a:off x="868680" y="4023360"/>
            <a:ext cx="4815688" cy="548640"/>
          </a:xfrm>
          <a:prstGeom prst="rect">
            <a:avLst/>
          </a:prstGeom>
          <a:noFill/>
          <a:ln/>
        </p:spPr>
        <p:txBody>
          <a:bodyPr wrap="square" rtlCol="0" anchor="t"/>
          <a:lstStyle/>
          <a:p>
            <a:pPr indent="0" marL="0">
              <a:buNone/>
            </a:pPr>
            <a:r>
              <a:rPr lang="en-US" sz="1600" b="1" dirty="0">
                <a:solidFill>
                  <a:srgbClr val="1A1A24"/>
                </a:solidFill>
                <a:latin typeface="Cambria" pitchFamily="34" charset="0"/>
                <a:ea typeface="Cambria" pitchFamily="34" charset="-122"/>
                <a:cs typeface="Cambria" pitchFamily="34" charset="-120"/>
              </a:rPr>
              <a:t>Oosrand Commerce &amp; Entrepreneurship SoS</a:t>
            </a:r>
            <a:endParaRPr lang="en-US" sz="1600" dirty="0"/>
          </a:p>
        </p:txBody>
      </p:sp>
      <p:sp>
        <p:nvSpPr>
          <p:cNvPr id="12" name="Text 10"/>
          <p:cNvSpPr/>
          <p:nvPr/>
        </p:nvSpPr>
        <p:spPr>
          <a:xfrm>
            <a:off x="868680" y="4572000"/>
            <a:ext cx="4815688" cy="914400"/>
          </a:xfrm>
          <a:prstGeom prst="rect">
            <a:avLst/>
          </a:prstGeom>
          <a:noFill/>
          <a:ln/>
        </p:spPr>
        <p:txBody>
          <a:bodyPr wrap="square" rtlCol="0" anchor="t"/>
          <a:lstStyle/>
          <a:p>
            <a:pPr indent="0" marL="0">
              <a:lnSpc>
                <a:spcPct val="112000"/>
              </a:lnSpc>
              <a:buNone/>
            </a:pPr>
            <a:r>
              <a:rPr lang="en-US" sz="1250" dirty="0">
                <a:solidFill>
                  <a:srgbClr val="222229"/>
                </a:solidFill>
                <a:latin typeface="Calibri" pitchFamily="34" charset="0"/>
                <a:ea typeface="Calibri" pitchFamily="34" charset="-122"/>
                <a:cs typeface="Calibri" pitchFamily="34" charset="-120"/>
              </a:rPr>
              <a:t>Launched 2023 in Reiger Park, Boksburg. Finance, tourism, hospitality and entrepreneurship, with learners running real ventures on the premises.</a:t>
            </a:r>
            <a:endParaRPr lang="en-US" sz="1250" dirty="0"/>
          </a:p>
        </p:txBody>
      </p:sp>
      <p:sp>
        <p:nvSpPr>
          <p:cNvPr id="13" name="Shape 11"/>
          <p:cNvSpPr/>
          <p:nvPr/>
        </p:nvSpPr>
        <p:spPr>
          <a:xfrm>
            <a:off x="6278728" y="3840480"/>
            <a:ext cx="5272888" cy="1783080"/>
          </a:xfrm>
          <a:prstGeom prst="rect">
            <a:avLst/>
          </a:prstGeom>
          <a:solidFill>
            <a:srgbClr val="F4F1EA"/>
          </a:solidFill>
          <a:ln/>
        </p:spPr>
      </p:sp>
      <p:sp>
        <p:nvSpPr>
          <p:cNvPr id="14" name="Text 12"/>
          <p:cNvSpPr/>
          <p:nvPr/>
        </p:nvSpPr>
        <p:spPr>
          <a:xfrm>
            <a:off x="6507328" y="4023360"/>
            <a:ext cx="4815688" cy="548640"/>
          </a:xfrm>
          <a:prstGeom prst="rect">
            <a:avLst/>
          </a:prstGeom>
          <a:noFill/>
          <a:ln/>
        </p:spPr>
        <p:txBody>
          <a:bodyPr wrap="square" rtlCol="0" anchor="t"/>
          <a:lstStyle/>
          <a:p>
            <a:pPr indent="0" marL="0">
              <a:buNone/>
            </a:pPr>
            <a:r>
              <a:rPr lang="en-US" sz="1600" b="1" dirty="0">
                <a:solidFill>
                  <a:srgbClr val="1A1A24"/>
                </a:solidFill>
                <a:latin typeface="Cambria" pitchFamily="34" charset="0"/>
                <a:ea typeface="Cambria" pitchFamily="34" charset="-122"/>
                <a:cs typeface="Cambria" pitchFamily="34" charset="-120"/>
              </a:rPr>
              <a:t>Gauteng Department of Education</a:t>
            </a:r>
            <a:endParaRPr lang="en-US" sz="1600" dirty="0"/>
          </a:p>
        </p:txBody>
      </p:sp>
      <p:sp>
        <p:nvSpPr>
          <p:cNvPr id="15" name="Text 13"/>
          <p:cNvSpPr/>
          <p:nvPr/>
        </p:nvSpPr>
        <p:spPr>
          <a:xfrm>
            <a:off x="6507328" y="4572000"/>
            <a:ext cx="4815688" cy="914400"/>
          </a:xfrm>
          <a:prstGeom prst="rect">
            <a:avLst/>
          </a:prstGeom>
          <a:noFill/>
          <a:ln/>
        </p:spPr>
        <p:txBody>
          <a:bodyPr wrap="square" rtlCol="0" anchor="t"/>
          <a:lstStyle/>
          <a:p>
            <a:pPr indent="0" marL="0">
              <a:lnSpc>
                <a:spcPct val="112000"/>
              </a:lnSpc>
              <a:buNone/>
            </a:pPr>
            <a:r>
              <a:rPr lang="en-US" sz="1250" dirty="0">
                <a:solidFill>
                  <a:srgbClr val="222229"/>
                </a:solidFill>
                <a:latin typeface="Calibri" pitchFamily="34" charset="0"/>
                <a:ea typeface="Calibri" pitchFamily="34" charset="-122"/>
                <a:cs typeface="Calibri" pitchFamily="34" charset="-120"/>
              </a:rPr>
              <a:t>The provincial partner behind the Schools of Specialisation, and our proposed partner for selecting and hosting the matriculants.</a:t>
            </a:r>
            <a:endParaRPr lang="en-US" sz="1250" dirty="0"/>
          </a:p>
        </p:txBody>
      </p:sp>
      <p:sp>
        <p:nvSpPr>
          <p:cNvPr id="16" name="Text 14"/>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7" name="Text 15"/>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rtlCol="0" anchor="ctr"/>
          <a:lstStyle/>
          <a:p>
            <a:pPr algn="l" indent="0" marL="0">
              <a:buNone/>
            </a:pPr>
            <a:r>
              <a:rPr lang="en-US" sz="1200" b="1" spc="300" kern="0" dirty="0">
                <a:solidFill>
                  <a:srgbClr val="C9922A"/>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40080" y="841248"/>
            <a:ext cx="10911535" cy="731520"/>
          </a:xfrm>
          <a:prstGeom prst="rect">
            <a:avLst/>
          </a:prstGeom>
          <a:noFill/>
          <a:ln/>
        </p:spPr>
        <p:txBody>
          <a:bodyPr wrap="square" rtlCol="0" anchor="ctr"/>
          <a:lstStyle/>
          <a:p>
            <a:pPr algn="l" indent="0" marL="0">
              <a:buNone/>
            </a:pPr>
            <a:r>
              <a:rPr lang="en-US" sz="3200" b="1" dirty="0">
                <a:solidFill>
                  <a:srgbClr val="1A1A24"/>
                </a:solidFill>
                <a:latin typeface="Cambria" pitchFamily="34" charset="0"/>
                <a:ea typeface="Cambria" pitchFamily="34" charset="-122"/>
                <a:cs typeface="Cambria" pitchFamily="34" charset="-120"/>
              </a:rPr>
              <a:t>How we take this forward</a:t>
            </a:r>
            <a:endParaRPr lang="en-US" sz="3200" dirty="0"/>
          </a:p>
        </p:txBody>
      </p:sp>
      <p:sp>
        <p:nvSpPr>
          <p:cNvPr id="4" name="Text 2"/>
          <p:cNvSpPr/>
          <p:nvPr/>
        </p:nvSpPr>
        <p:spPr>
          <a:xfrm>
            <a:off x="640080" y="1783080"/>
            <a:ext cx="548640" cy="548640"/>
          </a:xfrm>
          <a:prstGeom prst="rect">
            <a:avLst/>
          </a:prstGeom>
          <a:noFill/>
          <a:ln/>
        </p:spPr>
        <p:txBody>
          <a:bodyPr wrap="square" rtlCol="0" anchor="t"/>
          <a:lstStyle/>
          <a:p>
            <a:pPr indent="0" marL="0">
              <a:buNone/>
            </a:pPr>
            <a:r>
              <a:rPr lang="en-US" sz="2400" b="1" dirty="0">
                <a:solidFill>
                  <a:srgbClr val="C9922A"/>
                </a:solidFill>
                <a:latin typeface="Cambria" pitchFamily="34" charset="0"/>
                <a:ea typeface="Cambria" pitchFamily="34" charset="-122"/>
                <a:cs typeface="Cambria" pitchFamily="34" charset="-120"/>
              </a:rPr>
              <a:t>1</a:t>
            </a:r>
            <a:endParaRPr lang="en-US" sz="2400" dirty="0"/>
          </a:p>
        </p:txBody>
      </p:sp>
      <p:sp>
        <p:nvSpPr>
          <p:cNvPr id="5" name="Text 3"/>
          <p:cNvSpPr/>
          <p:nvPr/>
        </p:nvSpPr>
        <p:spPr>
          <a:xfrm>
            <a:off x="1325880" y="1810512"/>
            <a:ext cx="10225735" cy="548640"/>
          </a:xfrm>
          <a:prstGeom prst="rect">
            <a:avLst/>
          </a:prstGeom>
          <a:noFill/>
          <a:ln/>
        </p:spPr>
        <p:txBody>
          <a:bodyPr wrap="square" rtlCol="0" anchor="t"/>
          <a:lstStyle/>
          <a:p>
            <a:pPr indent="0" marL="0">
              <a:lnSpc>
                <a:spcPct val="110000"/>
              </a:lnSpc>
              <a:buNone/>
            </a:pPr>
            <a:r>
              <a:rPr lang="en-US" sz="1500" dirty="0">
                <a:solidFill>
                  <a:srgbClr val="222229"/>
                </a:solidFill>
                <a:latin typeface="Calibri" pitchFamily="34" charset="0"/>
                <a:ea typeface="Calibri" pitchFamily="34" charset="-122"/>
                <a:cs typeface="Calibri" pitchFamily="34" charset="-120"/>
              </a:rPr>
              <a:t>A first conversation to walk Nedbank through the Gold sponsorship.</a:t>
            </a:r>
            <a:endParaRPr lang="en-US" sz="1500" dirty="0"/>
          </a:p>
        </p:txBody>
      </p:sp>
      <p:sp>
        <p:nvSpPr>
          <p:cNvPr id="6" name="Text 4"/>
          <p:cNvSpPr/>
          <p:nvPr/>
        </p:nvSpPr>
        <p:spPr>
          <a:xfrm>
            <a:off x="640080" y="2468880"/>
            <a:ext cx="548640" cy="548640"/>
          </a:xfrm>
          <a:prstGeom prst="rect">
            <a:avLst/>
          </a:prstGeom>
          <a:noFill/>
          <a:ln/>
        </p:spPr>
        <p:txBody>
          <a:bodyPr wrap="square" rtlCol="0" anchor="t"/>
          <a:lstStyle/>
          <a:p>
            <a:pPr indent="0" marL="0">
              <a:buNone/>
            </a:pPr>
            <a:r>
              <a:rPr lang="en-US" sz="2400" b="1" dirty="0">
                <a:solidFill>
                  <a:srgbClr val="C9922A"/>
                </a:solidFill>
                <a:latin typeface="Cambria" pitchFamily="34" charset="0"/>
                <a:ea typeface="Cambria" pitchFamily="34" charset="-122"/>
                <a:cs typeface="Cambria" pitchFamily="34" charset="-120"/>
              </a:rPr>
              <a:t>2</a:t>
            </a:r>
            <a:endParaRPr lang="en-US" sz="2400" dirty="0"/>
          </a:p>
        </p:txBody>
      </p:sp>
      <p:sp>
        <p:nvSpPr>
          <p:cNvPr id="7" name="Text 5"/>
          <p:cNvSpPr/>
          <p:nvPr/>
        </p:nvSpPr>
        <p:spPr>
          <a:xfrm>
            <a:off x="1325880" y="2496312"/>
            <a:ext cx="10225735" cy="548640"/>
          </a:xfrm>
          <a:prstGeom prst="rect">
            <a:avLst/>
          </a:prstGeom>
          <a:noFill/>
          <a:ln/>
        </p:spPr>
        <p:txBody>
          <a:bodyPr wrap="square" rtlCol="0" anchor="t"/>
          <a:lstStyle/>
          <a:p>
            <a:pPr indent="0" marL="0">
              <a:lnSpc>
                <a:spcPct val="110000"/>
              </a:lnSpc>
              <a:buNone/>
            </a:pPr>
            <a:r>
              <a:rPr lang="en-US" sz="1500" dirty="0">
                <a:solidFill>
                  <a:srgbClr val="222229"/>
                </a:solidFill>
                <a:latin typeface="Calibri" pitchFamily="34" charset="0"/>
                <a:ea typeface="Calibri" pitchFamily="34" charset="-122"/>
                <a:cs typeface="Calibri" pitchFamily="34" charset="-120"/>
              </a:rPr>
              <a:t>Nedbank confirms the sponsorship and the tier.</a:t>
            </a:r>
            <a:endParaRPr lang="en-US" sz="1500" dirty="0"/>
          </a:p>
        </p:txBody>
      </p:sp>
      <p:sp>
        <p:nvSpPr>
          <p:cNvPr id="8" name="Text 6"/>
          <p:cNvSpPr/>
          <p:nvPr/>
        </p:nvSpPr>
        <p:spPr>
          <a:xfrm>
            <a:off x="640080" y="3154680"/>
            <a:ext cx="548640" cy="548640"/>
          </a:xfrm>
          <a:prstGeom prst="rect">
            <a:avLst/>
          </a:prstGeom>
          <a:noFill/>
          <a:ln/>
        </p:spPr>
        <p:txBody>
          <a:bodyPr wrap="square" rtlCol="0" anchor="t"/>
          <a:lstStyle/>
          <a:p>
            <a:pPr indent="0" marL="0">
              <a:buNone/>
            </a:pPr>
            <a:r>
              <a:rPr lang="en-US" sz="2400" b="1" dirty="0">
                <a:solidFill>
                  <a:srgbClr val="C9922A"/>
                </a:solidFill>
                <a:latin typeface="Cambria" pitchFamily="34" charset="0"/>
                <a:ea typeface="Cambria" pitchFamily="34" charset="-122"/>
                <a:cs typeface="Cambria" pitchFamily="34" charset="-120"/>
              </a:rPr>
              <a:t>3</a:t>
            </a:r>
            <a:endParaRPr lang="en-US" sz="2400" dirty="0"/>
          </a:p>
        </p:txBody>
      </p:sp>
      <p:sp>
        <p:nvSpPr>
          <p:cNvPr id="9" name="Text 7"/>
          <p:cNvSpPr/>
          <p:nvPr/>
        </p:nvSpPr>
        <p:spPr>
          <a:xfrm>
            <a:off x="1325880" y="3182112"/>
            <a:ext cx="10225735" cy="548640"/>
          </a:xfrm>
          <a:prstGeom prst="rect">
            <a:avLst/>
          </a:prstGeom>
          <a:noFill/>
          <a:ln/>
        </p:spPr>
        <p:txBody>
          <a:bodyPr wrap="square" rtlCol="0" anchor="t"/>
          <a:lstStyle/>
          <a:p>
            <a:pPr indent="0" marL="0">
              <a:lnSpc>
                <a:spcPct val="110000"/>
              </a:lnSpc>
              <a:buNone/>
            </a:pPr>
            <a:r>
              <a:rPr lang="en-US" sz="1500" dirty="0">
                <a:solidFill>
                  <a:srgbClr val="222229"/>
                </a:solidFill>
                <a:latin typeface="Calibri" pitchFamily="34" charset="0"/>
                <a:ea typeface="Calibri" pitchFamily="34" charset="-122"/>
                <a:cs typeface="Calibri" pitchFamily="34" charset="-120"/>
              </a:rPr>
              <a:t>We plan the stall so your business banking and SimplyBiz teams get the most from the day.</a:t>
            </a:r>
            <a:endParaRPr lang="en-US" sz="1500" dirty="0"/>
          </a:p>
        </p:txBody>
      </p:sp>
      <p:sp>
        <p:nvSpPr>
          <p:cNvPr id="10" name="Text 8"/>
          <p:cNvSpPr/>
          <p:nvPr/>
        </p:nvSpPr>
        <p:spPr>
          <a:xfrm>
            <a:off x="640080" y="3840480"/>
            <a:ext cx="548640" cy="548640"/>
          </a:xfrm>
          <a:prstGeom prst="rect">
            <a:avLst/>
          </a:prstGeom>
          <a:noFill/>
          <a:ln/>
        </p:spPr>
        <p:txBody>
          <a:bodyPr wrap="square" rtlCol="0" anchor="t"/>
          <a:lstStyle/>
          <a:p>
            <a:pPr indent="0" marL="0">
              <a:buNone/>
            </a:pPr>
            <a:r>
              <a:rPr lang="en-US" sz="2400" b="1" dirty="0">
                <a:solidFill>
                  <a:srgbClr val="C9922A"/>
                </a:solidFill>
                <a:latin typeface="Cambria" pitchFamily="34" charset="0"/>
                <a:ea typeface="Cambria" pitchFamily="34" charset="-122"/>
                <a:cs typeface="Cambria" pitchFamily="34" charset="-120"/>
              </a:rPr>
              <a:t>4</a:t>
            </a:r>
            <a:endParaRPr lang="en-US" sz="2400" dirty="0"/>
          </a:p>
        </p:txBody>
      </p:sp>
      <p:sp>
        <p:nvSpPr>
          <p:cNvPr id="11" name="Text 9"/>
          <p:cNvSpPr/>
          <p:nvPr/>
        </p:nvSpPr>
        <p:spPr>
          <a:xfrm>
            <a:off x="1325880" y="3867912"/>
            <a:ext cx="10225735" cy="548640"/>
          </a:xfrm>
          <a:prstGeom prst="rect">
            <a:avLst/>
          </a:prstGeom>
          <a:noFill/>
          <a:ln/>
        </p:spPr>
        <p:txBody>
          <a:bodyPr wrap="square" rtlCol="0" anchor="t"/>
          <a:lstStyle/>
          <a:p>
            <a:pPr indent="0" marL="0">
              <a:lnSpc>
                <a:spcPct val="110000"/>
              </a:lnSpc>
              <a:buNone/>
            </a:pPr>
            <a:r>
              <a:rPr lang="en-US" sz="1500" dirty="0">
                <a:solidFill>
                  <a:srgbClr val="222229"/>
                </a:solidFill>
                <a:latin typeface="Calibri" pitchFamily="34" charset="0"/>
                <a:ea typeface="Calibri" pitchFamily="34" charset="-122"/>
                <a:cs typeface="Calibri" pitchFamily="34" charset="-120"/>
              </a:rPr>
              <a:t>We shape the matriculant hosting with the GDE and the two schools.</a:t>
            </a:r>
            <a:endParaRPr lang="en-US" sz="1500" dirty="0"/>
          </a:p>
        </p:txBody>
      </p:sp>
      <p:sp>
        <p:nvSpPr>
          <p:cNvPr id="12" name="Text 10"/>
          <p:cNvSpPr/>
          <p:nvPr/>
        </p:nvSpPr>
        <p:spPr>
          <a:xfrm>
            <a:off x="640080" y="4526280"/>
            <a:ext cx="548640" cy="548640"/>
          </a:xfrm>
          <a:prstGeom prst="rect">
            <a:avLst/>
          </a:prstGeom>
          <a:noFill/>
          <a:ln/>
        </p:spPr>
        <p:txBody>
          <a:bodyPr wrap="square" rtlCol="0" anchor="t"/>
          <a:lstStyle/>
          <a:p>
            <a:pPr indent="0" marL="0">
              <a:buNone/>
            </a:pPr>
            <a:r>
              <a:rPr lang="en-US" sz="2400" b="1" dirty="0">
                <a:solidFill>
                  <a:srgbClr val="C9922A"/>
                </a:solidFill>
                <a:latin typeface="Cambria" pitchFamily="34" charset="0"/>
                <a:ea typeface="Cambria" pitchFamily="34" charset="-122"/>
                <a:cs typeface="Cambria" pitchFamily="34" charset="-120"/>
              </a:rPr>
              <a:t>5</a:t>
            </a:r>
            <a:endParaRPr lang="en-US" sz="2400" dirty="0"/>
          </a:p>
        </p:txBody>
      </p:sp>
      <p:sp>
        <p:nvSpPr>
          <p:cNvPr id="13" name="Text 11"/>
          <p:cNvSpPr/>
          <p:nvPr/>
        </p:nvSpPr>
        <p:spPr>
          <a:xfrm>
            <a:off x="1325880" y="4553712"/>
            <a:ext cx="10225735" cy="548640"/>
          </a:xfrm>
          <a:prstGeom prst="rect">
            <a:avLst/>
          </a:prstGeom>
          <a:noFill/>
          <a:ln/>
        </p:spPr>
        <p:txBody>
          <a:bodyPr wrap="square" rtlCol="0" anchor="t"/>
          <a:lstStyle/>
          <a:p>
            <a:pPr indent="0" marL="0">
              <a:lnSpc>
                <a:spcPct val="110000"/>
              </a:lnSpc>
              <a:buNone/>
            </a:pPr>
            <a:r>
              <a:rPr lang="en-US" sz="1500" dirty="0">
                <a:solidFill>
                  <a:srgbClr val="222229"/>
                </a:solidFill>
                <a:latin typeface="Calibri" pitchFamily="34" charset="0"/>
                <a:ea typeface="Calibri" pitchFamily="34" charset="-122"/>
                <a:cs typeface="Calibri" pitchFamily="34" charset="-120"/>
              </a:rPr>
              <a:t>We settle the detail in a simple sponsorship agreement.</a:t>
            </a:r>
            <a:endParaRPr lang="en-US" sz="1500" dirty="0"/>
          </a:p>
        </p:txBody>
      </p:sp>
      <p:sp>
        <p:nvSpPr>
          <p:cNvPr id="14" name="Text 12"/>
          <p:cNvSpPr/>
          <p:nvPr/>
        </p:nvSpPr>
        <p:spPr>
          <a:xfrm>
            <a:off x="640080" y="5212080"/>
            <a:ext cx="548640" cy="548640"/>
          </a:xfrm>
          <a:prstGeom prst="rect">
            <a:avLst/>
          </a:prstGeom>
          <a:noFill/>
          <a:ln/>
        </p:spPr>
        <p:txBody>
          <a:bodyPr wrap="square" rtlCol="0" anchor="t"/>
          <a:lstStyle/>
          <a:p>
            <a:pPr indent="0" marL="0">
              <a:buNone/>
            </a:pPr>
            <a:r>
              <a:rPr lang="en-US" sz="2400" b="1" dirty="0">
                <a:solidFill>
                  <a:srgbClr val="C9922A"/>
                </a:solidFill>
                <a:latin typeface="Cambria" pitchFamily="34" charset="0"/>
                <a:ea typeface="Cambria" pitchFamily="34" charset="-122"/>
                <a:cs typeface="Cambria" pitchFamily="34" charset="-120"/>
              </a:rPr>
              <a:t>6</a:t>
            </a:r>
            <a:endParaRPr lang="en-US" sz="2400" dirty="0"/>
          </a:p>
        </p:txBody>
      </p:sp>
      <p:sp>
        <p:nvSpPr>
          <p:cNvPr id="15" name="Text 13"/>
          <p:cNvSpPr/>
          <p:nvPr/>
        </p:nvSpPr>
        <p:spPr>
          <a:xfrm>
            <a:off x="1325880" y="5239512"/>
            <a:ext cx="10225735" cy="548640"/>
          </a:xfrm>
          <a:prstGeom prst="rect">
            <a:avLst/>
          </a:prstGeom>
          <a:noFill/>
          <a:ln/>
        </p:spPr>
        <p:txBody>
          <a:bodyPr wrap="square" rtlCol="0" anchor="t"/>
          <a:lstStyle/>
          <a:p>
            <a:pPr indent="0" marL="0">
              <a:lnSpc>
                <a:spcPct val="110000"/>
              </a:lnSpc>
              <a:buNone/>
            </a:pPr>
            <a:r>
              <a:rPr lang="en-US" sz="1500" dirty="0">
                <a:solidFill>
                  <a:srgbClr val="222229"/>
                </a:solidFill>
                <a:latin typeface="Calibri" pitchFamily="34" charset="0"/>
                <a:ea typeface="Calibri" pitchFamily="34" charset="-122"/>
                <a:cs typeface="Calibri" pitchFamily="34" charset="-120"/>
              </a:rPr>
              <a:t>Benefits activate. Nedbank branding goes live across the pre-event series straight away.</a:t>
            </a:r>
            <a:endParaRPr lang="en-US" sz="1500" dirty="0"/>
          </a:p>
        </p:txBody>
      </p:sp>
      <p:sp>
        <p:nvSpPr>
          <p:cNvPr id="16" name="Text 14"/>
          <p:cNvSpPr/>
          <p:nvPr/>
        </p:nvSpPr>
        <p:spPr>
          <a:xfrm>
            <a:off x="640080" y="6400800"/>
            <a:ext cx="8686800" cy="274320"/>
          </a:xfrm>
          <a:prstGeom prst="rect">
            <a:avLst/>
          </a:prstGeom>
          <a:noFill/>
          <a:ln/>
        </p:spPr>
        <p:txBody>
          <a:bodyPr wrap="square" rtlCol="0" anchor="ctr"/>
          <a:lstStyle/>
          <a:p>
            <a:pPr algn="l" indent="0" marL="0">
              <a:buNone/>
            </a:pPr>
            <a:r>
              <a:rPr lang="en-US" sz="900" dirty="0">
                <a:solidFill>
                  <a:srgbClr val="9A99A2"/>
                </a:solidFill>
                <a:latin typeface="Calibri" pitchFamily="34" charset="0"/>
                <a:ea typeface="Calibri" pitchFamily="34" charset="-122"/>
                <a:cs typeface="Calibri" pitchFamily="34" charset="-120"/>
              </a:rPr>
              <a:t>Building Resilience Annual Conference 2026</a:t>
            </a:r>
            <a:pPr algn="l" indent="0" marL="0">
              <a:buNone/>
            </a:pPr>
            <a:r>
              <a:rPr lang="en-US" sz="900" dirty="0">
                <a:solidFill>
                  <a:srgbClr val="9A99A2"/>
                </a:solidFill>
                <a:latin typeface="Calibri" pitchFamily="34" charset="0"/>
                <a:ea typeface="Calibri" pitchFamily="34" charset="-122"/>
                <a:cs typeface="Calibri" pitchFamily="34" charset="-120"/>
              </a:rPr>
              <a:t>     ·     Gold sponsorship, prepared for Nedbank Business</a:t>
            </a:r>
            <a:endParaRPr lang="en-US" sz="900" dirty="0"/>
          </a:p>
        </p:txBody>
      </p:sp>
      <p:sp>
        <p:nvSpPr>
          <p:cNvPr id="17" name="Text 15"/>
          <p:cNvSpPr/>
          <p:nvPr/>
        </p:nvSpPr>
        <p:spPr>
          <a:xfrm>
            <a:off x="11185855" y="6400800"/>
            <a:ext cx="457200" cy="274320"/>
          </a:xfrm>
          <a:prstGeom prst="rect">
            <a:avLst/>
          </a:prstGeom>
          <a:noFill/>
          <a:ln/>
        </p:spPr>
        <p:txBody>
          <a:bodyPr wrap="square" rtlCol="0" anchor="ctr"/>
          <a:lstStyle/>
          <a:p>
            <a:pPr algn="r" indent="0" marL="0">
              <a:buNone/>
            </a:pPr>
            <a:r>
              <a:rPr lang="en-US" sz="900" dirty="0">
                <a:solidFill>
                  <a:srgbClr val="9A99A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640080" y="1828800"/>
            <a:ext cx="10058400" cy="457200"/>
          </a:xfrm>
          <a:prstGeom prst="rect">
            <a:avLst/>
          </a:prstGeom>
          <a:noFill/>
          <a:ln/>
        </p:spPr>
        <p:txBody>
          <a:bodyPr wrap="square" rtlCol="0" anchor="ctr"/>
          <a:lstStyle/>
          <a:p>
            <a:pPr indent="0" marL="0">
              <a:buNone/>
            </a:pPr>
            <a:r>
              <a:rPr lang="en-US" sz="1600" b="1" spc="600" kern="0" dirty="0">
                <a:solidFill>
                  <a:srgbClr val="C9922A"/>
                </a:solidFill>
                <a:latin typeface="Calibri" pitchFamily="34" charset="0"/>
                <a:ea typeface="Calibri" pitchFamily="34" charset="-122"/>
                <a:cs typeface="Calibri" pitchFamily="34" charset="-120"/>
              </a:rPr>
              <a:t>LET’S BUILD IT</a:t>
            </a:r>
            <a:endParaRPr lang="en-US" sz="1600" dirty="0"/>
          </a:p>
        </p:txBody>
      </p:sp>
      <p:sp>
        <p:nvSpPr>
          <p:cNvPr id="3" name="Text 1"/>
          <p:cNvSpPr/>
          <p:nvPr/>
        </p:nvSpPr>
        <p:spPr>
          <a:xfrm>
            <a:off x="640080" y="2286000"/>
            <a:ext cx="10058400" cy="914400"/>
          </a:xfrm>
          <a:prstGeom prst="rect">
            <a:avLst/>
          </a:prstGeom>
          <a:noFill/>
          <a:ln/>
        </p:spPr>
        <p:txBody>
          <a:bodyPr wrap="square" rtlCol="0" anchor="ctr"/>
          <a:lstStyle/>
          <a:p>
            <a:pPr indent="0" marL="0">
              <a:buNone/>
            </a:pPr>
            <a:r>
              <a:rPr lang="en-US" sz="4000" b="1" i="1" dirty="0">
                <a:solidFill>
                  <a:srgbClr val="FFFFFF"/>
                </a:solidFill>
                <a:latin typeface="Cambria" pitchFamily="34" charset="0"/>
                <a:ea typeface="Cambria" pitchFamily="34" charset="-122"/>
                <a:cs typeface="Cambria" pitchFamily="34" charset="-120"/>
              </a:rPr>
              <a:t>“Resilience is built, not born.”</a:t>
            </a:r>
            <a:endParaRPr lang="en-US" sz="4000" dirty="0"/>
          </a:p>
        </p:txBody>
      </p:sp>
      <p:sp>
        <p:nvSpPr>
          <p:cNvPr id="4" name="Text 2"/>
          <p:cNvSpPr/>
          <p:nvPr/>
        </p:nvSpPr>
        <p:spPr>
          <a:xfrm>
            <a:off x="640080" y="3566160"/>
            <a:ext cx="10058400" cy="41148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Sifiso Sibuyane</a:t>
            </a:r>
            <a:endParaRPr lang="en-US" sz="2200" dirty="0"/>
          </a:p>
        </p:txBody>
      </p:sp>
      <p:sp>
        <p:nvSpPr>
          <p:cNvPr id="5" name="Text 3"/>
          <p:cNvSpPr/>
          <p:nvPr/>
        </p:nvSpPr>
        <p:spPr>
          <a:xfrm>
            <a:off x="640080" y="3977640"/>
            <a:ext cx="10058400" cy="365760"/>
          </a:xfrm>
          <a:prstGeom prst="rect">
            <a:avLst/>
          </a:prstGeom>
          <a:noFill/>
          <a:ln/>
        </p:spPr>
        <p:txBody>
          <a:bodyPr wrap="square" rtlCol="0" anchor="ctr"/>
          <a:lstStyle/>
          <a:p>
            <a:pPr indent="0" marL="0">
              <a:buNone/>
            </a:pPr>
            <a:r>
              <a:rPr lang="en-US" sz="1500" dirty="0">
                <a:solidFill>
                  <a:srgbClr val="EDEBE4"/>
                </a:solidFill>
                <a:latin typeface="Calibri" pitchFamily="34" charset="0"/>
                <a:ea typeface="Calibri" pitchFamily="34" charset="-122"/>
                <a:cs typeface="Calibri" pitchFamily="34" charset="-120"/>
              </a:rPr>
              <a:t>Build Resilience (Pty) Ltd</a:t>
            </a:r>
            <a:endParaRPr lang="en-US" sz="1500" dirty="0"/>
          </a:p>
        </p:txBody>
      </p:sp>
      <p:sp>
        <p:nvSpPr>
          <p:cNvPr id="6" name="Text 4"/>
          <p:cNvSpPr/>
          <p:nvPr/>
        </p:nvSpPr>
        <p:spPr>
          <a:xfrm>
            <a:off x="640080" y="4526280"/>
            <a:ext cx="10058400" cy="365760"/>
          </a:xfrm>
          <a:prstGeom prst="rect">
            <a:avLst/>
          </a:prstGeom>
          <a:noFill/>
          <a:ln/>
        </p:spPr>
        <p:txBody>
          <a:bodyPr wrap="square" rtlCol="0" anchor="ctr"/>
          <a:lstStyle/>
          <a:p>
            <a:pPr indent="0" marL="0">
              <a:buNone/>
            </a:pPr>
            <a:r>
              <a:rPr lang="en-US" sz="1400" dirty="0">
                <a:solidFill>
                  <a:srgbClr val="EDEBE4"/>
                </a:solidFill>
                <a:latin typeface="Calibri" pitchFamily="34" charset="0"/>
                <a:ea typeface="Calibri" pitchFamily="34" charset="-122"/>
                <a:cs typeface="Calibri" pitchFamily="34" charset="-120"/>
              </a:rPr>
              <a:t>info@buildresilience.co.za    ·    078 044 3373</a:t>
            </a:r>
            <a:endParaRPr lang="en-US" sz="1400" dirty="0"/>
          </a:p>
        </p:txBody>
      </p:sp>
      <p:sp>
        <p:nvSpPr>
          <p:cNvPr id="7" name="Text 5"/>
          <p:cNvSpPr/>
          <p:nvPr/>
        </p:nvSpPr>
        <p:spPr>
          <a:xfrm>
            <a:off x="640080" y="4846320"/>
            <a:ext cx="10058400" cy="365760"/>
          </a:xfrm>
          <a:prstGeom prst="rect">
            <a:avLst/>
          </a:prstGeom>
          <a:noFill/>
          <a:ln/>
        </p:spPr>
        <p:txBody>
          <a:bodyPr wrap="square" rtlCol="0" anchor="ctr"/>
          <a:lstStyle/>
          <a:p>
            <a:pPr indent="0" marL="0">
              <a:buNone/>
            </a:pPr>
            <a:r>
              <a:rPr lang="en-US" sz="1400" dirty="0">
                <a:solidFill>
                  <a:srgbClr val="EDEBE4"/>
                </a:solidFill>
                <a:latin typeface="Calibri" pitchFamily="34" charset="0"/>
                <a:ea typeface="Calibri" pitchFamily="34" charset="-122"/>
                <a:cs typeface="Calibri" pitchFamily="34" charset="-120"/>
              </a:rPr>
              <a:t>buildresilience.co.za    ·    Gauteng, South Africa</a:t>
            </a:r>
            <a:endParaRPr lang="en-US" sz="1400" dirty="0"/>
          </a:p>
        </p:txBody>
      </p:sp>
      <p:sp>
        <p:nvSpPr>
          <p:cNvPr id="8" name="Text 6"/>
          <p:cNvSpPr/>
          <p:nvPr/>
        </p:nvSpPr>
        <p:spPr>
          <a:xfrm>
            <a:off x="640080" y="5669280"/>
            <a:ext cx="10058400" cy="457200"/>
          </a:xfrm>
          <a:prstGeom prst="rect">
            <a:avLst/>
          </a:prstGeom>
          <a:noFill/>
          <a:ln/>
        </p:spPr>
        <p:txBody>
          <a:bodyPr wrap="square" rtlCol="0" anchor="ctr"/>
          <a:lstStyle/>
          <a:p>
            <a:pPr indent="0" marL="0">
              <a:buNone/>
            </a:pPr>
            <a:r>
              <a:rPr lang="en-US" sz="1800" i="1" dirty="0">
                <a:solidFill>
                  <a:srgbClr val="C9922A"/>
                </a:solidFill>
                <a:latin typeface="Cambria" pitchFamily="34" charset="0"/>
                <a:ea typeface="Cambria" pitchFamily="34" charset="-122"/>
                <a:cs typeface="Cambria" pitchFamily="34" charset="-120"/>
              </a:rPr>
              <a:t>“Where leaders come to sharpen each other.”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2026-07-11T10:09:22Z</dcterms:created>
  <dcterms:modified xsi:type="dcterms:W3CDTF">2026-07-11T10:09:22Z</dcterms:modified>
</cp:coreProperties>
</file>